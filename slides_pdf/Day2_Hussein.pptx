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312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4164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restating yesterday in one sentence, then put today's question on the table: what goes around the model. Today is theory-heavy; tell them the payoff is that they will be able to defend an architecture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two minutes recalling Day 1, then read the question in the blue panel out loud. Everything today is an answer to that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as a contract for the day and return to them in the recap. Objectives 4 and 8 are the ones the quiz tests hardest.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six blocks so the room knows where every later slide belongs. Sections three and four are the longest; warn them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marker. The message of this whole block is restraint: pick the simplest architecture that meets the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memory rule out loud twice. Then warn against the reflex of combining everything: more components means more latency, cost and failure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of the five gaps their own capstone idea hits. Most will hit gap 2 and gap 4, which is exactly why the rest of the day is about 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practical output of section one. Ask the room to place their own capstone idea in one of the five rows before you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confusion appears in every cohort. Repeat the one-line test: if the facts change or you need citations, that is retrieval, not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marker. This block is definitions. Keep it tight — the mechanics arrive in sections three and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 words in order. The last line is the one students forget: RAG selects a few passages, it does not paste the knowledge base into the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Grounding is the single most important word of Day 2. Stress the fourth rule: saying the sources are insufficient is a correct answer, not a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analogy but do not over-extend it. The four conditions on the right are the four places a RAG system can fail — they preview the whole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 the two columns deliberately. Any student who leaves believing RAG guarantees truth has misunderstood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diagram of Day 2. Draw it on the whiteboard as well. The purple rail runs before any user arrives; the orange rail runs per question; the index is the only thing they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reason the diagnosis table later in the day works. When the answer is bad, ask where in the chain it broke — do not start by rewriting the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marker. This is the longest block of the day. Tell them that most RAG quality is decided here, before any model is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Ingestion is not copying files. The right-hand list is what separates a demo from a system that can cite its sources and respect permissions.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hard on the source quality rule at the bottom. RAG cannot repair a knowledge base that contradicts itself — that is a governance problem, not an engineering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objective sentence twice: the goal is not the smallest chunk, it is a semantically complete retrievable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ask them to memorise eight rows. Ask instead which strategy fits the document they brought this morning.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diagram and ask what happens to the definition that sits exactly on a boundary. Then warn that overlap is a tool to be tested, not a default setting.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concrete rules beat one abstract principle. The three questions at the bottom are the test they should apply to any chunk they produce.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Metadata is what makes citations, permissions and version control possible. Repeat the last line: a field is only useful if it is accurate and consistently populated.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return-policy example on screen. Keyword search fails on it; vector search succeeds. Stress that the vector is not a readable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teach the mathematics. Teach the interpretation: a score is relative to the model and the store, and it never proves that a passage answers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matters for Saudi deployments. Insist that the embedding model is tested in all four directions before a provider is chosen.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sentence is at the bottom: the vector database is a search layer, not a source of truth. Do not go deep into ANN algorithms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section by saying that modern systems use both: metadata narrows the valid records, vector similarity ranks inside that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marker. Everything here happens inside one user request, usually in under a few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eight steps once, slowly. Say which are optional in a simple system: query rewriting, filtering and reranking can all be skipped at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follow-up example out loud: the user says what about contractors, and the search engine has no idea what the topic was. That is why rewriting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one example each: an error code for keyword, a paraphrased policy question for vector. Ask which one their capstone questions look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 is a strong default candidate but not an automatic answer. A simple corpus or an exact-lookup problem may not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messages: filtering is essential for access control, and a wrong filter silently hides the correct answer. Filters must be visible when debugging.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 universal best value. Say the last line clearly: the k in top-k is not the constant inside Reciprocal Rank 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distinction to land: retrieval optimises coverage and speed, reranking optimises precision. A high similarity score says same topic, not contains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the section on citation alignment: the cited passage must actually support the claim attached to it. That check is cheap and catches a 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both columns as one story, then spend a minute on the no-answer box. A reliable system must know when its evidence is insufficient.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marker. Day 3 builds agents in code; today is only the concept and the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control boundaries. Autonomy without permissions, limits and stopping rules is not an agent, it is a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comparison the quiz will ask about. Read the control-flow row and the risk row most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request and let the room answer before revealing the pattern. This is the exercise that proves they understood section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 to keep this slide. These eight questions are the architecture section of their capstone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marker. Last block of the day. The message: you cannot improve what you do not measure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combinations at the bottom are the diagnostic heart of the day. Walk them one by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the no-answer questions and the permission questions. Those two categories catch the failures that embarrass an organisation.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 the three numbers live from the ranked list on the left. Seeing precision, recall and MRR come out of the same list makes the difference obvious.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Groundedness and no-answer accuracy are the two that separate a professional system from a demo. Ask which of these seven they could measure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 to photograph this slide. It is the troubleshooting table they will use for the rest of the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all twelve. Pick the four most relevant to the projects in the room and discuss those.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number two connects to Day 5 security. Retrieved documents are data, never instructions — the distinction starts at ingestion.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eight pairs are the vocabulary test. Cover the right column and ask the room to complete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to the Day 2 objectives slide mentally and check each one. Ask four oral questions: what is grounding, what are the two pipelines, why is chunking hard, when do you choose an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questions, ten minutes. Drop the QR image into the placeholder before the session. Answers are discussed straight after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what changes tomorrow: today the model reads, tomorrow it acts. Remind them of the start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82E312-2445-7D2C-DAD5-6F7F8203539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8855075" y="63500"/>
            <a:ext cx="603314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Public - عام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7AD68C-755E-90BD-0350-0141F9A8FDF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855075" y="10071100"/>
            <a:ext cx="603314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Public - عام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14400"/>
            <a:ext cx="247650" cy="24765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914400"/>
            <a:ext cx="247650" cy="247650"/>
          </a:xfrm>
          <a:prstGeom prst="rect">
            <a:avLst/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95450" y="914400"/>
            <a:ext cx="247650" cy="247650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9300" y="914400"/>
            <a:ext cx="247650" cy="24765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343150" y="914400"/>
            <a:ext cx="247650" cy="247650"/>
          </a:xfrm>
          <a:prstGeom prst="rect">
            <a:avLst/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667000" y="914400"/>
            <a:ext cx="247650" cy="24765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47750" y="4236244"/>
            <a:ext cx="178117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390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SDAIA ACADEMY · ADVANCED TRAINING PROGRAM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047750" y="4842034"/>
            <a:ext cx="17811750" cy="1048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2459"/>
              </a:lnSpc>
              <a:buNone/>
            </a:pPr>
            <a:r>
              <a:rPr lang="en-US" sz="7800" b="1" kern="0" spc="-234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</a:t>
            </a:r>
            <a:endParaRPr lang="en-US" sz="7800" dirty="0"/>
          </a:p>
        </p:txBody>
      </p:sp>
      <p:sp>
        <p:nvSpPr>
          <p:cNvPr id="11" name="Text 8"/>
          <p:cNvSpPr/>
          <p:nvPr/>
        </p:nvSpPr>
        <p:spPr>
          <a:xfrm>
            <a:off x="1047750" y="6176248"/>
            <a:ext cx="12363450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Architecture Design and Data Processing</a:t>
            </a:r>
            <a:endParaRPr lang="en-US" sz="3150" dirty="0"/>
          </a:p>
        </p:txBody>
      </p:sp>
      <p:sp>
        <p:nvSpPr>
          <p:cNvPr id="12" name="Shape 9"/>
          <p:cNvSpPr/>
          <p:nvPr/>
        </p:nvSpPr>
        <p:spPr>
          <a:xfrm>
            <a:off x="1047750" y="876681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47750" y="9136380"/>
            <a:ext cx="333250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days · 30 training hours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4610695" y="9136380"/>
            <a:ext cx="228606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2–6 August 2026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222331" y="9136380"/>
            <a:ext cx="3641979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Hussain Mohsen</a:t>
            </a:r>
            <a:endParaRPr lang="en-US" sz="2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3AAB1D9-5FE9-D8BE-2E53-6EB345E0E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4310" y="832855"/>
            <a:ext cx="6642441" cy="10541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212365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Day 1 to Day 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365177"/>
            <a:ext cx="794338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 you established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047750" y="3717727"/>
            <a:ext cx="722126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47750" y="3176707"/>
            <a:ext cx="2688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449943" y="3169087"/>
            <a:ext cx="718389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predicts tokens; it does not look up answers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1047750" y="4464487"/>
            <a:ext cx="722126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7750" y="3923467"/>
            <a:ext cx="2688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449943" y="3915847"/>
            <a:ext cx="417489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alone is not a solution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1047750" y="4670227"/>
            <a:ext cx="2688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449943" y="4662607"/>
            <a:ext cx="7023639" cy="75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solution follows a lifecycle, from use case to monitoring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8935760" y="2365177"/>
            <a:ext cx="8304490" cy="320421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935760" y="2365177"/>
            <a:ext cx="53340" cy="3204210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46300" y="2784277"/>
            <a:ext cx="80704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25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ENGINEERING QUESTION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9446300" y="3268147"/>
            <a:ext cx="7556853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273"/>
              </a:lnSpc>
              <a:buNone/>
            </a:pPr>
            <a:r>
              <a:rPr lang="en-US" sz="28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architecture should surround the model so that the solution can use trusted knowledge and, when necessary, perform actions?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1047750" y="6102787"/>
            <a:ext cx="3101340" cy="11201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47750" y="6102787"/>
            <a:ext cx="3101340" cy="45720"/>
          </a:xfrm>
          <a:prstGeom prst="rect">
            <a:avLst/>
          </a:prstGeom>
          <a:solidFill>
            <a:srgbClr val="D9DE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57300" y="6358057"/>
            <a:ext cx="295046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98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DONE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57300" y="6678096"/>
            <a:ext cx="295046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4320540" y="6102787"/>
            <a:ext cx="3101340" cy="112014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20540" y="6102787"/>
            <a:ext cx="3101340" cy="4572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30090" y="6358057"/>
            <a:ext cx="295046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98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TODAY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4530090" y="6678096"/>
            <a:ext cx="295046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and data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7593330" y="6102787"/>
            <a:ext cx="3101340" cy="11201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593330" y="6102787"/>
            <a:ext cx="3101340" cy="45720"/>
          </a:xfrm>
          <a:prstGeom prst="rect">
            <a:avLst/>
          </a:prstGeom>
          <a:solidFill>
            <a:srgbClr val="D9DE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02880" y="6358057"/>
            <a:ext cx="295046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98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802880" y="6678096"/>
            <a:ext cx="295046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agents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10866120" y="6102787"/>
            <a:ext cx="3101340" cy="11201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866120" y="6102787"/>
            <a:ext cx="3101340" cy="45720"/>
          </a:xfrm>
          <a:prstGeom prst="rect">
            <a:avLst/>
          </a:prstGeom>
          <a:solidFill>
            <a:srgbClr val="D9DE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1075670" y="6358057"/>
            <a:ext cx="295046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98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1075670" y="6678096"/>
            <a:ext cx="295046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readiness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14138910" y="6102787"/>
            <a:ext cx="3101340" cy="11201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4138910" y="6102787"/>
            <a:ext cx="3101340" cy="45720"/>
          </a:xfrm>
          <a:prstGeom prst="rect">
            <a:avLst/>
          </a:prstGeom>
          <a:solidFill>
            <a:srgbClr val="D9DE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4348460" y="6358057"/>
            <a:ext cx="295046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98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4348460" y="6678096"/>
            <a:ext cx="295046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capstone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212365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Day 2 You Can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3208139"/>
            <a:ext cx="77914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47750" y="2658547"/>
            <a:ext cx="3733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BE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592580" y="2612827"/>
            <a:ext cx="696387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a base language model is not enough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448800" y="3208139"/>
            <a:ext cx="77914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48800" y="2658547"/>
            <a:ext cx="3733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8BE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993631" y="2612827"/>
            <a:ext cx="658668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RAG and explain what grounding means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47750" y="4634984"/>
            <a:ext cx="77914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47750" y="3699629"/>
            <a:ext cx="3733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5A7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592580" y="3653909"/>
            <a:ext cx="746401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the offline indexing pipeline from the online answering pipeline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448800" y="4634984"/>
            <a:ext cx="77914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48800" y="3699629"/>
            <a:ext cx="3733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5A7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993631" y="3653909"/>
            <a:ext cx="746401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every stage from source document to final answer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47750" y="6061829"/>
            <a:ext cx="77914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47750" y="5126474"/>
            <a:ext cx="3733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05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592580" y="5080754"/>
            <a:ext cx="746401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chunking, embeddings, similarity and vector indexes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448800" y="6061829"/>
            <a:ext cx="77914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48800" y="5126474"/>
            <a:ext cx="3733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F8D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993631" y="5080754"/>
            <a:ext cx="618565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keyword, vector and hybrid search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047750" y="7102912"/>
            <a:ext cx="77914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47750" y="6553319"/>
            <a:ext cx="3733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1C3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592580" y="6507599"/>
            <a:ext cx="754759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knowledge retrieval from action execution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448800" y="7102912"/>
            <a:ext cx="77914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448800" y="6553319"/>
            <a:ext cx="3733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1C3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993631" y="6507599"/>
            <a:ext cx="732324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an appropriate architecture for a stated goal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047750" y="7594402"/>
            <a:ext cx="3733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592580" y="7548682"/>
            <a:ext cx="746401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common RAG failures and where to investigate them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9448800" y="7594402"/>
            <a:ext cx="3733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9993631" y="7548682"/>
            <a:ext cx="743535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retrieval separately from answer generation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212365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Map for Today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2403277"/>
            <a:ext cx="5206961" cy="30289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7750" y="2403277"/>
            <a:ext cx="5206961" cy="4572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2810947"/>
            <a:ext cx="5015186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371600" y="3451027"/>
            <a:ext cx="5015186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319"/>
              </a:lnSpc>
              <a:buNone/>
            </a:pPr>
            <a:r>
              <a:rPr lang="en-US" sz="247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architecture</a:t>
            </a:r>
            <a:endParaRPr lang="en-US" sz="2475" dirty="0"/>
          </a:p>
        </p:txBody>
      </p:sp>
      <p:sp>
        <p:nvSpPr>
          <p:cNvPr id="9" name="Text 7"/>
          <p:cNvSpPr/>
          <p:nvPr/>
        </p:nvSpPr>
        <p:spPr>
          <a:xfrm>
            <a:off x="1371600" y="3980617"/>
            <a:ext cx="469603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model alone is not enough, and which pattern fits which requirement.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540461" y="2403277"/>
            <a:ext cx="5206961" cy="30289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40461" y="2403277"/>
            <a:ext cx="5206961" cy="45720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64311" y="2810947"/>
            <a:ext cx="5015186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864311" y="3451027"/>
            <a:ext cx="4696038" cy="79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319"/>
              </a:lnSpc>
              <a:buNone/>
            </a:pPr>
            <a:r>
              <a:rPr lang="en-US" sz="247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6864311" y="4357807"/>
            <a:ext cx="469603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RAG is, what grounding means, and the two pipelines it contains.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2033171" y="2403277"/>
            <a:ext cx="5206961" cy="30289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033171" y="2403277"/>
            <a:ext cx="5206961" cy="4572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357021" y="2810947"/>
            <a:ext cx="5015186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2357021" y="3451027"/>
            <a:ext cx="5015186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319"/>
              </a:lnSpc>
              <a:buNone/>
            </a:pPr>
            <a:r>
              <a:rPr lang="en-US" sz="247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knowledge base</a:t>
            </a:r>
            <a:endParaRPr lang="en-US" sz="2475" dirty="0"/>
          </a:p>
        </p:txBody>
      </p:sp>
      <p:sp>
        <p:nvSpPr>
          <p:cNvPr id="19" name="Text 17"/>
          <p:cNvSpPr/>
          <p:nvPr/>
        </p:nvSpPr>
        <p:spPr>
          <a:xfrm>
            <a:off x="12357021" y="3980617"/>
            <a:ext cx="469603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Ingestion, cleaning, chunking, metadata, embeddings and vector indexes.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47750" y="5717977"/>
            <a:ext cx="5206961" cy="27889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47750" y="5717977"/>
            <a:ext cx="5206961" cy="4572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71600" y="6125646"/>
            <a:ext cx="5015186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1371600" y="6765727"/>
            <a:ext cx="5015186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319"/>
              </a:lnSpc>
              <a:buNone/>
            </a:pPr>
            <a:r>
              <a:rPr lang="en-US" sz="247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 the question</a:t>
            </a:r>
            <a:endParaRPr lang="en-US" sz="2475" dirty="0"/>
          </a:p>
        </p:txBody>
      </p:sp>
      <p:sp>
        <p:nvSpPr>
          <p:cNvPr id="24" name="Text 22"/>
          <p:cNvSpPr/>
          <p:nvPr/>
        </p:nvSpPr>
        <p:spPr>
          <a:xfrm>
            <a:off x="1371600" y="7295317"/>
            <a:ext cx="469603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processing, search, filtering, top-k, reranking and grounded generation.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6540461" y="5717977"/>
            <a:ext cx="5206961" cy="27889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40461" y="5717977"/>
            <a:ext cx="5206961" cy="45720"/>
          </a:xfrm>
          <a:prstGeom prst="rect">
            <a:avLst/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64311" y="6125646"/>
            <a:ext cx="5015186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61C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300" dirty="0"/>
          </a:p>
        </p:txBody>
      </p:sp>
      <p:sp>
        <p:nvSpPr>
          <p:cNvPr id="28" name="Text 26"/>
          <p:cNvSpPr/>
          <p:nvPr/>
        </p:nvSpPr>
        <p:spPr>
          <a:xfrm>
            <a:off x="6864311" y="6765727"/>
            <a:ext cx="5015186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319"/>
              </a:lnSpc>
              <a:buNone/>
            </a:pPr>
            <a:r>
              <a:rPr lang="en-US" sz="247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and the choice</a:t>
            </a:r>
            <a:endParaRPr lang="en-US" sz="2475" dirty="0"/>
          </a:p>
        </p:txBody>
      </p:sp>
      <p:sp>
        <p:nvSpPr>
          <p:cNvPr id="29" name="Text 27"/>
          <p:cNvSpPr/>
          <p:nvPr/>
        </p:nvSpPr>
        <p:spPr>
          <a:xfrm>
            <a:off x="6864311" y="7295317"/>
            <a:ext cx="469603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an agent adds, and how to decide between RAG, agent, or both.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2033171" y="5717977"/>
            <a:ext cx="5206961" cy="27889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2033171" y="5717977"/>
            <a:ext cx="5206961" cy="45720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2357021" y="6125646"/>
            <a:ext cx="5015186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300" dirty="0"/>
          </a:p>
        </p:txBody>
      </p:sp>
      <p:sp>
        <p:nvSpPr>
          <p:cNvPr id="33" name="Text 31"/>
          <p:cNvSpPr/>
          <p:nvPr/>
        </p:nvSpPr>
        <p:spPr>
          <a:xfrm>
            <a:off x="12357021" y="6765727"/>
            <a:ext cx="5015186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319"/>
              </a:lnSpc>
              <a:buNone/>
            </a:pPr>
            <a:r>
              <a:rPr lang="en-US" sz="247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Quality, failure and limits</a:t>
            </a:r>
            <a:endParaRPr lang="en-US" sz="2475" dirty="0"/>
          </a:p>
        </p:txBody>
      </p:sp>
      <p:sp>
        <p:nvSpPr>
          <p:cNvPr id="34" name="Text 32"/>
          <p:cNvSpPr/>
          <p:nvPr/>
        </p:nvSpPr>
        <p:spPr>
          <a:xfrm>
            <a:off x="12357021" y="7295317"/>
            <a:ext cx="469603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measure a RAG system and how to diagnose it when it disappoints.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744039"/>
            <a:ext cx="2330851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8239"/>
              </a:lnSpc>
              <a:buNone/>
            </a:pPr>
            <a:r>
              <a:rPr lang="en-US" sz="15000" b="1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3776305" y="3877389"/>
            <a:ext cx="1183420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390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776305" y="4445080"/>
            <a:ext cx="13223808" cy="889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040"/>
              </a:lnSpc>
              <a:buNone/>
            </a:pPr>
            <a:r>
              <a:rPr lang="en-US" sz="6450" b="1" kern="0" spc="-193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Right Architecture</a:t>
            </a:r>
            <a:endParaRPr lang="en-US" sz="6450" dirty="0"/>
          </a:p>
        </p:txBody>
      </p:sp>
      <p:sp>
        <p:nvSpPr>
          <p:cNvPr id="5" name="Text 3"/>
          <p:cNvSpPr/>
          <p:nvPr/>
        </p:nvSpPr>
        <p:spPr>
          <a:xfrm>
            <a:off x="3776305" y="5582721"/>
            <a:ext cx="1020318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70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architecture from the behaviour you need — not from the technology that sounds most advanced.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245265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Know, Decide, or Both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2346127"/>
            <a:ext cx="5206961" cy="2942272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17320" y="2753797"/>
            <a:ext cx="533400" cy="533400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9220" y="2753797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417320" y="3477697"/>
            <a:ext cx="4914602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2700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helps a system </a:t>
            </a:r>
            <a:r>
              <a:rPr lang="en-US" sz="2700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417320" y="4079677"/>
            <a:ext cx="4601855" cy="839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149"/>
              </a:lnSpc>
              <a:buNone/>
            </a:pPr>
            <a:r>
              <a:rPr lang="en-US" sz="21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gives the model selected external knowledge at answer time.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6540461" y="2346127"/>
            <a:ext cx="5206961" cy="2942272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910031" y="2753797"/>
            <a:ext cx="533400" cy="533400"/>
          </a:xfrm>
          <a:prstGeom prst="rect">
            <a:avLst/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71931" y="2753797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910031" y="3477697"/>
            <a:ext cx="4914602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2700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helps a system </a:t>
            </a:r>
            <a:r>
              <a:rPr lang="en-US" sz="2700" b="1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910031" y="4079677"/>
            <a:ext cx="4601855" cy="839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149"/>
              </a:lnSpc>
              <a:buNone/>
            </a:pPr>
            <a:r>
              <a:rPr lang="en-US" sz="21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gives the model a controlled way to choose steps and use tools.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12033171" y="2346127"/>
            <a:ext cx="5206961" cy="2942272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402741" y="2753797"/>
            <a:ext cx="533400" cy="53340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364641" y="2753797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402741" y="3477697"/>
            <a:ext cx="4914602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2700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does </a:t>
            </a:r>
            <a:r>
              <a:rPr lang="en-US" sz="270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2402741" y="4079677"/>
            <a:ext cx="4601855" cy="839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149"/>
              </a:lnSpc>
              <a:buNone/>
            </a:pPr>
            <a:r>
              <a:rPr lang="en-US" sz="21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can use retrieval as one of the tools available to it.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1047750" y="5745599"/>
            <a:ext cx="16192500" cy="1844040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47750" y="5745599"/>
            <a:ext cx="53340" cy="184404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482090" y="6069449"/>
            <a:ext cx="1691487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25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FOR TODAY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482090" y="6439019"/>
            <a:ext cx="15838475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95"/>
              </a:lnSpc>
              <a:buNone/>
            </a:pPr>
            <a:r>
              <a:rPr lang="en-US" sz="23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combined architecture is not automatically the best one. The simplest architecture that fully satisfies the requirement is usually the better starting point.</a:t>
            </a:r>
            <a:endParaRPr lang="en-US" sz="2325" dirty="0"/>
          </a:p>
        </p:txBody>
      </p:sp>
      <p:sp>
        <p:nvSpPr>
          <p:cNvPr id="24" name="Shape 22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245265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Gaps in a Base Model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327077"/>
            <a:ext cx="14519910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889"/>
              </a:lnSpc>
              <a:buNone/>
            </a:pPr>
            <a:r>
              <a:rPr lang="en-US" sz="24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 model can explain, summarise, classify and generate. Its answers are still limited to what is in the current input and what it learned during training.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47750" y="3611047"/>
            <a:ext cx="3070860" cy="38481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7750" y="3611047"/>
            <a:ext cx="3070860" cy="38100"/>
          </a:xfrm>
          <a:prstGeom prst="rect">
            <a:avLst/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14450" y="3972997"/>
            <a:ext cx="279120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14450" y="4445437"/>
            <a:ext cx="26136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651"/>
              </a:lnSpc>
              <a:buNone/>
            </a:pPr>
            <a:r>
              <a:rPr lang="en-US" sz="2250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current information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314450" y="5283637"/>
            <a:ext cx="26136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528"/>
              </a:lnSpc>
              <a:buNone/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Prices, policies and procedures change after training data was collected.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4328160" y="3611047"/>
            <a:ext cx="3070860" cy="38481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28160" y="3611047"/>
            <a:ext cx="3070860" cy="38100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94860" y="3972997"/>
            <a:ext cx="279120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4594860" y="4445437"/>
            <a:ext cx="26136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651"/>
              </a:lnSpc>
              <a:buNone/>
            </a:pPr>
            <a:r>
              <a:rPr lang="en-US" sz="2250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private knowledge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594860" y="5283637"/>
            <a:ext cx="26136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528"/>
              </a:lnSpc>
              <a:buNone/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policies, contracts and manuals were never part of training.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7608570" y="3611047"/>
            <a:ext cx="3070860" cy="38481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08570" y="3611047"/>
            <a:ext cx="3070860" cy="3810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75270" y="3972997"/>
            <a:ext cx="279120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875270" y="4445437"/>
            <a:ext cx="279120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651"/>
              </a:lnSpc>
              <a:buNone/>
            </a:pPr>
            <a:r>
              <a:rPr lang="en-US" sz="2250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risk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7875270" y="4940737"/>
            <a:ext cx="261366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528"/>
              </a:lnSpc>
              <a:buNone/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wording is not evidence of factual correctness.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0888981" y="3611047"/>
            <a:ext cx="3070860" cy="38481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888981" y="3611047"/>
            <a:ext cx="3070860" cy="3810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155681" y="3972997"/>
            <a:ext cx="279120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1155681" y="4445437"/>
            <a:ext cx="279120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651"/>
              </a:lnSpc>
              <a:buNone/>
            </a:pPr>
            <a:r>
              <a:rPr lang="en-US" sz="2250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provenance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1155681" y="4940737"/>
            <a:ext cx="26136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528"/>
              </a:lnSpc>
              <a:buNone/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document, section, page or date that a professional user can check.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4169390" y="3611047"/>
            <a:ext cx="3070860" cy="38481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4169390" y="3611047"/>
            <a:ext cx="3070860" cy="3810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4436090" y="3972997"/>
            <a:ext cx="279120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4436090" y="4445437"/>
            <a:ext cx="279120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651"/>
              </a:lnSpc>
              <a:buNone/>
            </a:pPr>
            <a:r>
              <a:rPr lang="en-US" sz="2250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ability to act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4436090" y="4940737"/>
            <a:ext cx="26136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528"/>
              </a:lnSpc>
              <a:buNone/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response is text until the application gives the model controlled tools.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245265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to Starting Pattern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2879527"/>
            <a:ext cx="9391650" cy="15240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47750" y="2403277"/>
            <a:ext cx="9406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kern="0" spc="225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SOLUTION MUST DO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0439400" y="2879527"/>
            <a:ext cx="6800850" cy="15240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06100" y="2403277"/>
            <a:ext cx="67381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kern="0" spc="225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SUITABLE STARTING PATTERN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1047750" y="3759637"/>
            <a:ext cx="93916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7750" y="3142417"/>
            <a:ext cx="9406700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or transform content that is already in the prompt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439400" y="3759637"/>
            <a:ext cx="68008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706100" y="3142417"/>
            <a:ext cx="6738175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model call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047750" y="4628317"/>
            <a:ext cx="93916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47750" y="4014907"/>
            <a:ext cx="94067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from approved private or frequently changing knowledge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0439400" y="4628317"/>
            <a:ext cx="68008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706100" y="4014907"/>
            <a:ext cx="673817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47750" y="5496997"/>
            <a:ext cx="93916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47750" y="4883587"/>
            <a:ext cx="94067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a task through one or more tools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0439400" y="5496997"/>
            <a:ext cx="68008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706100" y="4883587"/>
            <a:ext cx="673817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or controlled workflow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047750" y="6365677"/>
            <a:ext cx="93916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47750" y="5752267"/>
            <a:ext cx="94067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knowledge and use it while completing actions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0439400" y="6365677"/>
            <a:ext cx="68008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706100" y="5752267"/>
            <a:ext cx="673817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with retrieval as a tool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047750" y="6620946"/>
            <a:ext cx="9406700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model's style or specialised behaviour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0706100" y="6620946"/>
            <a:ext cx="6738175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 or fine-tuning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245265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Is Not Fine-Tuning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6175177"/>
            <a:ext cx="794385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7750" y="2365177"/>
            <a:ext cx="7943850" cy="45720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7750" y="2365177"/>
            <a:ext cx="9525" cy="381762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83980" y="2365177"/>
            <a:ext cx="9525" cy="381762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55420" y="2829997"/>
            <a:ext cx="784136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55420" y="3500557"/>
            <a:ext cx="7841361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24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Supplies knowledge </a:t>
            </a:r>
            <a:r>
              <a:rPr lang="en-US" sz="2400" b="1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request time</a:t>
            </a:r>
            <a:r>
              <a:rPr lang="en-US" sz="24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455420" y="4163497"/>
            <a:ext cx="712851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55420" y="4399717"/>
            <a:ext cx="784136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what the model can see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455420" y="4902637"/>
            <a:ext cx="784136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as soon as the index refreshes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455420" y="5405557"/>
            <a:ext cx="784136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cite the exact source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296400" y="6175177"/>
            <a:ext cx="794385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96400" y="2365177"/>
            <a:ext cx="7943850" cy="4572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296400" y="2365177"/>
            <a:ext cx="9525" cy="381762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7232630" y="2365177"/>
            <a:ext cx="9525" cy="381762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704070" y="2829997"/>
            <a:ext cx="784136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704070" y="3500557"/>
            <a:ext cx="7841361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24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model behaviour through </a:t>
            </a:r>
            <a:r>
              <a:rPr lang="en-US" sz="2400" b="1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training</a:t>
            </a:r>
            <a:r>
              <a:rPr lang="en-US" sz="24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704070" y="4163497"/>
            <a:ext cx="712851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704070" y="4399717"/>
            <a:ext cx="784136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how the model responds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704070" y="4902637"/>
            <a:ext cx="784136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retraining to reflect new facts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704070" y="5405557"/>
            <a:ext cx="784136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no citations by itself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047750" y="6620946"/>
            <a:ext cx="16192500" cy="147447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47750" y="6620946"/>
            <a:ext cx="53340" cy="147447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482090" y="6944796"/>
            <a:ext cx="15838475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95"/>
              </a:lnSpc>
              <a:buNone/>
            </a:pPr>
            <a:r>
              <a:rPr lang="en-US" sz="23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is not the normal solution for frequently changing facts or for source citations. Use it to shape style, format or specialised behaviour.</a:t>
            </a:r>
            <a:endParaRPr lang="en-US" sz="2325" dirty="0"/>
          </a:p>
        </p:txBody>
      </p:sp>
      <p:sp>
        <p:nvSpPr>
          <p:cNvPr id="28" name="Shape 26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744039"/>
            <a:ext cx="2330851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8239"/>
              </a:lnSpc>
              <a:buNone/>
            </a:pPr>
            <a:r>
              <a:rPr lang="en-US" sz="15000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3776305" y="3877389"/>
            <a:ext cx="1236187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390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776305" y="4445080"/>
            <a:ext cx="12361878" cy="889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040"/>
              </a:lnSpc>
              <a:buNone/>
            </a:pPr>
            <a:r>
              <a:rPr lang="en-US" sz="6450" b="1" kern="0" spc="-193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</a:t>
            </a:r>
            <a:endParaRPr lang="en-US" sz="6450" dirty="0"/>
          </a:p>
        </p:txBody>
      </p:sp>
      <p:sp>
        <p:nvSpPr>
          <p:cNvPr id="5" name="Text 3"/>
          <p:cNvSpPr/>
          <p:nvPr/>
        </p:nvSpPr>
        <p:spPr>
          <a:xfrm>
            <a:off x="3776305" y="5582721"/>
            <a:ext cx="1020318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70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model selected, approved evidence at the moment it answers.</a:t>
            </a:r>
            <a:endParaRPr lang="en-US" sz="2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68139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Words, Three Steps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327077"/>
            <a:ext cx="14716125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889"/>
              </a:lnSpc>
              <a:buNone/>
            </a:pPr>
            <a:r>
              <a:rPr lang="en-US" sz="24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architecture in which the application retrieves relevant information from an external knowledge source and includes it in the context given to the model.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47750" y="3630097"/>
            <a:ext cx="5206961" cy="22326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7750" y="3630097"/>
            <a:ext cx="5206961" cy="45720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90650" y="4056817"/>
            <a:ext cx="497327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90650" y="4670227"/>
            <a:ext cx="4656795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information that is relevant to this specific question.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6540461" y="3630097"/>
            <a:ext cx="5206961" cy="22326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40461" y="3630097"/>
            <a:ext cx="5206961" cy="4572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83361" y="4056817"/>
            <a:ext cx="497327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Augmented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883361" y="4670227"/>
            <a:ext cx="4656795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that retrieved information to the model's input.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12033171" y="3630097"/>
            <a:ext cx="5206961" cy="22326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2033171" y="3630097"/>
            <a:ext cx="5206961" cy="4572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76071" y="4056817"/>
            <a:ext cx="497327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2376071" y="4670227"/>
            <a:ext cx="4656795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model to write an answer using that information.</a:t>
            </a:r>
            <a:endParaRPr lang="en-US" sz="2175" dirty="0"/>
          </a:p>
        </p:txBody>
      </p:sp>
      <p:sp>
        <p:nvSpPr>
          <p:cNvPr id="18" name="Shape 16"/>
          <p:cNvSpPr/>
          <p:nvPr/>
        </p:nvSpPr>
        <p:spPr>
          <a:xfrm>
            <a:off x="1047750" y="6281857"/>
            <a:ext cx="16192500" cy="1417320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47750" y="6281857"/>
            <a:ext cx="53340" cy="141732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82090" y="6586657"/>
            <a:ext cx="15838475" cy="845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93"/>
              </a:lnSpc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does not place the entire knowledge base inside the prompt. It tries to select a </a:t>
            </a:r>
            <a:r>
              <a:rPr lang="en-US" sz="2250" b="1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set of useful passages </a:t>
            </a: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current question.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7002840" y="9323070"/>
            <a:ext cx="31361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68139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346127"/>
            <a:ext cx="7614982" cy="1462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385"/>
              </a:lnSpc>
              <a:buNone/>
            </a:pPr>
            <a:r>
              <a:rPr lang="en-US" sz="25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means connecting the generated answer to supplied evidence. In RAG, the </a:t>
            </a:r>
            <a:r>
              <a:rPr lang="en-US" sz="2550" b="1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retrieved passages are the grounding context </a:t>
            </a:r>
            <a:r>
              <a:rPr lang="en-US" sz="25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047750" y="4093964"/>
            <a:ext cx="7393186" cy="251079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7750" y="4093964"/>
            <a:ext cx="53340" cy="251079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43990" y="4398764"/>
            <a:ext cx="731945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LIMIT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43990" y="4753094"/>
            <a:ext cx="6853668" cy="1584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reduces hallucination risk. It does not remove it. A model can misread good context, ignore it, or combine passages incorrectly — and the retrieved content itself can be outdated or wrong.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9107686" y="2346127"/>
            <a:ext cx="894582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grounded answer should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07686" y="3751540"/>
            <a:ext cx="8132564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07686" y="3214807"/>
            <a:ext cx="35052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5A7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10606" y="3169087"/>
            <a:ext cx="6369927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518"/>
              </a:lnSpc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its factual claims on the retrieved context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9107686" y="4551164"/>
            <a:ext cx="8132564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07686" y="4014430"/>
            <a:ext cx="35052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5A7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10606" y="3968710"/>
            <a:ext cx="8050518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518"/>
              </a:lnSpc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inventing details that are not in the approved sources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9107686" y="5723692"/>
            <a:ext cx="8132564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07686" y="4814054"/>
            <a:ext cx="35052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5A7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10606" y="4768334"/>
            <a:ext cx="7858534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518"/>
              </a:lnSpc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source of important claims when citations are required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9107686" y="5986582"/>
            <a:ext cx="35052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BE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10606" y="5940862"/>
            <a:ext cx="7554016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518"/>
              </a:lnSpc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clearly when the available sources are insufficient</a:t>
            </a:r>
            <a:endParaRPr lang="en-US" sz="2175" dirty="0"/>
          </a:p>
        </p:txBody>
      </p:sp>
      <p:sp>
        <p:nvSpPr>
          <p:cNvPr id="22" name="Shape 20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68139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Book and Open Book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2346127"/>
            <a:ext cx="6900267" cy="1893570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17320" y="2696647"/>
            <a:ext cx="677724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BOOK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3089077"/>
            <a:ext cx="63459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93"/>
              </a:lnSpc>
              <a:buNone/>
            </a:pPr>
            <a:r>
              <a:rPr lang="en-US" sz="225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depends only on what the student remembers.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47750" y="4487347"/>
            <a:ext cx="6900267" cy="1893570"/>
          </a:xfrm>
          <a:prstGeom prst="rect">
            <a:avLst/>
          </a:prstGeom>
          <a:solidFill>
            <a:srgbClr val="F0F9F5"/>
          </a:solidFill>
          <a:ln w="7620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17320" y="4837867"/>
            <a:ext cx="677724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— RAG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5230296"/>
            <a:ext cx="63459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93"/>
              </a:lnSpc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student may consult selected reference pages before answering.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8614767" y="2346127"/>
            <a:ext cx="948803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still depends on four things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8614767" y="2959537"/>
            <a:ext cx="8625483" cy="8153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00517" y="3195757"/>
            <a:ext cx="2457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298662" y="3188137"/>
            <a:ext cx="574127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correct reference material exists at all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8614767" y="3946327"/>
            <a:ext cx="8625483" cy="8153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00517" y="4182547"/>
            <a:ext cx="2457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298662" y="4174927"/>
            <a:ext cx="5728442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retrieves the correct passages</a:t>
            </a:r>
            <a:endParaRPr lang="en-US" sz="2175" dirty="0"/>
          </a:p>
        </p:txBody>
      </p:sp>
      <p:sp>
        <p:nvSpPr>
          <p:cNvPr id="18" name="Shape 16"/>
          <p:cNvSpPr/>
          <p:nvPr/>
        </p:nvSpPr>
        <p:spPr>
          <a:xfrm>
            <a:off x="8614767" y="4933117"/>
            <a:ext cx="8625483" cy="8153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900517" y="5169337"/>
            <a:ext cx="2457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298662" y="5161717"/>
            <a:ext cx="630549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interprets those passages correctly</a:t>
            </a:r>
            <a:endParaRPr lang="en-US" sz="2175" dirty="0"/>
          </a:p>
        </p:txBody>
      </p:sp>
      <p:sp>
        <p:nvSpPr>
          <p:cNvPr id="21" name="Shape 19"/>
          <p:cNvSpPr/>
          <p:nvPr/>
        </p:nvSpPr>
        <p:spPr>
          <a:xfrm>
            <a:off x="8614767" y="5919907"/>
            <a:ext cx="8625483" cy="8153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900517" y="6156127"/>
            <a:ext cx="2457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298662" y="6148507"/>
            <a:ext cx="555988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stays faithful to the evidence</a:t>
            </a:r>
            <a:endParaRPr lang="en-US" sz="2175" dirty="0"/>
          </a:p>
        </p:txBody>
      </p:sp>
      <p:sp>
        <p:nvSpPr>
          <p:cNvPr id="24" name="Shape 22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68139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RAG Gives, and What It Does Not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365177"/>
            <a:ext cx="857059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gives you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047750" y="3028117"/>
            <a:ext cx="28313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1407081" y="3028117"/>
            <a:ext cx="7900428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or domain knowledge without retraining the model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1047750" y="3591997"/>
            <a:ext cx="28313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1407081" y="3591997"/>
            <a:ext cx="689013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answers as soon as the index is refreshed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047750" y="4155877"/>
            <a:ext cx="28313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407081" y="4155877"/>
            <a:ext cx="42788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attribution and citations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1047750" y="4719757"/>
            <a:ext cx="28313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1407081" y="4719757"/>
            <a:ext cx="526913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limited to the current question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1047750" y="5283637"/>
            <a:ext cx="28313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1407081" y="5283637"/>
            <a:ext cx="7077028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updates that are cheaper than retraining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1047750" y="5847517"/>
            <a:ext cx="28313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1407081" y="5847517"/>
            <a:ext cx="783022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and generation that can be evaluated separately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9448800" y="2365177"/>
            <a:ext cx="857059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not guarantee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448800" y="3028117"/>
            <a:ext cx="30194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9826943" y="3028117"/>
            <a:ext cx="73390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Truth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9448800" y="3591997"/>
            <a:ext cx="30194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175" dirty="0"/>
          </a:p>
        </p:txBody>
      </p:sp>
      <p:sp>
        <p:nvSpPr>
          <p:cNvPr id="22" name="Text 20"/>
          <p:cNvSpPr/>
          <p:nvPr/>
        </p:nvSpPr>
        <p:spPr>
          <a:xfrm>
            <a:off x="9826943" y="3591997"/>
            <a:ext cx="195562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9448800" y="4155877"/>
            <a:ext cx="30194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175" dirty="0"/>
          </a:p>
        </p:txBody>
      </p:sp>
      <p:sp>
        <p:nvSpPr>
          <p:cNvPr id="24" name="Text 22"/>
          <p:cNvSpPr/>
          <p:nvPr/>
        </p:nvSpPr>
        <p:spPr>
          <a:xfrm>
            <a:off x="9826943" y="4155877"/>
            <a:ext cx="85903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2175" dirty="0"/>
          </a:p>
        </p:txBody>
      </p:sp>
      <p:sp>
        <p:nvSpPr>
          <p:cNvPr id="25" name="Text 23"/>
          <p:cNvSpPr/>
          <p:nvPr/>
        </p:nvSpPr>
        <p:spPr>
          <a:xfrm>
            <a:off x="9448800" y="4719757"/>
            <a:ext cx="30194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175" dirty="0"/>
          </a:p>
        </p:txBody>
      </p:sp>
      <p:sp>
        <p:nvSpPr>
          <p:cNvPr id="26" name="Text 24"/>
          <p:cNvSpPr/>
          <p:nvPr/>
        </p:nvSpPr>
        <p:spPr>
          <a:xfrm>
            <a:off x="9826943" y="4719757"/>
            <a:ext cx="245356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hallucination</a:t>
            </a:r>
            <a:endParaRPr lang="en-US" sz="2175" dirty="0"/>
          </a:p>
        </p:txBody>
      </p:sp>
      <p:sp>
        <p:nvSpPr>
          <p:cNvPr id="27" name="Shape 25"/>
          <p:cNvSpPr/>
          <p:nvPr/>
        </p:nvSpPr>
        <p:spPr>
          <a:xfrm>
            <a:off x="9448800" y="5436037"/>
            <a:ext cx="7791450" cy="176974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791700" y="5740837"/>
            <a:ext cx="7318820" cy="1198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875"/>
              </a:lnSpc>
              <a:buNone/>
            </a:pPr>
            <a:r>
              <a:rPr lang="en-US" sz="210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improves the evidence available to the model. It does not remove the need for source governance, access control, prompt constraints, evaluation and human review.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7249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600" y="762000"/>
            <a:ext cx="68139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92530"/>
            <a:ext cx="1810512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Connected Pipelines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2231827"/>
            <a:ext cx="16459200" cy="17830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231827"/>
            <a:ext cx="53340" cy="178308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91590" y="2548057"/>
            <a:ext cx="591323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25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· PREPARE THE KNOWLEDGE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6857762" y="2517577"/>
            <a:ext cx="571364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a schedule or when a document changes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1291590" y="3020497"/>
            <a:ext cx="2229445" cy="67056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5410" y="3218617"/>
            <a:ext cx="206180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3635335" y="3195757"/>
            <a:ext cx="3238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3997285" y="3020497"/>
            <a:ext cx="2229564" cy="67056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81105" y="3218617"/>
            <a:ext cx="206192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6341150" y="3195757"/>
            <a:ext cx="3238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703100" y="3020497"/>
            <a:ext cx="2229445" cy="67056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86920" y="3218617"/>
            <a:ext cx="206180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9046845" y="3195757"/>
            <a:ext cx="3238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408795" y="3020497"/>
            <a:ext cx="2229564" cy="67056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492615" y="3218617"/>
            <a:ext cx="206192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1752659" y="3195757"/>
            <a:ext cx="3238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2114609" y="3020497"/>
            <a:ext cx="2229445" cy="67056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198429" y="3218617"/>
            <a:ext cx="206180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4458355" y="3195757"/>
            <a:ext cx="3238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4820305" y="3020497"/>
            <a:ext cx="2229445" cy="67056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4904125" y="3218617"/>
            <a:ext cx="206180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9134475" y="4262557"/>
            <a:ext cx="19050" cy="209550"/>
          </a:xfrm>
          <a:prstGeom prst="rect">
            <a:avLst/>
          </a:prstGeom>
          <a:solidFill>
            <a:srgbClr val="C3CA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81525" y="4472107"/>
            <a:ext cx="9124831" cy="1230630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53025" y="4700707"/>
            <a:ext cx="196060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index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7183041" y="4723567"/>
            <a:ext cx="654699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B9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text · embedding · metadata · source reference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134475" y="5295067"/>
            <a:ext cx="19050" cy="209550"/>
          </a:xfrm>
          <a:prstGeom prst="rect">
            <a:avLst/>
          </a:prstGeom>
          <a:solidFill>
            <a:srgbClr val="C3CA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14400" y="5752267"/>
            <a:ext cx="16459200" cy="1783080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14400" y="5752267"/>
            <a:ext cx="53340" cy="178308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291590" y="6068496"/>
            <a:ext cx="525616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25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· ANSWER THE QUESTION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6260425" y="6038017"/>
            <a:ext cx="314691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B08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once per user request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1291590" y="6540937"/>
            <a:ext cx="1845112" cy="670560"/>
          </a:xfrm>
          <a:prstGeom prst="rect">
            <a:avLst/>
          </a:prstGeom>
          <a:solidFill>
            <a:srgbClr val="FFFFFF"/>
          </a:solidFill>
          <a:ln w="7620">
            <a:solidFill>
              <a:srgbClr val="F5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375410" y="6739057"/>
            <a:ext cx="167747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3251002" y="6716196"/>
            <a:ext cx="3238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3B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3612952" y="6540937"/>
            <a:ext cx="1845231" cy="670560"/>
          </a:xfrm>
          <a:prstGeom prst="rect">
            <a:avLst/>
          </a:prstGeom>
          <a:solidFill>
            <a:srgbClr val="FFFFFF"/>
          </a:solidFill>
          <a:ln w="7620">
            <a:solidFill>
              <a:srgbClr val="F5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96772" y="6739057"/>
            <a:ext cx="167759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prep</a:t>
            </a:r>
            <a:endParaRPr lang="en-US" sz="1875" dirty="0"/>
          </a:p>
        </p:txBody>
      </p:sp>
      <p:sp>
        <p:nvSpPr>
          <p:cNvPr id="40" name="Text 38"/>
          <p:cNvSpPr/>
          <p:nvPr/>
        </p:nvSpPr>
        <p:spPr>
          <a:xfrm>
            <a:off x="5572483" y="6716196"/>
            <a:ext cx="3238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3B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5934433" y="6540937"/>
            <a:ext cx="1845112" cy="670560"/>
          </a:xfrm>
          <a:prstGeom prst="rect">
            <a:avLst/>
          </a:prstGeom>
          <a:solidFill>
            <a:srgbClr val="FFFFFF"/>
          </a:solidFill>
          <a:ln w="7620">
            <a:solidFill>
              <a:srgbClr val="F5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018253" y="6739057"/>
            <a:ext cx="167747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875" dirty="0"/>
          </a:p>
        </p:txBody>
      </p:sp>
      <p:sp>
        <p:nvSpPr>
          <p:cNvPr id="43" name="Text 41"/>
          <p:cNvSpPr/>
          <p:nvPr/>
        </p:nvSpPr>
        <p:spPr>
          <a:xfrm>
            <a:off x="7893844" y="6716196"/>
            <a:ext cx="3238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3B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8255794" y="6540937"/>
            <a:ext cx="1845112" cy="670560"/>
          </a:xfrm>
          <a:prstGeom prst="rect">
            <a:avLst/>
          </a:prstGeom>
          <a:solidFill>
            <a:srgbClr val="FFFFFF"/>
          </a:solidFill>
          <a:ln w="7620">
            <a:solidFill>
              <a:srgbClr val="F5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339614" y="6739057"/>
            <a:ext cx="167747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1875" dirty="0"/>
          </a:p>
        </p:txBody>
      </p:sp>
      <p:sp>
        <p:nvSpPr>
          <p:cNvPr id="46" name="Text 44"/>
          <p:cNvSpPr/>
          <p:nvPr/>
        </p:nvSpPr>
        <p:spPr>
          <a:xfrm>
            <a:off x="10215206" y="6716196"/>
            <a:ext cx="3238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3B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47" name="Shape 45"/>
          <p:cNvSpPr/>
          <p:nvPr/>
        </p:nvSpPr>
        <p:spPr>
          <a:xfrm>
            <a:off x="10577156" y="6540937"/>
            <a:ext cx="1845112" cy="670560"/>
          </a:xfrm>
          <a:prstGeom prst="rect">
            <a:avLst/>
          </a:prstGeom>
          <a:solidFill>
            <a:srgbClr val="FFFFFF"/>
          </a:solidFill>
          <a:ln w="7620">
            <a:solidFill>
              <a:srgbClr val="F5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0660976" y="6739057"/>
            <a:ext cx="167747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</a:t>
            </a:r>
            <a:endParaRPr lang="en-US" sz="1875" dirty="0"/>
          </a:p>
        </p:txBody>
      </p:sp>
      <p:sp>
        <p:nvSpPr>
          <p:cNvPr id="49" name="Text 47"/>
          <p:cNvSpPr/>
          <p:nvPr/>
        </p:nvSpPr>
        <p:spPr>
          <a:xfrm>
            <a:off x="12536567" y="6716196"/>
            <a:ext cx="3238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3B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12898517" y="6540937"/>
            <a:ext cx="1845112" cy="670560"/>
          </a:xfrm>
          <a:prstGeom prst="rect">
            <a:avLst/>
          </a:prstGeom>
          <a:solidFill>
            <a:srgbClr val="FFFFFF"/>
          </a:solidFill>
          <a:ln w="7620">
            <a:solidFill>
              <a:srgbClr val="F5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2982337" y="6739057"/>
            <a:ext cx="167747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875" dirty="0"/>
          </a:p>
        </p:txBody>
      </p:sp>
      <p:sp>
        <p:nvSpPr>
          <p:cNvPr id="52" name="Text 50"/>
          <p:cNvSpPr/>
          <p:nvPr/>
        </p:nvSpPr>
        <p:spPr>
          <a:xfrm>
            <a:off x="14857929" y="6716196"/>
            <a:ext cx="3238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3B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53" name="Shape 51"/>
          <p:cNvSpPr/>
          <p:nvPr/>
        </p:nvSpPr>
        <p:spPr>
          <a:xfrm>
            <a:off x="15219879" y="6548557"/>
            <a:ext cx="1829872" cy="65532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5296079" y="6739057"/>
            <a:ext cx="167747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875" dirty="0"/>
          </a:p>
        </p:txBody>
      </p:sp>
      <p:sp>
        <p:nvSpPr>
          <p:cNvPr id="55" name="Shape 53"/>
          <p:cNvSpPr/>
          <p:nvPr/>
        </p:nvSpPr>
        <p:spPr>
          <a:xfrm>
            <a:off x="914400" y="9086850"/>
            <a:ext cx="164592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14400" y="93802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7119283" y="93992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68139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Is a Chain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327077"/>
            <a:ext cx="14716125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889"/>
              </a:lnSpc>
              <a:buNone/>
            </a:pPr>
            <a:r>
              <a:rPr lang="en-US" sz="24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answer is poor, the problem may have started long before the model generated anything. A weak stage reduces the quality of every later stage.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47750" y="3630097"/>
            <a:ext cx="5245061" cy="1737360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60170" y="3923467"/>
            <a:ext cx="508224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360170" y="4289227"/>
            <a:ext cx="4758827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is missing because the source was never brought in.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21411" y="3630097"/>
            <a:ext cx="5245061" cy="1737360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33831" y="3923467"/>
            <a:ext cx="508224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6833831" y="4289227"/>
            <a:ext cx="4758827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table was flattened and its meaning was destroyed.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995071" y="3630097"/>
            <a:ext cx="5245061" cy="1737360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07491" y="3923467"/>
            <a:ext cx="508224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12307491" y="4289227"/>
            <a:ext cx="4758827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useful paragraph was split across a weak boundary.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47750" y="5596057"/>
            <a:ext cx="5245061" cy="1737360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60170" y="5889427"/>
            <a:ext cx="508224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1360170" y="6255187"/>
            <a:ext cx="4758827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chunk exists but its vector represents it weakly.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521411" y="5596057"/>
            <a:ext cx="5245061" cy="1737360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33831" y="5889427"/>
            <a:ext cx="508224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6833831" y="6255187"/>
            <a:ext cx="4758827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chunk was retrieved, then removed by a wrong filter.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1995071" y="5596057"/>
            <a:ext cx="5245061" cy="1737360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307491" y="5889427"/>
            <a:ext cx="508224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12307491" y="6255187"/>
            <a:ext cx="4758827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context reached the model, but the instructions were unclear.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744039"/>
            <a:ext cx="2330851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8239"/>
              </a:lnSpc>
              <a:buNone/>
            </a:pPr>
            <a:r>
              <a:rPr lang="en-US" sz="1500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3776305" y="3877389"/>
            <a:ext cx="1099246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390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776305" y="4445080"/>
            <a:ext cx="10992469" cy="889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040"/>
              </a:lnSpc>
              <a:buNone/>
            </a:pPr>
            <a:r>
              <a:rPr lang="en-US" sz="6450" b="1" kern="0" spc="-193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Knowledge Base</a:t>
            </a:r>
            <a:endParaRPr lang="en-US" sz="6450" dirty="0"/>
          </a:p>
        </p:txBody>
      </p:sp>
      <p:sp>
        <p:nvSpPr>
          <p:cNvPr id="5" name="Text 3"/>
          <p:cNvSpPr/>
          <p:nvPr/>
        </p:nvSpPr>
        <p:spPr>
          <a:xfrm>
            <a:off x="3776305" y="5582721"/>
            <a:ext cx="1020318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70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offline pipeline: ingestion, cleaning, chunking, metadata, embeddings and the index.</a:t>
            </a:r>
            <a:endParaRPr lang="en-US" sz="2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293880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346127"/>
            <a:ext cx="794338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sources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047750" y="2978587"/>
            <a:ext cx="2109907" cy="65532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83970" y="3138607"/>
            <a:ext cx="232814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and Word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3291007" y="2978587"/>
            <a:ext cx="1736050" cy="65532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27227" y="3138607"/>
            <a:ext cx="204418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pages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5160407" y="2978587"/>
            <a:ext cx="1361599" cy="65532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96627" y="3138607"/>
            <a:ext cx="965359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047750" y="3767257"/>
            <a:ext cx="1786652" cy="65532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83970" y="3927277"/>
            <a:ext cx="1390412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Procedures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2967752" y="3767257"/>
            <a:ext cx="2613779" cy="65532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3972" y="3927277"/>
            <a:ext cx="2219752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manuals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5714881" y="3767257"/>
            <a:ext cx="1688187" cy="65532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51101" y="3927277"/>
            <a:ext cx="129194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047750" y="4555927"/>
            <a:ext cx="1385648" cy="65532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83970" y="4715947"/>
            <a:ext cx="1046559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FAQs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2254329" y="4555927"/>
            <a:ext cx="1224439" cy="65532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90549" y="4715947"/>
            <a:ext cx="828199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3612118" y="4555927"/>
            <a:ext cx="3168253" cy="65532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48338" y="4715947"/>
            <a:ext cx="279086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after extraction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047750" y="5344596"/>
            <a:ext cx="3280291" cy="65532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83970" y="5504616"/>
            <a:ext cx="290626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after transcription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1047750" y="6342817"/>
            <a:ext cx="7221260" cy="130683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47750" y="6342817"/>
            <a:ext cx="53340" cy="130683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405890" y="6609517"/>
            <a:ext cx="6755070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875"/>
              </a:lnSpc>
              <a:buNone/>
            </a:pPr>
            <a:r>
              <a:rPr lang="en-US" sz="210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content and email only when governance permits it.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8935760" y="2346127"/>
            <a:ext cx="913493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reliable ingestion process preserves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8935760" y="2959537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156145" y="2959537"/>
            <a:ext cx="3488213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stable document identifier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3249870" y="2959537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3470256" y="2959537"/>
            <a:ext cx="302318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and source location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8935760" y="3481507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156145" y="3481507"/>
            <a:ext cx="3252509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Creation and update dates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3249870" y="3481507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3470256" y="3481507"/>
            <a:ext cx="2422445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information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8935760" y="4003477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9156145" y="4003477"/>
            <a:ext cx="265503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or department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13249870" y="4003477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3470256" y="4003477"/>
            <a:ext cx="363157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and document type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8935760" y="4525447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9156145" y="4525447"/>
            <a:ext cx="2682259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classification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13249870" y="4525447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13470256" y="4525447"/>
            <a:ext cx="2433875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permissions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8935760" y="5047417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9156145" y="5047417"/>
            <a:ext cx="3255575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and section numbers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13249870" y="5047417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13470256" y="5047417"/>
            <a:ext cx="3849983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position for citations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293880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and Cleaning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2856667"/>
            <a:ext cx="7829550" cy="9525"/>
          </a:xfrm>
          <a:prstGeom prst="rect">
            <a:avLst/>
          </a:prstGeom>
          <a:solidFill>
            <a:srgbClr val="EDEF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47750" y="2327077"/>
            <a:ext cx="35242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1476375" y="2327077"/>
            <a:ext cx="6895731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repeated headers, footers and navigation text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9410700" y="2856667"/>
            <a:ext cx="7829550" cy="9525"/>
          </a:xfrm>
          <a:prstGeom prst="rect">
            <a:avLst/>
          </a:prstGeom>
          <a:solidFill>
            <a:srgbClr val="EDEF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0700" y="2327077"/>
            <a:ext cx="35242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9839325" y="2327077"/>
            <a:ext cx="4415083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broken character encoding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1047750" y="3622477"/>
            <a:ext cx="7829550" cy="9525"/>
          </a:xfrm>
          <a:prstGeom prst="rect">
            <a:avLst/>
          </a:prstGeom>
          <a:solidFill>
            <a:srgbClr val="EDEF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47750" y="3092887"/>
            <a:ext cx="35242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1476375" y="3092887"/>
            <a:ext cx="5392724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headings and section boundaries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9410700" y="3622477"/>
            <a:ext cx="7829550" cy="9525"/>
          </a:xfrm>
          <a:prstGeom prst="rect">
            <a:avLst/>
          </a:prstGeom>
          <a:solidFill>
            <a:srgbClr val="EDEF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10700" y="3092887"/>
            <a:ext cx="35242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9839325" y="3092887"/>
            <a:ext cx="5803795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table meaning instead of flattening cells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1047750" y="4388287"/>
            <a:ext cx="7829550" cy="9525"/>
          </a:xfrm>
          <a:prstGeom prst="rect">
            <a:avLst/>
          </a:prstGeom>
          <a:solidFill>
            <a:srgbClr val="EDEF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47750" y="3858697"/>
            <a:ext cx="35242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1476375" y="3858697"/>
            <a:ext cx="418293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OCR for scanned documents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9410700" y="4388287"/>
            <a:ext cx="7829550" cy="9525"/>
          </a:xfrm>
          <a:prstGeom prst="rect">
            <a:avLst/>
          </a:prstGeom>
          <a:solidFill>
            <a:srgbClr val="EDEF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10700" y="3858697"/>
            <a:ext cx="35242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75" dirty="0"/>
          </a:p>
        </p:txBody>
      </p:sp>
      <p:sp>
        <p:nvSpPr>
          <p:cNvPr id="22" name="Text 20"/>
          <p:cNvSpPr/>
          <p:nvPr/>
        </p:nvSpPr>
        <p:spPr>
          <a:xfrm>
            <a:off x="9839325" y="3858697"/>
            <a:ext cx="6242581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important figures for a text-based index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1047750" y="4624507"/>
            <a:ext cx="35242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75" dirty="0"/>
          </a:p>
        </p:txBody>
      </p:sp>
      <p:sp>
        <p:nvSpPr>
          <p:cNvPr id="24" name="Text 22"/>
          <p:cNvSpPr/>
          <p:nvPr/>
        </p:nvSpPr>
        <p:spPr>
          <a:xfrm>
            <a:off x="1476375" y="4624507"/>
            <a:ext cx="553694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 whitespace and formatting noise</a:t>
            </a:r>
            <a:endParaRPr lang="en-US" sz="2175" dirty="0"/>
          </a:p>
        </p:txBody>
      </p:sp>
      <p:sp>
        <p:nvSpPr>
          <p:cNvPr id="25" name="Text 23"/>
          <p:cNvSpPr/>
          <p:nvPr/>
        </p:nvSpPr>
        <p:spPr>
          <a:xfrm>
            <a:off x="9410700" y="4624507"/>
            <a:ext cx="35242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75" dirty="0"/>
          </a:p>
        </p:txBody>
      </p:sp>
      <p:sp>
        <p:nvSpPr>
          <p:cNvPr id="26" name="Text 24"/>
          <p:cNvSpPr/>
          <p:nvPr/>
        </p:nvSpPr>
        <p:spPr>
          <a:xfrm>
            <a:off x="9839325" y="4624507"/>
            <a:ext cx="496056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duplicate and obsolete versions</a:t>
            </a:r>
            <a:endParaRPr lang="en-US" sz="2175" dirty="0"/>
          </a:p>
        </p:txBody>
      </p:sp>
      <p:sp>
        <p:nvSpPr>
          <p:cNvPr id="27" name="Shape 25"/>
          <p:cNvSpPr/>
          <p:nvPr/>
        </p:nvSpPr>
        <p:spPr>
          <a:xfrm>
            <a:off x="1047750" y="5382696"/>
            <a:ext cx="7943850" cy="212407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90650" y="5687496"/>
            <a:ext cx="798385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TWO REPRESENTATIONS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90650" y="6041827"/>
            <a:ext cx="7475792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875"/>
              </a:lnSpc>
              <a:buNone/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cleaned version for retrieval, and the original for display and citation.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296400" y="5382696"/>
            <a:ext cx="7943850" cy="2124075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296400" y="5382696"/>
            <a:ext cx="53340" cy="2124075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692640" y="5687496"/>
            <a:ext cx="792518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QUALITY RULE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692640" y="6041827"/>
            <a:ext cx="7420852" cy="1198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875"/>
              </a:lnSpc>
              <a:buNone/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cannot repair an unreliable knowledge base. If two active policies contradict each other, retrieval may return both.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293880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 and Its Central Trade-off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288977"/>
            <a:ext cx="14912340" cy="894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699"/>
              </a:lnSpc>
              <a:buNone/>
            </a:pPr>
            <a:r>
              <a:rPr lang="en-US" sz="23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 divides a source into units small enough to match a specific question, but large enough to keep the answer's meaning. Sending whole documents wastes context and buries the relevant part.</a:t>
            </a:r>
            <a:endParaRPr lang="en-US" sz="2325" dirty="0"/>
          </a:p>
        </p:txBody>
      </p:sp>
      <p:sp>
        <p:nvSpPr>
          <p:cNvPr id="6" name="Shape 4"/>
          <p:cNvSpPr/>
          <p:nvPr/>
        </p:nvSpPr>
        <p:spPr>
          <a:xfrm>
            <a:off x="1047750" y="6181844"/>
            <a:ext cx="794385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7750" y="3526274"/>
            <a:ext cx="7943850" cy="4572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47750" y="3526274"/>
            <a:ext cx="9525" cy="266319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83980" y="3526274"/>
            <a:ext cx="9525" cy="266319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36370" y="3933944"/>
            <a:ext cx="7883271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large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436370" y="4501634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656755" y="4501634"/>
            <a:ext cx="415590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topics inside one vector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436370" y="4985504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56755" y="4985504"/>
            <a:ext cx="423749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Diluted semantic representation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36370" y="5469374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656755" y="5469374"/>
            <a:ext cx="456897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tokens and irrelevant context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296400" y="6181844"/>
            <a:ext cx="794385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296400" y="3526274"/>
            <a:ext cx="7943850" cy="45720"/>
          </a:xfrm>
          <a:prstGeom prst="rect">
            <a:avLst/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296400" y="3526274"/>
            <a:ext cx="9525" cy="266319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7232630" y="3526274"/>
            <a:ext cx="9525" cy="266319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85020" y="3933944"/>
            <a:ext cx="7883271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small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685020" y="4501634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905405" y="4501634"/>
            <a:ext cx="446695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and conditions are lost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685020" y="4985504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905405" y="4985504"/>
            <a:ext cx="479398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Exceptions separated from their rule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685020" y="5469374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905405" y="5469374"/>
            <a:ext cx="485527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values separated from headers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047750" y="6551414"/>
            <a:ext cx="16192500" cy="1451610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47750" y="6551414"/>
            <a:ext cx="53340" cy="145161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482090" y="6856214"/>
            <a:ext cx="10577460" cy="880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95"/>
              </a:lnSpc>
              <a:buNone/>
            </a:pPr>
            <a:r>
              <a:rPr lang="en-US" sz="23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 is not the smallest possible chunk. It is a </a:t>
            </a:r>
            <a:r>
              <a:rPr lang="en-US" sz="2325" b="1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semantically complete retrievable unit </a:t>
            </a:r>
            <a:r>
              <a:rPr lang="en-US" sz="23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325" dirty="0"/>
          </a:p>
        </p:txBody>
      </p:sp>
      <p:sp>
        <p:nvSpPr>
          <p:cNvPr id="31" name="Text 29"/>
          <p:cNvSpPr/>
          <p:nvPr/>
        </p:nvSpPr>
        <p:spPr>
          <a:xfrm>
            <a:off x="14115574" y="6938129"/>
            <a:ext cx="301804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F9E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500–1000 tokens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2132469" y="7319129"/>
            <a:ext cx="519945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experimental starting range, not a standard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439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600" y="723900"/>
            <a:ext cx="293880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35380"/>
            <a:ext cx="1810512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186"/>
              </a:lnSpc>
              <a:buNone/>
            </a:pPr>
            <a:r>
              <a:rPr lang="en-US" sz="4500" b="1" kern="0" spc="-90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 Strategies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14400" y="2491740"/>
            <a:ext cx="3620929" cy="15240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095500"/>
            <a:ext cx="350095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kern="0" spc="207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4535329" y="2491740"/>
            <a:ext cx="5102304" cy="15240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63929" y="2095500"/>
            <a:ext cx="479817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kern="0" spc="207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637633" y="2491740"/>
            <a:ext cx="7735967" cy="15240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66233" y="2095500"/>
            <a:ext cx="773944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kern="0" spc="207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914400" y="3154680"/>
            <a:ext cx="3620929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2668905"/>
            <a:ext cx="35009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Fixed-size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4535329" y="3154680"/>
            <a:ext cx="5102304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63929" y="2668905"/>
            <a:ext cx="479817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fast and predictable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637633" y="3154680"/>
            <a:ext cx="7735967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866233" y="2668905"/>
            <a:ext cx="773944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 through sentences and tables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" y="3806190"/>
            <a:ext cx="3620929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3324225"/>
            <a:ext cx="350095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Fixed-size with overlap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4535329" y="3806190"/>
            <a:ext cx="5102304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63929" y="3324225"/>
            <a:ext cx="479817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meaning near boundaries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637633" y="3806190"/>
            <a:ext cx="7735967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866233" y="3324225"/>
            <a:ext cx="773944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Duplication and a larger index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14400" y="4457700"/>
            <a:ext cx="3620929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3975735"/>
            <a:ext cx="350095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Sentence-based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4535329" y="4457700"/>
            <a:ext cx="5102304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63929" y="3975735"/>
            <a:ext cx="479817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sentence boundaries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637633" y="4457700"/>
            <a:ext cx="7735967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866233" y="3975735"/>
            <a:ext cx="773944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 may lack context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14400" y="5109210"/>
            <a:ext cx="3620929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" y="4627245"/>
            <a:ext cx="350095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Paragraph-based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4535329" y="5109210"/>
            <a:ext cx="5102304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63929" y="4627245"/>
            <a:ext cx="479817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preserves a complete idea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9637633" y="5109210"/>
            <a:ext cx="7735967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66233" y="4627245"/>
            <a:ext cx="773944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lengths vary greatly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14400" y="5760720"/>
            <a:ext cx="3620929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14400" y="5278755"/>
            <a:ext cx="350095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 or section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4535329" y="5760720"/>
            <a:ext cx="5102304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63929" y="5278755"/>
            <a:ext cx="479817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the topic hierarchy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9637633" y="5760720"/>
            <a:ext cx="7735967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866233" y="5278755"/>
            <a:ext cx="773944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reliable document structure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914400" y="6412230"/>
            <a:ext cx="3620929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14400" y="5930265"/>
            <a:ext cx="350095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Layout-aware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4535329" y="6412230"/>
            <a:ext cx="5102304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63929" y="5930265"/>
            <a:ext cx="479817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for structured documents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9637633" y="6412230"/>
            <a:ext cx="7735967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866233" y="5930265"/>
            <a:ext cx="773944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better extraction</a:t>
            </a:r>
            <a:endParaRPr lang="en-US" sz="1950" dirty="0"/>
          </a:p>
        </p:txBody>
      </p:sp>
      <p:sp>
        <p:nvSpPr>
          <p:cNvPr id="47" name="Shape 45"/>
          <p:cNvSpPr/>
          <p:nvPr/>
        </p:nvSpPr>
        <p:spPr>
          <a:xfrm>
            <a:off x="914400" y="7063740"/>
            <a:ext cx="3620929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14400" y="6581775"/>
            <a:ext cx="350095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4535329" y="7063740"/>
            <a:ext cx="5102304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763929" y="6581775"/>
            <a:ext cx="479817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Concept-focused chunks</a:t>
            </a:r>
            <a:endParaRPr lang="en-US" sz="1950" dirty="0"/>
          </a:p>
        </p:txBody>
      </p:sp>
      <p:sp>
        <p:nvSpPr>
          <p:cNvPr id="51" name="Shape 49"/>
          <p:cNvSpPr/>
          <p:nvPr/>
        </p:nvSpPr>
        <p:spPr>
          <a:xfrm>
            <a:off x="9637633" y="7063740"/>
            <a:ext cx="7735967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866233" y="6581775"/>
            <a:ext cx="773944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processing and complexity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914400" y="7233285"/>
            <a:ext cx="35009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Parent-child</a:t>
            </a:r>
            <a:endParaRPr lang="en-US" sz="1950" dirty="0"/>
          </a:p>
        </p:txBody>
      </p:sp>
      <p:sp>
        <p:nvSpPr>
          <p:cNvPr id="54" name="Text 52"/>
          <p:cNvSpPr/>
          <p:nvPr/>
        </p:nvSpPr>
        <p:spPr>
          <a:xfrm>
            <a:off x="4763929" y="7233285"/>
            <a:ext cx="479817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Precise retrieval, broad context</a:t>
            </a:r>
            <a:endParaRPr lang="en-US" sz="1950" dirty="0"/>
          </a:p>
        </p:txBody>
      </p:sp>
      <p:sp>
        <p:nvSpPr>
          <p:cNvPr id="55" name="Text 53"/>
          <p:cNvSpPr/>
          <p:nvPr/>
        </p:nvSpPr>
        <p:spPr>
          <a:xfrm>
            <a:off x="9866233" y="7233285"/>
            <a:ext cx="773944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extra index relationships</a:t>
            </a:r>
            <a:endParaRPr lang="en-US" sz="1950" dirty="0"/>
          </a:p>
        </p:txBody>
      </p:sp>
      <p:sp>
        <p:nvSpPr>
          <p:cNvPr id="56" name="Shape 54"/>
          <p:cNvSpPr/>
          <p:nvPr/>
        </p:nvSpPr>
        <p:spPr>
          <a:xfrm>
            <a:off x="914400" y="9163050"/>
            <a:ext cx="164592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14400" y="94183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7119283" y="94373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293880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Overlap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2327077"/>
            <a:ext cx="5505450" cy="609600"/>
          </a:xfrm>
          <a:prstGeom prst="rect">
            <a:avLst/>
          </a:prstGeom>
          <a:solidFill>
            <a:srgbClr val="EDEBF5"/>
          </a:solidFill>
          <a:ln w="7620">
            <a:solidFill>
              <a:srgbClr val="C9C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83970" y="2334697"/>
            <a:ext cx="5426774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1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553200" y="2327077"/>
            <a:ext cx="1457325" cy="60960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15100" y="2327077"/>
            <a:ext cx="153352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515100" y="3070027"/>
            <a:ext cx="103798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710745" y="3070027"/>
            <a:ext cx="4437792" cy="609600"/>
          </a:xfrm>
          <a:prstGeom prst="rect">
            <a:avLst/>
          </a:prstGeom>
          <a:solidFill>
            <a:srgbClr val="EDEBF5"/>
          </a:solidFill>
          <a:ln w="7620">
            <a:solidFill>
              <a:srgbClr val="C9C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51207" y="3077647"/>
            <a:ext cx="3498716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2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250036" y="3715873"/>
            <a:ext cx="961787" cy="60960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11936" y="3715873"/>
            <a:ext cx="103798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1211823" y="3737579"/>
            <a:ext cx="2911900" cy="609600"/>
          </a:xfrm>
          <a:prstGeom prst="rect">
            <a:avLst/>
          </a:prstGeom>
          <a:solidFill>
            <a:srgbClr val="EDEBF5"/>
          </a:solidFill>
          <a:ln w="7620">
            <a:solidFill>
              <a:srgbClr val="C9C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48042" y="3745199"/>
            <a:ext cx="2911901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47750" y="4651177"/>
            <a:ext cx="178117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repeats a small boundary region in the neighbouring chunk.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047750" y="5401746"/>
            <a:ext cx="5219700" cy="16459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71600" y="5687496"/>
            <a:ext cx="502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LITTLE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6041827"/>
            <a:ext cx="470916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meaning is separated across a boundary.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6534150" y="5401746"/>
            <a:ext cx="5219700" cy="16459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0" y="5687496"/>
            <a:ext cx="502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MUCH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0" y="6041827"/>
            <a:ext cx="470916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results, larger index, duplicated evidence.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2020550" y="5401746"/>
            <a:ext cx="5219700" cy="1645920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344400" y="5687496"/>
            <a:ext cx="502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44400" y="6041827"/>
            <a:ext cx="470916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overlap on real questions. It is not an automatic fix.</a:t>
            </a:r>
            <a:endParaRPr lang="en-US" sz="2025" dirty="0"/>
          </a:p>
        </p:txBody>
      </p:sp>
      <p:sp>
        <p:nvSpPr>
          <p:cNvPr id="27" name="Shape 25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293880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According to the Content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2308027"/>
            <a:ext cx="5245061" cy="1653540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41120" y="2582347"/>
            <a:ext cx="512415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SECTION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341120" y="2929057"/>
            <a:ext cx="479807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rule, its conditions and its exceptions together.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6521411" y="2308027"/>
            <a:ext cx="5245061" cy="1653540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14781" y="2582347"/>
            <a:ext cx="512415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6814781" y="2929057"/>
            <a:ext cx="479807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separate a step from its warning or prerequisite.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1995071" y="2308027"/>
            <a:ext cx="5245061" cy="1653540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288441" y="2582347"/>
            <a:ext cx="512415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2288441" y="2929057"/>
            <a:ext cx="479807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headers associated with their cell values.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047750" y="4190167"/>
            <a:ext cx="5245061" cy="1653540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41120" y="4464487"/>
            <a:ext cx="512415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AND ANSWER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341120" y="4811197"/>
            <a:ext cx="5124152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pair in one chunk.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6521411" y="4190167"/>
            <a:ext cx="5245061" cy="1653540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14781" y="4464487"/>
            <a:ext cx="512415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CLAUSE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6814781" y="4811197"/>
            <a:ext cx="479807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the definitions that control its meaning.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1995071" y="4190167"/>
            <a:ext cx="5245061" cy="1653540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288441" y="4464487"/>
            <a:ext cx="512415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SECTION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2288441" y="4811197"/>
            <a:ext cx="479807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configuration name with its explanation.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1047750" y="6281857"/>
            <a:ext cx="16192500" cy="14478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428750" y="6605707"/>
            <a:ext cx="169735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EVERY CHUNK WITH THREE QUESTIONS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28750" y="7055287"/>
            <a:ext cx="5434287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it be understood on its own?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673811" y="7055287"/>
            <a:ext cx="5434287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hold one coherent subject?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1918871" y="7055287"/>
            <a:ext cx="5434287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real question match its wording?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293880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Enrichment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327077"/>
            <a:ext cx="14716125" cy="894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699"/>
              </a:lnSpc>
              <a:buNone/>
            </a:pPr>
            <a:r>
              <a:rPr lang="en-US" sz="23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text explains the content. Metadata explains where the content came from and how it should be handled.</a:t>
            </a:r>
            <a:endParaRPr lang="en-US" sz="2325" dirty="0"/>
          </a:p>
        </p:txBody>
      </p:sp>
      <p:sp>
        <p:nvSpPr>
          <p:cNvPr id="6" name="Text 4"/>
          <p:cNvSpPr/>
          <p:nvPr/>
        </p:nvSpPr>
        <p:spPr>
          <a:xfrm>
            <a:off x="1047750" y="3564374"/>
            <a:ext cx="897869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stored with every chunk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47750" y="4116824"/>
            <a:ext cx="1386602" cy="59436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45870" y="4257794"/>
            <a:ext cx="106656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ID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2548652" y="4116824"/>
            <a:ext cx="1813084" cy="59436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6772" y="4257794"/>
            <a:ext cx="149304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ID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4476036" y="4116824"/>
            <a:ext cx="871061" cy="59436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74156" y="4257794"/>
            <a:ext cx="55102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5461397" y="4116824"/>
            <a:ext cx="2104787" cy="59436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59517" y="4257794"/>
            <a:ext cx="178474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heading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047750" y="4825484"/>
            <a:ext cx="1811179" cy="59436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45870" y="4966454"/>
            <a:ext cx="149113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number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2973229" y="4825484"/>
            <a:ext cx="1627823" cy="59436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71349" y="4966454"/>
            <a:ext cx="185102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URL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4715351" y="4825484"/>
            <a:ext cx="1101090" cy="59436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13471" y="4966454"/>
            <a:ext cx="7810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5930741" y="4825484"/>
            <a:ext cx="2131695" cy="59436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28861" y="4966454"/>
            <a:ext cx="181165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 date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047750" y="5534144"/>
            <a:ext cx="1786652" cy="59436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45870" y="5675114"/>
            <a:ext cx="146661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updated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2948702" y="5534144"/>
            <a:ext cx="1196340" cy="59436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146822" y="5675114"/>
            <a:ext cx="87630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4259342" y="5534144"/>
            <a:ext cx="1080135" cy="59436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57462" y="5675114"/>
            <a:ext cx="76009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5453777" y="5534144"/>
            <a:ext cx="1419939" cy="59436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51897" y="5675114"/>
            <a:ext cx="153423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6988016" y="5534144"/>
            <a:ext cx="1772364" cy="59436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86136" y="5675114"/>
            <a:ext cx="145232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type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1047750" y="6242804"/>
            <a:ext cx="2238375" cy="59436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245870" y="6383774"/>
            <a:ext cx="191833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or region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3400425" y="6242804"/>
            <a:ext cx="1851422" cy="594360"/>
          </a:xfrm>
          <a:prstGeom prst="rect">
            <a:avLst/>
          </a:prstGeom>
          <a:solidFill>
            <a:srgbClr val="F0F9F5"/>
          </a:solidFill>
          <a:ln w="7620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598545" y="6383774"/>
            <a:ext cx="153138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label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5366147" y="6242804"/>
            <a:ext cx="1957864" cy="594360"/>
          </a:xfrm>
          <a:prstGeom prst="rect">
            <a:avLst/>
          </a:prstGeom>
          <a:solidFill>
            <a:srgbClr val="F0F9F5"/>
          </a:solidFill>
          <a:ln w="7620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564267" y="6383774"/>
            <a:ext cx="163782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1875" dirty="0"/>
          </a:p>
        </p:txBody>
      </p:sp>
      <p:sp>
        <p:nvSpPr>
          <p:cNvPr id="39" name="Text 37"/>
          <p:cNvSpPr/>
          <p:nvPr/>
        </p:nvSpPr>
        <p:spPr>
          <a:xfrm>
            <a:off x="9819799" y="3564374"/>
            <a:ext cx="816249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metadata makes possible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9819799" y="4791194"/>
            <a:ext cx="7420451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819799" y="4393049"/>
            <a:ext cx="12596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041017" y="4278749"/>
            <a:ext cx="237407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citations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9819799" y="5473184"/>
            <a:ext cx="7420451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819799" y="5075039"/>
            <a:ext cx="12596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041017" y="4960739"/>
            <a:ext cx="6613529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by language, date, category or permission</a:t>
            </a:r>
            <a:endParaRPr lang="en-US" sz="2100" dirty="0"/>
          </a:p>
        </p:txBody>
      </p:sp>
      <p:sp>
        <p:nvSpPr>
          <p:cNvPr id="46" name="Shape 44"/>
          <p:cNvSpPr/>
          <p:nvPr/>
        </p:nvSpPr>
        <p:spPr>
          <a:xfrm>
            <a:off x="9819799" y="6155174"/>
            <a:ext cx="7420451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819799" y="5757029"/>
            <a:ext cx="12596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041017" y="5642729"/>
            <a:ext cx="532204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irrelevant material</a:t>
            </a:r>
            <a:endParaRPr lang="en-US" sz="2100" dirty="0"/>
          </a:p>
        </p:txBody>
      </p:sp>
      <p:sp>
        <p:nvSpPr>
          <p:cNvPr id="49" name="Shape 47"/>
          <p:cNvSpPr/>
          <p:nvPr/>
        </p:nvSpPr>
        <p:spPr>
          <a:xfrm>
            <a:off x="9819799" y="6837164"/>
            <a:ext cx="7420451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819799" y="6439019"/>
            <a:ext cx="12596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041017" y="6324719"/>
            <a:ext cx="525839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Boosting</a:t>
            </a: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authoritative or recent sources</a:t>
            </a:r>
            <a:endParaRPr lang="en-US" sz="2100" dirty="0"/>
          </a:p>
        </p:txBody>
      </p:sp>
      <p:sp>
        <p:nvSpPr>
          <p:cNvPr id="52" name="Shape 50"/>
          <p:cNvSpPr/>
          <p:nvPr/>
        </p:nvSpPr>
        <p:spPr>
          <a:xfrm>
            <a:off x="9819799" y="7519154"/>
            <a:ext cx="7420451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819799" y="7121009"/>
            <a:ext cx="12596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041017" y="7006709"/>
            <a:ext cx="639494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</a:t>
            </a: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which document produced an answer</a:t>
            </a:r>
            <a:endParaRPr lang="en-US" sz="2100" dirty="0"/>
          </a:p>
        </p:txBody>
      </p:sp>
      <p:sp>
        <p:nvSpPr>
          <p:cNvPr id="55" name="Text 53"/>
          <p:cNvSpPr/>
          <p:nvPr/>
        </p:nvSpPr>
        <p:spPr>
          <a:xfrm>
            <a:off x="9819799" y="7802999"/>
            <a:ext cx="12596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041017" y="7688699"/>
            <a:ext cx="662610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Updating or deleting every chunk of one document</a:t>
            </a:r>
            <a:endParaRPr lang="en-US" sz="2100" dirty="0"/>
          </a:p>
        </p:txBody>
      </p:sp>
      <p:sp>
        <p:nvSpPr>
          <p:cNvPr id="57" name="Text 55"/>
          <p:cNvSpPr/>
          <p:nvPr/>
        </p:nvSpPr>
        <p:spPr>
          <a:xfrm>
            <a:off x="9819799" y="8524994"/>
            <a:ext cx="764306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metadata field is only useful if it is accurate and consistently populated.</a:t>
            </a:r>
            <a:endParaRPr lang="en-US" sz="1950" dirty="0"/>
          </a:p>
        </p:txBody>
      </p:sp>
      <p:sp>
        <p:nvSpPr>
          <p:cNvPr id="58" name="Shape 56"/>
          <p:cNvSpPr/>
          <p:nvPr/>
        </p:nvSpPr>
        <p:spPr>
          <a:xfrm>
            <a:off x="1047750" y="9165074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047750" y="9496544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6985933" y="9515594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228C28-7502-EC97-C6C2-ADDD4A68FA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75"/>
          <a:stretch>
            <a:fillRect/>
          </a:stretch>
        </p:blipFill>
        <p:spPr>
          <a:xfrm>
            <a:off x="1873818" y="869997"/>
            <a:ext cx="16058125" cy="82057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383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293880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327077"/>
            <a:ext cx="7614982" cy="1420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261"/>
              </a:lnSpc>
              <a:buNone/>
            </a:pPr>
            <a:r>
              <a:rPr lang="en-US" sz="24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embedding is a </a:t>
            </a:r>
            <a:r>
              <a:rPr lang="en-US" sz="2475" b="1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vector </a:t>
            </a:r>
            <a:r>
              <a:rPr lang="en-US" sz="24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represents a passage or a query in a multidimensional space. Items with related meaning sit near one another.</a:t>
            </a:r>
            <a:endParaRPr lang="en-US" sz="2475" dirty="0"/>
          </a:p>
        </p:txBody>
      </p:sp>
      <p:sp>
        <p:nvSpPr>
          <p:cNvPr id="6" name="Shape 4"/>
          <p:cNvSpPr/>
          <p:nvPr/>
        </p:nvSpPr>
        <p:spPr>
          <a:xfrm>
            <a:off x="1047750" y="3995380"/>
            <a:ext cx="7393186" cy="22250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4281130"/>
            <a:ext cx="742003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SUMMARY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4673560"/>
            <a:ext cx="6947851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875"/>
              </a:lnSpc>
              <a:buNone/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vector is not readable text. It is a mathematical representation used only for comparison.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71600" y="5637490"/>
            <a:ext cx="742003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[ 0.021, -0.184, 0.663, … 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07686" y="2327077"/>
            <a:ext cx="89458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words, same meaning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107686" y="2917627"/>
            <a:ext cx="8132564" cy="1242060"/>
          </a:xfrm>
          <a:prstGeom prst="rect">
            <a:avLst/>
          </a:prstGeom>
          <a:ln w="7620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420106" y="3191947"/>
            <a:ext cx="8258497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QUESTION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9420106" y="3519607"/>
            <a:ext cx="8258497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long can I return a product?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3164384" y="4407337"/>
            <a:ext cx="19050" cy="247650"/>
          </a:xfrm>
          <a:prstGeom prst="rect">
            <a:avLst/>
          </a:prstGeom>
          <a:solidFill>
            <a:srgbClr val="C3CA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07686" y="4902637"/>
            <a:ext cx="8132564" cy="1242060"/>
          </a:xfrm>
          <a:prstGeom prst="rect">
            <a:avLst/>
          </a:prstGeom>
          <a:solidFill>
            <a:srgbClr val="F0F9F5"/>
          </a:solidFill>
          <a:ln w="7620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20106" y="5176957"/>
            <a:ext cx="8258497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PASSAGE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9420106" y="5504617"/>
            <a:ext cx="8258497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requests are accepted within 30 days.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107686" y="6468546"/>
            <a:ext cx="8376541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search asks whether terms match. Vector search asks whether representations are close.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293880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Vectors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2308027"/>
            <a:ext cx="16192500" cy="1043940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66850" y="2631877"/>
            <a:ext cx="9454896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cosine_similarity(A, B) = (A · B) / (|A| × |B|)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481310" y="2669977"/>
            <a:ext cx="460708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B9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the direction of two vectors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47750" y="3732967"/>
            <a:ext cx="91684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Retrieved for one query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47750" y="4304467"/>
            <a:ext cx="440055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requests within 30 days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5276850" y="4348282"/>
            <a:ext cx="3153370" cy="247650"/>
          </a:xfrm>
          <a:prstGeom prst="rect">
            <a:avLst/>
          </a:prstGeom>
          <a:solidFill>
            <a:srgbClr val="EDEF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276850" y="4348282"/>
            <a:ext cx="2806422" cy="24765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82620" y="4312087"/>
            <a:ext cx="8001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2F9E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0.89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47750" y="4811197"/>
            <a:ext cx="4120515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conditions for damaged items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5276850" y="5022652"/>
            <a:ext cx="3153370" cy="247650"/>
          </a:xfrm>
          <a:prstGeom prst="rect">
            <a:avLst/>
          </a:prstGeom>
          <a:solidFill>
            <a:srgbClr val="EDEF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76850" y="5022652"/>
            <a:ext cx="2238851" cy="247650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82620" y="4986457"/>
            <a:ext cx="8001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4A8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0.71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47750" y="5653207"/>
            <a:ext cx="440055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Warranty registration procedure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5276850" y="5697021"/>
            <a:ext cx="3153370" cy="247650"/>
          </a:xfrm>
          <a:prstGeom prst="rect">
            <a:avLst/>
          </a:prstGeom>
          <a:solidFill>
            <a:srgbClr val="EDEF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76850" y="5697021"/>
            <a:ext cx="1702713" cy="247650"/>
          </a:xfrm>
          <a:prstGeom prst="rect">
            <a:avLst/>
          </a:prstGeom>
          <a:solidFill>
            <a:srgbClr val="C3CA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82620" y="5660827"/>
            <a:ext cx="8001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0.54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47750" y="6159937"/>
            <a:ext cx="440055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opening hours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5276850" y="6203752"/>
            <a:ext cx="3153370" cy="247650"/>
          </a:xfrm>
          <a:prstGeom prst="rect">
            <a:avLst/>
          </a:prstGeom>
          <a:solidFill>
            <a:srgbClr val="EDEF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76850" y="6203752"/>
            <a:ext cx="693658" cy="247650"/>
          </a:xfrm>
          <a:prstGeom prst="rect">
            <a:avLst/>
          </a:prstGeom>
          <a:solidFill>
            <a:srgbClr val="D9DE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582620" y="6167557"/>
            <a:ext cx="8001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0.22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047750" y="6800017"/>
            <a:ext cx="8585019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scores. Their meaning depends on the embedding model and the vector store.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9992320" y="3732967"/>
            <a:ext cx="797259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that matter more than the formula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992320" y="4956453"/>
            <a:ext cx="7247811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992320" y="4544497"/>
            <a:ext cx="12596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13538" y="4437817"/>
            <a:ext cx="7644908" cy="385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827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chunks and queries with the same compatible model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9992320" y="5654159"/>
            <a:ext cx="7247811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992320" y="5242203"/>
            <a:ext cx="12596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213538" y="5135523"/>
            <a:ext cx="6905458" cy="385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827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dimensions must match the index configuration</a:t>
            </a:r>
            <a:endParaRPr lang="en-US" sz="2025" dirty="0"/>
          </a:p>
        </p:txBody>
      </p:sp>
      <p:sp>
        <p:nvSpPr>
          <p:cNvPr id="33" name="Shape 31"/>
          <p:cNvSpPr/>
          <p:nvPr/>
        </p:nvSpPr>
        <p:spPr>
          <a:xfrm>
            <a:off x="9992320" y="6699052"/>
            <a:ext cx="7247811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992320" y="5939909"/>
            <a:ext cx="12596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213538" y="5833229"/>
            <a:ext cx="7237390" cy="732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827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the embedding model means re-embedding everything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9992320" y="6984802"/>
            <a:ext cx="11953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207110" y="6878121"/>
            <a:ext cx="7244013" cy="732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827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shows related meaning — it does not prove the passage answers the question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293880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and English Retrieval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308027"/>
            <a:ext cx="14716125" cy="894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699"/>
              </a:lnSpc>
              <a:buNone/>
            </a:pPr>
            <a:r>
              <a:rPr lang="en-US" sz="23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that the embedding model performs well in both languages before you commit to it. Test all four directions.</a:t>
            </a:r>
            <a:endParaRPr lang="en-US" sz="2325" dirty="0"/>
          </a:p>
        </p:txBody>
      </p:sp>
      <p:sp>
        <p:nvSpPr>
          <p:cNvPr id="6" name="Shape 4"/>
          <p:cNvSpPr/>
          <p:nvPr/>
        </p:nvSpPr>
        <p:spPr>
          <a:xfrm>
            <a:off x="1047750" y="3545324"/>
            <a:ext cx="3890962" cy="17335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7750" y="3545324"/>
            <a:ext cx="3890962" cy="3810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14450" y="3869174"/>
            <a:ext cx="3693319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1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314450" y="4234934"/>
            <a:ext cx="3458289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question to Arabic source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148263" y="3545324"/>
            <a:ext cx="3890962" cy="17335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148263" y="3545324"/>
            <a:ext cx="3890962" cy="3810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14963" y="3869174"/>
            <a:ext cx="3693319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2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5414963" y="4234934"/>
            <a:ext cx="3458289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question to English source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248775" y="3545324"/>
            <a:ext cx="3890962" cy="17335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248775" y="3545324"/>
            <a:ext cx="3890962" cy="38100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515475" y="3869174"/>
            <a:ext cx="3693319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3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9515475" y="4234934"/>
            <a:ext cx="3458289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question to English source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3349288" y="3545324"/>
            <a:ext cx="3890962" cy="17335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3349288" y="3545324"/>
            <a:ext cx="3890962" cy="38100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615988" y="3869174"/>
            <a:ext cx="3693319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4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13615988" y="4234934"/>
            <a:ext cx="3458289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question to Arabic source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047750" y="5697974"/>
            <a:ext cx="8541306" cy="3036570"/>
          </a:xfrm>
          <a:prstGeom prst="rect">
            <a:avLst/>
          </a:prstGeom>
          <a:ln w="7620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98270" y="6010394"/>
            <a:ext cx="862429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CROSS-LANGUAGE EXAMPLE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398270" y="6452354"/>
            <a:ext cx="862429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98270" y="6844784"/>
            <a:ext cx="862429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كم يوماً لتقديم مطالبة مصاريف السفر؟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398270" y="7492484"/>
            <a:ext cx="7840266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98270" y="7671554"/>
            <a:ext cx="862429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English passage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98270" y="8063984"/>
            <a:ext cx="8624292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expense claims must be submitted within 30 days.</a:t>
            </a:r>
            <a:endParaRPr lang="en-US" sz="2175" dirty="0"/>
          </a:p>
        </p:txBody>
      </p:sp>
      <p:sp>
        <p:nvSpPr>
          <p:cNvPr id="29" name="Text 27"/>
          <p:cNvSpPr/>
          <p:nvPr/>
        </p:nvSpPr>
        <p:spPr>
          <a:xfrm>
            <a:off x="10122455" y="5697974"/>
            <a:ext cx="78294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test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0122455" y="6174224"/>
            <a:ext cx="160139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0339744" y="6174224"/>
            <a:ext cx="4246269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names and abbreviations</a:t>
            </a:r>
            <a:endParaRPr lang="en-US" sz="2025" dirty="0"/>
          </a:p>
        </p:txBody>
      </p:sp>
      <p:sp>
        <p:nvSpPr>
          <p:cNvPr id="32" name="Text 30"/>
          <p:cNvSpPr/>
          <p:nvPr/>
        </p:nvSpPr>
        <p:spPr>
          <a:xfrm>
            <a:off x="10122455" y="6642854"/>
            <a:ext cx="160139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33" name="Text 31"/>
          <p:cNvSpPr/>
          <p:nvPr/>
        </p:nvSpPr>
        <p:spPr>
          <a:xfrm>
            <a:off x="10339744" y="6642854"/>
            <a:ext cx="2582573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Transliterated terms</a:t>
            </a:r>
            <a:endParaRPr lang="en-US" sz="2025" dirty="0"/>
          </a:p>
        </p:txBody>
      </p:sp>
      <p:sp>
        <p:nvSpPr>
          <p:cNvPr id="34" name="Text 32"/>
          <p:cNvSpPr/>
          <p:nvPr/>
        </p:nvSpPr>
        <p:spPr>
          <a:xfrm>
            <a:off x="10122455" y="7111484"/>
            <a:ext cx="160139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35" name="Text 33"/>
          <p:cNvSpPr/>
          <p:nvPr/>
        </p:nvSpPr>
        <p:spPr>
          <a:xfrm>
            <a:off x="10339744" y="7111484"/>
            <a:ext cx="303886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Mixed-language queries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293880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Indexes and Databases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327077"/>
            <a:ext cx="83614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indexed record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47750" y="2898577"/>
            <a:ext cx="7601308" cy="3627120"/>
          </a:xfrm>
          <a:prstGeom prst="rect">
            <a:avLst/>
          </a:prstGeom>
          <a:ln w="7620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5370" y="3622477"/>
            <a:ext cx="7586067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22070" y="3096697"/>
            <a:ext cx="199072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60420" y="3096697"/>
            <a:ext cx="2297192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identifier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055370" y="4346377"/>
            <a:ext cx="7586067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22070" y="3820597"/>
            <a:ext cx="199072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60420" y="3820597"/>
            <a:ext cx="2295489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chunk content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055370" y="5070277"/>
            <a:ext cx="7586067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22070" y="4544497"/>
            <a:ext cx="199072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60420" y="4544497"/>
            <a:ext cx="123717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vector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055370" y="5794176"/>
            <a:ext cx="7586067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22070" y="5268396"/>
            <a:ext cx="199072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60420" y="5268396"/>
            <a:ext cx="3858209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title, version, language, access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322070" y="5992296"/>
            <a:ext cx="199072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source_ref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60420" y="5992296"/>
            <a:ext cx="339850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pointer back to the original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9258658" y="2327077"/>
            <a:ext cx="87797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in the course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258658" y="2822377"/>
            <a:ext cx="1415296" cy="65532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13928" y="2982397"/>
            <a:ext cx="98095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0807303" y="2822377"/>
            <a:ext cx="1577102" cy="65532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062573" y="2982397"/>
            <a:ext cx="1142762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12517756" y="2822377"/>
            <a:ext cx="1570911" cy="65532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773026" y="2982397"/>
            <a:ext cx="113657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Weaviate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9258658" y="3630097"/>
            <a:ext cx="8221041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systems and relational databases can also provide vector search. Choose on scale, latency, filtering, access control, deployment and cost.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258658" y="4936927"/>
            <a:ext cx="7981593" cy="196024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563458" y="5203627"/>
            <a:ext cx="810919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IS USUALLY APPROXIMATE</a:t>
            </a:r>
            <a:endParaRPr lang="en-US" sz="1725" dirty="0"/>
          </a:p>
        </p:txBody>
      </p:sp>
      <p:sp>
        <p:nvSpPr>
          <p:cNvPr id="31" name="Text 29"/>
          <p:cNvSpPr/>
          <p:nvPr/>
        </p:nvSpPr>
        <p:spPr>
          <a:xfrm>
            <a:off x="9563458" y="5550337"/>
            <a:ext cx="7593153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systems use approximate nearest-neighbour indexes for speed. This introduces parameters that affect recall, memory and latency.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1047750" y="7278171"/>
            <a:ext cx="16192500" cy="992505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47750" y="7278171"/>
            <a:ext cx="53340" cy="992505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482090" y="7563921"/>
            <a:ext cx="16914876" cy="45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95"/>
              </a:lnSpc>
              <a:buNone/>
            </a:pPr>
            <a:r>
              <a:rPr lang="en-US" sz="23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vector database is </a:t>
            </a:r>
            <a:r>
              <a:rPr lang="en-US" sz="2325" b="1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source of truth</a:t>
            </a:r>
            <a:r>
              <a:rPr lang="en-US" sz="23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It is a search layer over representations of the source content.</a:t>
            </a:r>
            <a:endParaRPr lang="en-US" sz="2325" dirty="0"/>
          </a:p>
        </p:txBody>
      </p:sp>
      <p:sp>
        <p:nvSpPr>
          <p:cNvPr id="35" name="Shape 33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293880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Query and Vector Query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5620822"/>
            <a:ext cx="794385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7750" y="2365177"/>
            <a:ext cx="7943850" cy="45720"/>
          </a:xfrm>
          <a:prstGeom prst="rect">
            <a:avLst/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7750" y="2365177"/>
            <a:ext cx="9525" cy="326326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83980" y="2365177"/>
            <a:ext cx="9525" cy="326326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55420" y="2791897"/>
            <a:ext cx="7841361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structured query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455420" y="3397687"/>
            <a:ext cx="7841361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explicit values or conditions.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455420" y="3993952"/>
            <a:ext cx="784136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for exact IDs, dates, categories and ranges.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455420" y="4576882"/>
            <a:ext cx="7128510" cy="6629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84020" y="4748332"/>
            <a:ext cx="68851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 = "HR"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296400" y="5620822"/>
            <a:ext cx="794385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296400" y="2365177"/>
            <a:ext cx="7943850" cy="4572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96400" y="2365177"/>
            <a:ext cx="9525" cy="326326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7232630" y="2365177"/>
            <a:ext cx="9525" cy="326326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704070" y="2791897"/>
            <a:ext cx="7841361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similarity query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704070" y="3397687"/>
            <a:ext cx="7841361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nearby semantic representations.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9704070" y="3993952"/>
            <a:ext cx="784136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for related meaning and paraphrases.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704070" y="4576882"/>
            <a:ext cx="7128510" cy="6629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932670" y="4748332"/>
            <a:ext cx="68851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similar_to("HR leave policy question")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47750" y="6066592"/>
            <a:ext cx="16192500" cy="1436370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47750" y="6066592"/>
            <a:ext cx="53340" cy="143637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482090" y="6371392"/>
            <a:ext cx="15838475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95"/>
              </a:lnSpc>
              <a:buNone/>
            </a:pPr>
            <a:r>
              <a:rPr lang="en-US" sz="23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RAG systems combine both: metadata or keyword conditions narrow the valid records, and vector similarity ranks the most relevant passages inside that set.</a:t>
            </a:r>
            <a:endParaRPr lang="en-US" sz="2325" dirty="0"/>
          </a:p>
        </p:txBody>
      </p:sp>
      <p:sp>
        <p:nvSpPr>
          <p:cNvPr id="26" name="Shape 24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744039"/>
            <a:ext cx="2330851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8239"/>
              </a:lnSpc>
              <a:buNone/>
            </a:pPr>
            <a:r>
              <a:rPr lang="en-US" sz="15000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3776305" y="3877389"/>
            <a:ext cx="10896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390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776305" y="4445080"/>
            <a:ext cx="10896600" cy="889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040"/>
              </a:lnSpc>
              <a:buNone/>
            </a:pPr>
            <a:r>
              <a:rPr lang="en-US" sz="6450" b="1" kern="0" spc="-193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 the Question</a:t>
            </a:r>
            <a:endParaRPr lang="en-US" sz="6450" dirty="0"/>
          </a:p>
        </p:txBody>
      </p:sp>
      <p:sp>
        <p:nvSpPr>
          <p:cNvPr id="5" name="Text 3"/>
          <p:cNvSpPr/>
          <p:nvPr/>
        </p:nvSpPr>
        <p:spPr>
          <a:xfrm>
            <a:off x="3776305" y="5582721"/>
            <a:ext cx="1020318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70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online pipeline: from the user's words to a grounded, cited answer.</a:t>
            </a:r>
            <a:endParaRPr lang="en-US" sz="2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191293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Steps Per Question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2346127"/>
            <a:ext cx="3876675" cy="24765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7750" y="2346127"/>
            <a:ext cx="38100" cy="247650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2612827"/>
            <a:ext cx="359378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3024307"/>
            <a:ext cx="359378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71600" y="3466267"/>
            <a:ext cx="3365087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187"/>
              </a:lnSpc>
              <a:buNone/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Question, conversation state, language, identity and permissions.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5153025" y="2346127"/>
            <a:ext cx="3876675" cy="24765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153025" y="2346127"/>
            <a:ext cx="38100" cy="247650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76875" y="2612827"/>
            <a:ext cx="359378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76875" y="3024307"/>
            <a:ext cx="359378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the query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476875" y="3466267"/>
            <a:ext cx="3365087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187"/>
              </a:lnSpc>
              <a:buNone/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Normalise, rewrite, expand or decompose if needed.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258300" y="2346127"/>
            <a:ext cx="3876675" cy="24765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58300" y="2346127"/>
            <a:ext cx="38100" cy="247650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582150" y="2612827"/>
            <a:ext cx="359378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82150" y="3024307"/>
            <a:ext cx="359378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and search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582150" y="3466267"/>
            <a:ext cx="3365087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187"/>
              </a:lnSpc>
              <a:buNone/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Keyword, vector or hybrid retrieval over the index.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3363575" y="2346127"/>
            <a:ext cx="3876675" cy="24765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3363575" y="2346127"/>
            <a:ext cx="38100" cy="247650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687425" y="2612827"/>
            <a:ext cx="359378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687425" y="3024307"/>
            <a:ext cx="359378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3687425" y="3466267"/>
            <a:ext cx="3365087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187"/>
              </a:lnSpc>
              <a:buNone/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metadata conditions and access control.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750" y="5051227"/>
            <a:ext cx="3876675" cy="24765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47750" y="5051227"/>
            <a:ext cx="38100" cy="247650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71600" y="5317927"/>
            <a:ext cx="359378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5729407"/>
            <a:ext cx="359378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top-k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371600" y="6171367"/>
            <a:ext cx="3365087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187"/>
              </a:lnSpc>
              <a:buNone/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highest-ranked candidates and merge result lists.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5153025" y="5051227"/>
            <a:ext cx="3876675" cy="24765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153025" y="5051227"/>
            <a:ext cx="38100" cy="247650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76875" y="5317927"/>
            <a:ext cx="359378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76875" y="5729407"/>
            <a:ext cx="359378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5476875" y="6171367"/>
            <a:ext cx="3365087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187"/>
              </a:lnSpc>
              <a:buNone/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Reorder the small candidate set by real answer relevance.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9258300" y="5051227"/>
            <a:ext cx="3876675" cy="24765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258300" y="5051227"/>
            <a:ext cx="38100" cy="247650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582150" y="5317927"/>
            <a:ext cx="359378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582150" y="5729407"/>
            <a:ext cx="359378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 context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9582150" y="6171367"/>
            <a:ext cx="3365087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187"/>
              </a:lnSpc>
              <a:buNone/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the evidence, keep source labels, respect the budget.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3363575" y="5051227"/>
            <a:ext cx="3876675" cy="2476500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3363575" y="5051227"/>
            <a:ext cx="38100" cy="247650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3687425" y="5317927"/>
            <a:ext cx="359378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3687425" y="5729407"/>
            <a:ext cx="359378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2250" dirty="0"/>
          </a:p>
        </p:txBody>
      </p:sp>
      <p:sp>
        <p:nvSpPr>
          <p:cNvPr id="44" name="Text 42"/>
          <p:cNvSpPr/>
          <p:nvPr/>
        </p:nvSpPr>
        <p:spPr>
          <a:xfrm>
            <a:off x="13687425" y="6171367"/>
            <a:ext cx="3365087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187"/>
              </a:lnSpc>
              <a:buNone/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from the evidence, with citations.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191293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Processing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327077"/>
            <a:ext cx="15716250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699"/>
              </a:lnSpc>
              <a:buNone/>
            </a:pPr>
            <a:r>
              <a:rPr lang="en-US" sz="23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RAG searches with the original question. More advanced systems improve the query first.</a:t>
            </a:r>
            <a:endParaRPr lang="en-US" sz="2325" dirty="0"/>
          </a:p>
        </p:txBody>
      </p:sp>
      <p:sp>
        <p:nvSpPr>
          <p:cNvPr id="6" name="Shape 4"/>
          <p:cNvSpPr/>
          <p:nvPr/>
        </p:nvSpPr>
        <p:spPr>
          <a:xfrm>
            <a:off x="1047750" y="4233505"/>
            <a:ext cx="80010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47750" y="3326725"/>
            <a:ext cx="8801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Normalisation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47750" y="3707725"/>
            <a:ext cx="88011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spacing, spelling and known abbreviations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1047750" y="5338405"/>
            <a:ext cx="80010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7750" y="4431625"/>
            <a:ext cx="8801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Conversation-aware rewriting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47750" y="4812625"/>
            <a:ext cx="88011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 follow-up into a complete standalone query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047750" y="6443305"/>
            <a:ext cx="80010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750" y="5536525"/>
            <a:ext cx="8801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expansion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47750" y="5917525"/>
            <a:ext cx="88011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related terms or recognised synonyms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047750" y="7548205"/>
            <a:ext cx="80010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47750" y="6641425"/>
            <a:ext cx="8801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Decomposition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047750" y="7022425"/>
            <a:ext cx="88011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a complex question into focused subquestions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047750" y="7746325"/>
            <a:ext cx="8801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47750" y="8127325"/>
            <a:ext cx="88011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 collection in another language when allowed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9620250" y="3136225"/>
            <a:ext cx="7620000" cy="3135630"/>
          </a:xfrm>
          <a:prstGeom prst="rect">
            <a:avLst/>
          </a:prstGeom>
          <a:ln w="7620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951720" y="3429595"/>
            <a:ext cx="765276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REWRITING A FOLLOW-UP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9951720" y="3852505"/>
            <a:ext cx="765276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says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951720" y="4225885"/>
            <a:ext cx="765276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about contractors?</a:t>
            </a:r>
            <a:endParaRPr lang="en-US" sz="2175" dirty="0"/>
          </a:p>
        </p:txBody>
      </p:sp>
      <p:sp>
        <p:nvSpPr>
          <p:cNvPr id="24" name="Text 22"/>
          <p:cNvSpPr/>
          <p:nvPr/>
        </p:nvSpPr>
        <p:spPr>
          <a:xfrm>
            <a:off x="9951720" y="4755475"/>
            <a:ext cx="76527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951720" y="5246965"/>
            <a:ext cx="765276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searches for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51720" y="5620345"/>
            <a:ext cx="765276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travel expense policy apply to contractors?</a:t>
            </a:r>
            <a:endParaRPr lang="en-US" sz="2175" dirty="0"/>
          </a:p>
        </p:txBody>
      </p:sp>
      <p:sp>
        <p:nvSpPr>
          <p:cNvPr id="27" name="Shape 25"/>
          <p:cNvSpPr/>
          <p:nvPr/>
        </p:nvSpPr>
        <p:spPr>
          <a:xfrm>
            <a:off x="9620250" y="6519506"/>
            <a:ext cx="7620000" cy="1693545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620250" y="6519506"/>
            <a:ext cx="53340" cy="1693545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997440" y="6786206"/>
            <a:ext cx="7126529" cy="1198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875"/>
              </a:lnSpc>
              <a:buNone/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transformation adds complexity and can change the user's meaning. The original question stays the reference point.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191293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Search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7611547"/>
            <a:ext cx="794385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7750" y="2365177"/>
            <a:ext cx="7943850" cy="45720"/>
          </a:xfrm>
          <a:prstGeom prst="rect">
            <a:avLst/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7750" y="2365177"/>
            <a:ext cx="9525" cy="525399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83980" y="2365177"/>
            <a:ext cx="9525" cy="525399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55420" y="2791897"/>
            <a:ext cx="784136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search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455420" y="3439597"/>
            <a:ext cx="7841361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words, phrases and term statistics.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1455420" y="4054912"/>
            <a:ext cx="712851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55420" y="4272082"/>
            <a:ext cx="784136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FOR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55420" y="4664512"/>
            <a:ext cx="7342366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product and policy names · error codes · IDs and reference numbers · rare technical terms · precise phrases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455420" y="5563671"/>
            <a:ext cx="712851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55420" y="5780842"/>
            <a:ext cx="784136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WHEN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55420" y="6173271"/>
            <a:ext cx="7342366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paraphrases the source with different vocabulary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96400" y="7611547"/>
            <a:ext cx="794385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296400" y="2365177"/>
            <a:ext cx="7943850" cy="4572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296400" y="2365177"/>
            <a:ext cx="9525" cy="525399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7232630" y="2365177"/>
            <a:ext cx="9525" cy="525399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04070" y="2791897"/>
            <a:ext cx="784136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search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9704070" y="3439597"/>
            <a:ext cx="7342366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semantically related passages through embedding similarity.</a:t>
            </a:r>
            <a:endParaRPr lang="en-US" sz="2175" dirty="0"/>
          </a:p>
        </p:txBody>
      </p:sp>
      <p:sp>
        <p:nvSpPr>
          <p:cNvPr id="23" name="Shape 21"/>
          <p:cNvSpPr/>
          <p:nvPr/>
        </p:nvSpPr>
        <p:spPr>
          <a:xfrm>
            <a:off x="9704070" y="4441627"/>
            <a:ext cx="712851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704070" y="4658797"/>
            <a:ext cx="784136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FOR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704070" y="5051227"/>
            <a:ext cx="7342366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idea in different words · natural-language questions · users who do not know the source terminology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9704070" y="5950387"/>
            <a:ext cx="712851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704070" y="6167557"/>
            <a:ext cx="784136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WHEN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704070" y="6559987"/>
            <a:ext cx="7342366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identifiers, spelling differences in codes, or rare names decide the answer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191293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2807137"/>
            <a:ext cx="3238500" cy="15240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47750" y="2365177"/>
            <a:ext cx="306895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TYPE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86250" y="2807137"/>
            <a:ext cx="6477000" cy="15240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52950" y="2365177"/>
            <a:ext cx="613791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STRENGTH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763250" y="2807137"/>
            <a:ext cx="6477000" cy="15240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029950" y="2365177"/>
            <a:ext cx="640461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WEAKNESS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47750" y="3679627"/>
            <a:ext cx="32385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47750" y="3070027"/>
            <a:ext cx="306895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4286250" y="3679627"/>
            <a:ext cx="64770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52950" y="3070027"/>
            <a:ext cx="613791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words, names, codes and phrases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10763250" y="3679627"/>
            <a:ext cx="64770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029950" y="3070027"/>
            <a:ext cx="640461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Misses paraphrases and related wording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1047750" y="4540687"/>
            <a:ext cx="32385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47750" y="3934897"/>
            <a:ext cx="306895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2175" dirty="0"/>
          </a:p>
        </p:txBody>
      </p:sp>
      <p:sp>
        <p:nvSpPr>
          <p:cNvPr id="19" name="Shape 17"/>
          <p:cNvSpPr/>
          <p:nvPr/>
        </p:nvSpPr>
        <p:spPr>
          <a:xfrm>
            <a:off x="4286250" y="4540687"/>
            <a:ext cx="64770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52950" y="3934897"/>
            <a:ext cx="613791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Meaning, concepts and paraphrases</a:t>
            </a:r>
            <a:endParaRPr lang="en-US" sz="2175" dirty="0"/>
          </a:p>
        </p:txBody>
      </p:sp>
      <p:sp>
        <p:nvSpPr>
          <p:cNvPr id="21" name="Shape 19"/>
          <p:cNvSpPr/>
          <p:nvPr/>
        </p:nvSpPr>
        <p:spPr>
          <a:xfrm>
            <a:off x="10763250" y="4540687"/>
            <a:ext cx="64770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029950" y="3934897"/>
            <a:ext cx="640461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return related but non-answering text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1047750" y="4795957"/>
            <a:ext cx="306895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</a:t>
            </a:r>
            <a:endParaRPr lang="en-US" sz="2175" dirty="0"/>
          </a:p>
        </p:txBody>
      </p:sp>
      <p:sp>
        <p:nvSpPr>
          <p:cNvPr id="24" name="Text 22"/>
          <p:cNvSpPr/>
          <p:nvPr/>
        </p:nvSpPr>
        <p:spPr>
          <a:xfrm>
            <a:off x="4552950" y="4795957"/>
            <a:ext cx="613791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exact and semantic signals</a:t>
            </a:r>
            <a:endParaRPr lang="en-US" sz="2175" dirty="0"/>
          </a:p>
        </p:txBody>
      </p:sp>
      <p:sp>
        <p:nvSpPr>
          <p:cNvPr id="25" name="Text 23"/>
          <p:cNvSpPr/>
          <p:nvPr/>
        </p:nvSpPr>
        <p:spPr>
          <a:xfrm>
            <a:off x="11029950" y="4795957"/>
            <a:ext cx="640461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tuning and result-fusion complexity</a:t>
            </a:r>
            <a:endParaRPr lang="en-US" sz="2175" dirty="0"/>
          </a:p>
        </p:txBody>
      </p:sp>
      <p:sp>
        <p:nvSpPr>
          <p:cNvPr id="26" name="Shape 24"/>
          <p:cNvSpPr/>
          <p:nvPr/>
        </p:nvSpPr>
        <p:spPr>
          <a:xfrm>
            <a:off x="1047750" y="5824657"/>
            <a:ext cx="7943850" cy="1731645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47750" y="5824657"/>
            <a:ext cx="53340" cy="1731645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443990" y="6110407"/>
            <a:ext cx="7420852" cy="1198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 is often a strong default candidate — it can capture exact terms and semantic meaning in one request.</a:t>
            </a:r>
            <a:endParaRPr lang="en-US" sz="2175" dirty="0"/>
          </a:p>
        </p:txBody>
      </p:sp>
      <p:sp>
        <p:nvSpPr>
          <p:cNvPr id="29" name="Shape 27"/>
          <p:cNvSpPr/>
          <p:nvPr/>
        </p:nvSpPr>
        <p:spPr>
          <a:xfrm>
            <a:off x="9296400" y="5824657"/>
            <a:ext cx="7943850" cy="173164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296400" y="5824657"/>
            <a:ext cx="53340" cy="1731645"/>
          </a:xfrm>
          <a:prstGeom prst="rect">
            <a:avLst/>
          </a:prstGeom>
          <a:solidFill>
            <a:srgbClr val="8A90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692640" y="6110407"/>
            <a:ext cx="7420852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must still be tested. A simple corpus or an exact-lookup problem may not need it at all.</a:t>
            </a:r>
            <a:endParaRPr lang="en-US" sz="2175" dirty="0"/>
          </a:p>
        </p:txBody>
      </p:sp>
      <p:sp>
        <p:nvSpPr>
          <p:cNvPr id="32" name="Shape 30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191293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Filtering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346127"/>
            <a:ext cx="15716250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699"/>
              </a:lnSpc>
              <a:buNone/>
            </a:pPr>
            <a:r>
              <a:rPr lang="en-US" sz="23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restrict retrieval to content that satisfies known conditions, before or during ranking.</a:t>
            </a:r>
            <a:endParaRPr lang="en-US" sz="2325" dirty="0"/>
          </a:p>
        </p:txBody>
      </p:sp>
      <p:sp>
        <p:nvSpPr>
          <p:cNvPr id="6" name="Shape 4"/>
          <p:cNvSpPr/>
          <p:nvPr/>
        </p:nvSpPr>
        <p:spPr>
          <a:xfrm>
            <a:off x="1047750" y="3174325"/>
            <a:ext cx="3086100" cy="21907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95400" y="3441025"/>
            <a:ext cx="28498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295400" y="3818215"/>
            <a:ext cx="2849880" cy="385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827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active policies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4324350" y="3174325"/>
            <a:ext cx="3086100" cy="21907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3441025"/>
            <a:ext cx="28498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4572000" y="3818215"/>
            <a:ext cx="2668524" cy="732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827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Arabic documents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7600950" y="3174325"/>
            <a:ext cx="3086100" cy="2190750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48600" y="3441025"/>
            <a:ext cx="28498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2F7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7848600" y="3818215"/>
            <a:ext cx="2668524" cy="732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827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what this user may read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0877550" y="3174325"/>
            <a:ext cx="3086100" cy="21907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125200" y="3441025"/>
            <a:ext cx="28498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11125200" y="3818215"/>
            <a:ext cx="2668524" cy="1079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827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product, department or country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4154150" y="3174325"/>
            <a:ext cx="3086100" cy="21907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4401800" y="3441025"/>
            <a:ext cx="28498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14401800" y="3818215"/>
            <a:ext cx="2668524" cy="732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827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most recent approved version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1047750" y="5803225"/>
            <a:ext cx="7943850" cy="1737360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47750" y="5803225"/>
            <a:ext cx="53340" cy="173736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463040" y="6108025"/>
            <a:ext cx="788327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6462356"/>
            <a:ext cx="7381609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improves relevance and is the mechanism that enforces access control.</a:t>
            </a:r>
            <a:endParaRPr lang="en-US" sz="2175" dirty="0"/>
          </a:p>
        </p:txBody>
      </p:sp>
      <p:sp>
        <p:nvSpPr>
          <p:cNvPr id="25" name="Shape 23"/>
          <p:cNvSpPr/>
          <p:nvPr/>
        </p:nvSpPr>
        <p:spPr>
          <a:xfrm>
            <a:off x="9296400" y="5803225"/>
            <a:ext cx="7943850" cy="1737360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296400" y="5803225"/>
            <a:ext cx="53340" cy="173736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711690" y="6108025"/>
            <a:ext cx="788327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711690" y="6462356"/>
            <a:ext cx="7381609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incorrect filter hides the correct answer silently. Filters must be visible in debugging and evaluation.</a:t>
            </a:r>
            <a:endParaRPr lang="en-US" sz="2175" dirty="0"/>
          </a:p>
        </p:txBody>
      </p:sp>
      <p:sp>
        <p:nvSpPr>
          <p:cNvPr id="29" name="Shape 27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191293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327077"/>
            <a:ext cx="15716250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699"/>
              </a:lnSpc>
              <a:buNone/>
            </a:pPr>
            <a:r>
              <a:rPr lang="en-US" sz="2325" dirty="0">
                <a:solidFill>
                  <a:srgbClr val="4A4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top-k </a:t>
            </a:r>
            <a:r>
              <a:rPr lang="en-US" sz="23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number of highest-ranked candidates that retrieval returns.</a:t>
            </a:r>
            <a:endParaRPr lang="en-US" sz="2325" dirty="0"/>
          </a:p>
        </p:txBody>
      </p:sp>
      <p:sp>
        <p:nvSpPr>
          <p:cNvPr id="6" name="Shape 4"/>
          <p:cNvSpPr/>
          <p:nvPr/>
        </p:nvSpPr>
        <p:spPr>
          <a:xfrm>
            <a:off x="1047750" y="6100405"/>
            <a:ext cx="794385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7750" y="3174325"/>
            <a:ext cx="7943850" cy="45720"/>
          </a:xfrm>
          <a:prstGeom prst="rect">
            <a:avLst/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47750" y="3174325"/>
            <a:ext cx="9525" cy="293370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83980" y="3174325"/>
            <a:ext cx="9525" cy="293370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36370" y="3581995"/>
            <a:ext cx="116383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3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2714506" y="3772495"/>
            <a:ext cx="701993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436370" y="4363045"/>
            <a:ext cx="495300" cy="209550"/>
          </a:xfrm>
          <a:prstGeom prst="rect">
            <a:avLst/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07870" y="4363045"/>
            <a:ext cx="495300" cy="209550"/>
          </a:xfrm>
          <a:prstGeom prst="rect">
            <a:avLst/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79370" y="4363045"/>
            <a:ext cx="495300" cy="209550"/>
          </a:xfrm>
          <a:prstGeom prst="rect">
            <a:avLst/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36370" y="4782145"/>
            <a:ext cx="788327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tokens, lower latency, less noise.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436370" y="5365075"/>
            <a:ext cx="788327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necessary evidence is missing.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296400" y="6100405"/>
            <a:ext cx="794385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296400" y="3174325"/>
            <a:ext cx="7943850" cy="4572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296400" y="3174325"/>
            <a:ext cx="9525" cy="293370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7232630" y="3174325"/>
            <a:ext cx="9525" cy="293370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85020" y="3581995"/>
            <a:ext cx="149946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20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11238666" y="3772495"/>
            <a:ext cx="647462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9685020" y="4363045"/>
            <a:ext cx="285750" cy="20955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027920" y="4363045"/>
            <a:ext cx="285750" cy="20955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370820" y="4363045"/>
            <a:ext cx="285750" cy="20955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713720" y="4363045"/>
            <a:ext cx="285750" cy="20955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1056620" y="4363045"/>
            <a:ext cx="285750" cy="20955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1399520" y="4363045"/>
            <a:ext cx="285750" cy="20955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1742420" y="4363045"/>
            <a:ext cx="285750" cy="20955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2085320" y="4363045"/>
            <a:ext cx="285750" cy="20955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2428220" y="4363045"/>
            <a:ext cx="285750" cy="20955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2771120" y="4363045"/>
            <a:ext cx="285750" cy="20955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3114020" y="4363045"/>
            <a:ext cx="285750" cy="209550"/>
          </a:xfrm>
          <a:prstGeom prst="rect">
            <a:avLst/>
          </a:prstGeom>
          <a:solidFill>
            <a:srgbClr val="C9C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3456920" y="4363045"/>
            <a:ext cx="285750" cy="209550"/>
          </a:xfrm>
          <a:prstGeom prst="rect">
            <a:avLst/>
          </a:prstGeom>
          <a:solidFill>
            <a:srgbClr val="C9C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3799820" y="4363045"/>
            <a:ext cx="285750" cy="209550"/>
          </a:xfrm>
          <a:prstGeom prst="rect">
            <a:avLst/>
          </a:prstGeom>
          <a:solidFill>
            <a:srgbClr val="C9C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4142720" y="4363045"/>
            <a:ext cx="285750" cy="209550"/>
          </a:xfrm>
          <a:prstGeom prst="rect">
            <a:avLst/>
          </a:prstGeom>
          <a:solidFill>
            <a:srgbClr val="C9C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4485620" y="4363045"/>
            <a:ext cx="285750" cy="209550"/>
          </a:xfrm>
          <a:prstGeom prst="rect">
            <a:avLst/>
          </a:prstGeom>
          <a:solidFill>
            <a:srgbClr val="C9C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4828520" y="4363045"/>
            <a:ext cx="285750" cy="209550"/>
          </a:xfrm>
          <a:prstGeom prst="rect">
            <a:avLst/>
          </a:prstGeom>
          <a:solidFill>
            <a:srgbClr val="C9C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5171420" y="4363045"/>
            <a:ext cx="285750" cy="209550"/>
          </a:xfrm>
          <a:prstGeom prst="rect">
            <a:avLst/>
          </a:prstGeom>
          <a:solidFill>
            <a:srgbClr val="C9C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5514320" y="4363045"/>
            <a:ext cx="285750" cy="209550"/>
          </a:xfrm>
          <a:prstGeom prst="rect">
            <a:avLst/>
          </a:prstGeom>
          <a:solidFill>
            <a:srgbClr val="C9C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5857220" y="4363045"/>
            <a:ext cx="285750" cy="209550"/>
          </a:xfrm>
          <a:prstGeom prst="rect">
            <a:avLst/>
          </a:prstGeom>
          <a:solidFill>
            <a:srgbClr val="C9C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6200120" y="4363045"/>
            <a:ext cx="285750" cy="209550"/>
          </a:xfrm>
          <a:prstGeom prst="rect">
            <a:avLst/>
          </a:prstGeom>
          <a:solidFill>
            <a:srgbClr val="C9C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685020" y="4782145"/>
            <a:ext cx="788327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Wider coverage of possible evidence.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9685020" y="5365075"/>
            <a:ext cx="788327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noise, repetition, cost, a distracted model.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1047750" y="6527125"/>
            <a:ext cx="7943850" cy="1280160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047750" y="6527125"/>
            <a:ext cx="53340" cy="128016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443990" y="6793825"/>
            <a:ext cx="7420852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universal best value. Select it through evaluation.</a:t>
            </a:r>
            <a:endParaRPr lang="en-US" sz="2100" dirty="0"/>
          </a:p>
        </p:txBody>
      </p:sp>
      <p:sp>
        <p:nvSpPr>
          <p:cNvPr id="48" name="Shape 46"/>
          <p:cNvSpPr/>
          <p:nvPr/>
        </p:nvSpPr>
        <p:spPr>
          <a:xfrm>
            <a:off x="9296400" y="6527125"/>
            <a:ext cx="7943850" cy="12801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296400" y="6527125"/>
            <a:ext cx="53340" cy="1280160"/>
          </a:xfrm>
          <a:prstGeom prst="rect">
            <a:avLst/>
          </a:prstGeom>
          <a:solidFill>
            <a:srgbClr val="8A90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692640" y="6793825"/>
            <a:ext cx="7420852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2100" dirty="0">
                <a:solidFill>
                  <a:srgbClr val="4A4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</a:t>
            </a: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top-k is not the constant inside Reciprocal Rank Fusion. They solve different problems.</a:t>
            </a:r>
            <a:endParaRPr lang="en-US" sz="2100" dirty="0"/>
          </a:p>
        </p:txBody>
      </p:sp>
      <p:sp>
        <p:nvSpPr>
          <p:cNvPr id="51" name="Shape 49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191293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Merging and Reranking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2308027"/>
            <a:ext cx="3651885" cy="1192530"/>
          </a:xfrm>
          <a:prstGeom prst="rect">
            <a:avLst/>
          </a:prstGeom>
          <a:solidFill>
            <a:srgbClr val="F5F7FA"/>
          </a:solidFill>
          <a:ln w="7620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83970" y="2563297"/>
            <a:ext cx="34973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candidates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283970" y="2940487"/>
            <a:ext cx="34973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broadly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832985" y="2308027"/>
            <a:ext cx="342900" cy="1230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233035" y="2308027"/>
            <a:ext cx="3651885" cy="1192530"/>
          </a:xfrm>
          <a:prstGeom prst="rect">
            <a:avLst/>
          </a:prstGeom>
          <a:solidFill>
            <a:srgbClr val="F5F7FA"/>
          </a:solidFill>
          <a:ln w="7620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69255" y="2563297"/>
            <a:ext cx="34973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deduplicated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5469255" y="2940487"/>
            <a:ext cx="34973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result lists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018270" y="2308027"/>
            <a:ext cx="342900" cy="1230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418320" y="2308027"/>
            <a:ext cx="3651885" cy="1192530"/>
          </a:xfrm>
          <a:prstGeom prst="rect">
            <a:avLst/>
          </a:prstGeom>
          <a:solidFill>
            <a:srgbClr val="FDF4EC"/>
          </a:solidFill>
          <a:ln w="7620">
            <a:solidFill>
              <a:srgbClr val="F5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54540" y="2563297"/>
            <a:ext cx="34973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query-aware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9654540" y="2940487"/>
            <a:ext cx="34973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203556" y="2308027"/>
            <a:ext cx="342900" cy="1230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3603606" y="2308027"/>
            <a:ext cx="3636645" cy="119253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832206" y="2555677"/>
            <a:ext cx="34973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CE7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passages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13832206" y="2932867"/>
            <a:ext cx="34973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to the model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47750" y="3919657"/>
            <a:ext cx="7943850" cy="1525905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17320" y="4251127"/>
            <a:ext cx="79251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emphasises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17320" y="4727377"/>
            <a:ext cx="7925181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and speed across the whole index.</a:t>
            </a:r>
            <a:endParaRPr lang="en-US" sz="2175" dirty="0"/>
          </a:p>
        </p:txBody>
      </p:sp>
      <p:sp>
        <p:nvSpPr>
          <p:cNvPr id="23" name="Shape 21"/>
          <p:cNvSpPr/>
          <p:nvPr/>
        </p:nvSpPr>
        <p:spPr>
          <a:xfrm>
            <a:off x="9296400" y="3919657"/>
            <a:ext cx="7943850" cy="1525905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65970" y="4251127"/>
            <a:ext cx="79251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Reranking emphasises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665970" y="4727377"/>
            <a:ext cx="7925181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among the candidates already retrieved.</a:t>
            </a:r>
            <a:endParaRPr lang="en-US" sz="2175" dirty="0"/>
          </a:p>
        </p:txBody>
      </p:sp>
      <p:sp>
        <p:nvSpPr>
          <p:cNvPr id="26" name="Shape 24"/>
          <p:cNvSpPr/>
          <p:nvPr/>
        </p:nvSpPr>
        <p:spPr>
          <a:xfrm>
            <a:off x="1047750" y="5826562"/>
            <a:ext cx="8497967" cy="20269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90650" y="6093262"/>
            <a:ext cx="8046532" cy="1531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similarity score can show that a passage is about the same topic without proving it contains the answer. A reranker compares more carefully — with a semantic ranker, a cross-encoder or a model.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850517" y="5826562"/>
            <a:ext cx="7389614" cy="20269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193417" y="6093262"/>
            <a:ext cx="6904928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Reciprocal Rank Fusion merges independently ranked lists using result </a:t>
            </a:r>
            <a:r>
              <a:rPr lang="en-US" sz="2100" b="1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</a:t>
            </a: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raw scores from different algorithms.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191293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Assembly and Grounded Generation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346127"/>
            <a:ext cx="861250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Assembling the context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047750" y="2940487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68135" y="2940487"/>
            <a:ext cx="376430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only useful evidence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47750" y="3443407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68135" y="3443407"/>
            <a:ext cx="598985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source labels and citation identifiers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7750" y="3946327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68135" y="3946327"/>
            <a:ext cx="545118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related passages in a sensible order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47750" y="4449247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68135" y="4449247"/>
            <a:ext cx="373758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inside the token budget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47750" y="4952167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68135" y="4952167"/>
            <a:ext cx="400751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unnecessary duplication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47750" y="5455087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68135" y="5455087"/>
            <a:ext cx="781254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source content from instructions and the question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047750" y="6091357"/>
            <a:ext cx="7829550" cy="121539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52550" y="6339007"/>
            <a:ext cx="7436549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passages can be trimmed, but trimming must never remove a condition or an exception that changes the meaning.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9410700" y="2346127"/>
            <a:ext cx="861250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Instructing the model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9410700" y="2940487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631085" y="2940487"/>
            <a:ext cx="7155609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factual claims only from the supplied evidence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410700" y="3443407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631085" y="3443407"/>
            <a:ext cx="346451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 the supporting source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410700" y="3946327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631085" y="3946327"/>
            <a:ext cx="377753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invent missing details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410700" y="4449247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631085" y="4449247"/>
            <a:ext cx="504923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when the evidence is insufficient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410700" y="4952167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9631085" y="4952167"/>
            <a:ext cx="819235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conflicting sources instead of silently choosing one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410700" y="5455087"/>
            <a:ext cx="16323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9631085" y="5455087"/>
            <a:ext cx="6130909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requested language and output format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9410700" y="6091357"/>
            <a:ext cx="7829550" cy="1215390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410700" y="6091357"/>
            <a:ext cx="53340" cy="121539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768840" y="6339007"/>
            <a:ext cx="7381609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citation alignment: the cited passage must actually support the claim attached to it.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7249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600" y="762000"/>
            <a:ext cx="191293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73480"/>
            <a:ext cx="1810512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186"/>
              </a:lnSpc>
              <a:buNone/>
            </a:pPr>
            <a:r>
              <a:rPr lang="en-US" sz="4500" b="1" kern="0" spc="-90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An HR Policy Assistant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2152650"/>
            <a:ext cx="88011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207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· ONCE, AND ON EVERY UPDATE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914400" y="3181350"/>
            <a:ext cx="80010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766060"/>
            <a:ext cx="20193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30630" y="2727960"/>
            <a:ext cx="832293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the approved leave, travel, benefits and remote-work policies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14400" y="3775710"/>
            <a:ext cx="80010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360420"/>
            <a:ext cx="20193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30630" y="3322320"/>
            <a:ext cx="821121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headers and footers; keep titles, sections, pages and dates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4370070"/>
            <a:ext cx="80010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954780"/>
            <a:ext cx="20193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30630" y="3916680"/>
            <a:ext cx="735363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so that rules, conditions and exceptions stay together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14400" y="4964430"/>
            <a:ext cx="80010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549140"/>
            <a:ext cx="20193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230630" y="4511040"/>
            <a:ext cx="801175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policy name, section, date, owner, version and access level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400" y="5558790"/>
            <a:ext cx="80010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5143500"/>
            <a:ext cx="20193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230630" y="5105400"/>
            <a:ext cx="455810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embedding for every chunk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14400" y="5737860"/>
            <a:ext cx="20193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230630" y="5699760"/>
            <a:ext cx="819864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chunks, vectors, metadata and source references in the index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372600" y="2152650"/>
            <a:ext cx="88011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207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· ONE QUESTION</a:t>
            </a:r>
            <a:endParaRPr lang="en-US" sz="1725" dirty="0"/>
          </a:p>
        </p:txBody>
      </p:sp>
      <p:sp>
        <p:nvSpPr>
          <p:cNvPr id="24" name="Shape 22"/>
          <p:cNvSpPr/>
          <p:nvPr/>
        </p:nvSpPr>
        <p:spPr>
          <a:xfrm>
            <a:off x="9372600" y="2594610"/>
            <a:ext cx="8001000" cy="6858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20250" y="2785110"/>
            <a:ext cx="77457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days do I have to submit a travel expense?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372600" y="4057650"/>
            <a:ext cx="80010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372600" y="3642360"/>
            <a:ext cx="20193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688830" y="3604260"/>
            <a:ext cx="286834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user's access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372600" y="4652010"/>
            <a:ext cx="80010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372600" y="4236720"/>
            <a:ext cx="20193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688830" y="4198620"/>
            <a:ext cx="580767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for travel expense submission deadlines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372600" y="5246370"/>
            <a:ext cx="80010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372600" y="4831080"/>
            <a:ext cx="20193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9688830" y="4792980"/>
            <a:ext cx="408845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out archived policy versions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372600" y="6160770"/>
            <a:ext cx="80010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372600" y="5425440"/>
            <a:ext cx="20193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688830" y="5387340"/>
            <a:ext cx="7915313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finds the exact term; vector finds the reimbursement wording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9372600" y="6755130"/>
            <a:ext cx="80010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372600" y="6339840"/>
            <a:ext cx="20193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9688830" y="6301740"/>
            <a:ext cx="618120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 the candidates and keep the best passages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9372600" y="6934200"/>
            <a:ext cx="20193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9688830" y="6896100"/>
            <a:ext cx="657476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with the deadline, its conditions and a citation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914400" y="7673340"/>
            <a:ext cx="16459200" cy="1242060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14400" y="7673340"/>
            <a:ext cx="53340" cy="124206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310640" y="8042910"/>
            <a:ext cx="2552700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207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 DEADLINE EXISTS</a:t>
            </a:r>
            <a:endParaRPr lang="en-US" sz="1725" dirty="0"/>
          </a:p>
        </p:txBody>
      </p:sp>
      <p:sp>
        <p:nvSpPr>
          <p:cNvPr id="46" name="Text 44"/>
          <p:cNvSpPr/>
          <p:nvPr/>
        </p:nvSpPr>
        <p:spPr>
          <a:xfrm>
            <a:off x="4110990" y="7920990"/>
            <a:ext cx="13307302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correct behaviour is not to guess. Explain that the approved sources do not contain the information and point to the responsible department.</a:t>
            </a:r>
            <a:endParaRPr lang="en-US" sz="2100" dirty="0"/>
          </a:p>
        </p:txBody>
      </p:sp>
      <p:sp>
        <p:nvSpPr>
          <p:cNvPr id="47" name="Shape 45"/>
          <p:cNvSpPr/>
          <p:nvPr/>
        </p:nvSpPr>
        <p:spPr>
          <a:xfrm>
            <a:off x="914400" y="9124950"/>
            <a:ext cx="164592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14400" y="93802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7119283" y="93992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318153"/>
            <a:ext cx="2330851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8239"/>
              </a:lnSpc>
              <a:buNone/>
            </a:pPr>
            <a:r>
              <a:rPr lang="en-US" sz="15000" b="1" dirty="0">
                <a:solidFill>
                  <a:srgbClr val="61C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3776305" y="3451503"/>
            <a:ext cx="123634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390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776305" y="4019193"/>
            <a:ext cx="11576685" cy="1741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040"/>
              </a:lnSpc>
              <a:buNone/>
            </a:pPr>
            <a:r>
              <a:rPr lang="en-US" sz="6450" b="1" kern="0" spc="-193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and the Architecture Choice</a:t>
            </a:r>
            <a:endParaRPr lang="en-US" sz="6450" dirty="0"/>
          </a:p>
        </p:txBody>
      </p:sp>
      <p:sp>
        <p:nvSpPr>
          <p:cNvPr id="5" name="Text 3"/>
          <p:cNvSpPr/>
          <p:nvPr/>
        </p:nvSpPr>
        <p:spPr>
          <a:xfrm>
            <a:off x="3776305" y="6008727"/>
            <a:ext cx="1020318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70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helps a system know. An agent helps a system decide and act.</a:t>
            </a:r>
            <a:endParaRPr lang="en-US" sz="2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123563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AI Agent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308027"/>
            <a:ext cx="14912340" cy="894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699"/>
              </a:lnSpc>
              <a:buNone/>
            </a:pPr>
            <a:r>
              <a:rPr lang="en-US" sz="23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 in which the model directs parts of its own process and tool use to achieve a goal. Instead of one fixed request-response path, it selects the next step from the current state.</a:t>
            </a:r>
            <a:endParaRPr lang="en-US" sz="2325" dirty="0"/>
          </a:p>
        </p:txBody>
      </p:sp>
      <p:sp>
        <p:nvSpPr>
          <p:cNvPr id="6" name="Shape 4"/>
          <p:cNvSpPr/>
          <p:nvPr/>
        </p:nvSpPr>
        <p:spPr>
          <a:xfrm>
            <a:off x="1047750" y="3545324"/>
            <a:ext cx="2313384" cy="716280"/>
          </a:xfrm>
          <a:prstGeom prst="rect">
            <a:avLst/>
          </a:prstGeom>
          <a:solidFill>
            <a:srgbClr val="F0F7F4"/>
          </a:solidFill>
          <a:ln w="7620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50620" y="3762494"/>
            <a:ext cx="210764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goal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475434" y="3743444"/>
            <a:ext cx="3238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3837384" y="3545324"/>
            <a:ext cx="2313503" cy="716280"/>
          </a:xfrm>
          <a:prstGeom prst="rect">
            <a:avLst/>
          </a:prstGeom>
          <a:solidFill>
            <a:srgbClr val="F0F7F4"/>
          </a:solidFill>
          <a:ln w="7620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40254" y="3762494"/>
            <a:ext cx="210776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next step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265188" y="3743444"/>
            <a:ext cx="3238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6627138" y="3545324"/>
            <a:ext cx="2313384" cy="716280"/>
          </a:xfrm>
          <a:prstGeom prst="rect">
            <a:avLst/>
          </a:prstGeom>
          <a:solidFill>
            <a:srgbClr val="F0F7F4"/>
          </a:solidFill>
          <a:ln w="7620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30008" y="3762494"/>
            <a:ext cx="210764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tool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054822" y="3743444"/>
            <a:ext cx="3238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416772" y="3545324"/>
            <a:ext cx="2313384" cy="716280"/>
          </a:xfrm>
          <a:prstGeom prst="rect">
            <a:avLst/>
          </a:prstGeom>
          <a:solidFill>
            <a:srgbClr val="F0F7F4"/>
          </a:solidFill>
          <a:ln w="7620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519642" y="3762494"/>
            <a:ext cx="210764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result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844457" y="3743444"/>
            <a:ext cx="3238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2206407" y="3545324"/>
            <a:ext cx="2313384" cy="716280"/>
          </a:xfrm>
          <a:prstGeom prst="rect">
            <a:avLst/>
          </a:prstGeom>
          <a:solidFill>
            <a:srgbClr val="F0F7F4"/>
          </a:solidFill>
          <a:ln w="7620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309277" y="3762494"/>
            <a:ext cx="210764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4634092" y="3739634"/>
            <a:ext cx="26991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4942105" y="3552944"/>
            <a:ext cx="2298144" cy="701040"/>
          </a:xfrm>
          <a:prstGeom prst="rect">
            <a:avLst/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037355" y="3762494"/>
            <a:ext cx="210764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or stop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47750" y="4661654"/>
            <a:ext cx="2555796" cy="1492567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64920" y="4897874"/>
            <a:ext cx="233360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65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264920" y="5236964"/>
            <a:ext cx="2197656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187"/>
              </a:lnSpc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the user wants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3774996" y="4661654"/>
            <a:ext cx="2555915" cy="1492567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992166" y="4897874"/>
            <a:ext cx="233373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65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3992166" y="5236964"/>
            <a:ext cx="2197775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187"/>
              </a:lnSpc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Interprets and selects actions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6502361" y="4661654"/>
            <a:ext cx="2555796" cy="1492567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19531" y="4897874"/>
            <a:ext cx="233360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65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6719531" y="5236964"/>
            <a:ext cx="2197656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187"/>
              </a:lnSpc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functions and APIs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9229606" y="4661654"/>
            <a:ext cx="2555915" cy="1492567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446776" y="4897874"/>
            <a:ext cx="233373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65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9446776" y="5236964"/>
            <a:ext cx="2197775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187"/>
              </a:lnSpc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retained during the task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11956971" y="4661654"/>
            <a:ext cx="2555915" cy="1492567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2174141" y="4897874"/>
            <a:ext cx="233373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65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2174141" y="5236964"/>
            <a:ext cx="2197775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187"/>
              </a:lnSpc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returned by tools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14684335" y="4661654"/>
            <a:ext cx="2555796" cy="1492567"/>
          </a:xfrm>
          <a:prstGeom prst="rect">
            <a:avLst/>
          </a:prstGeom>
          <a:solidFill>
            <a:srgbClr val="F0F9F5"/>
          </a:solidFill>
          <a:ln w="7620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4901506" y="4897874"/>
            <a:ext cx="233360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65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BOUNDARIES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4901506" y="5236964"/>
            <a:ext cx="2197656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187"/>
              </a:lnSpc>
              <a:buNone/>
            </a:pPr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Permissions, limits, approvals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1047750" y="6516171"/>
            <a:ext cx="16192500" cy="92773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047750" y="6516171"/>
            <a:ext cx="53340" cy="927735"/>
          </a:xfrm>
          <a:prstGeom prst="rect">
            <a:avLst/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463040" y="6782871"/>
            <a:ext cx="16956786" cy="43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is appropriate when the system must </a:t>
            </a:r>
            <a:r>
              <a:rPr lang="en-US" sz="2175" b="1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a task</a:t>
            </a: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merely answer a knowledge question.</a:t>
            </a:r>
            <a:endParaRPr lang="en-US" sz="2175" dirty="0"/>
          </a:p>
        </p:txBody>
      </p:sp>
      <p:sp>
        <p:nvSpPr>
          <p:cNvPr id="44" name="Shape 42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439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600" y="723900"/>
            <a:ext cx="123563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35380"/>
            <a:ext cx="1810512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186"/>
              </a:lnSpc>
              <a:buNone/>
            </a:pPr>
            <a:r>
              <a:rPr lang="en-US" sz="4500" b="1" kern="0" spc="-90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RAG, Agent, Agentic RAG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14400" y="2465070"/>
            <a:ext cx="3127177" cy="15240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076450"/>
            <a:ext cx="301144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198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4041577" y="2465070"/>
            <a:ext cx="4443889" cy="15240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51127" y="2076450"/>
            <a:ext cx="415810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198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RAG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485465" y="2465070"/>
            <a:ext cx="4443889" cy="15240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95015" y="2076450"/>
            <a:ext cx="415810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198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2929354" y="2465070"/>
            <a:ext cx="4444246" cy="15240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138904" y="2076450"/>
            <a:ext cx="436802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198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RAG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14400" y="3413760"/>
            <a:ext cx="3127177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2632710"/>
            <a:ext cx="301144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goal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4041577" y="3413760"/>
            <a:ext cx="4443889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51127" y="2632710"/>
            <a:ext cx="415810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using retrieved evidence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8485465" y="3413760"/>
            <a:ext cx="4443889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95015" y="2632710"/>
            <a:ext cx="415810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 task using tools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2929354" y="3413760"/>
            <a:ext cx="4444246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138904" y="2632710"/>
            <a:ext cx="436802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dynamically while completing a task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914400" y="4351020"/>
            <a:ext cx="3127177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3573780"/>
            <a:ext cx="3011442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flow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4041577" y="4351020"/>
            <a:ext cx="4443889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51127" y="3573780"/>
            <a:ext cx="4158106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fixed by application code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8485465" y="4351020"/>
            <a:ext cx="4443889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95015" y="3573780"/>
            <a:ext cx="4158106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selects some next steps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2929354" y="4351020"/>
            <a:ext cx="4444246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138904" y="3573780"/>
            <a:ext cx="4368023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decides when and how to retrieve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914400" y="4975860"/>
            <a:ext cx="3127177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" y="4511040"/>
            <a:ext cx="301144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capability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4041577" y="4975860"/>
            <a:ext cx="4443889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251127" y="4511040"/>
            <a:ext cx="415810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search or retrieval system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8485465" y="4975860"/>
            <a:ext cx="4443889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95015" y="4511040"/>
            <a:ext cx="415810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 more action tools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12929354" y="4975860"/>
            <a:ext cx="4444246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3138904" y="4511040"/>
            <a:ext cx="436802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plus optional action tools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914400" y="5913120"/>
            <a:ext cx="3127177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14400" y="5135880"/>
            <a:ext cx="3011442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output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4041577" y="5913120"/>
            <a:ext cx="4443889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251127" y="5135880"/>
            <a:ext cx="4158106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answer with sources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8485465" y="5913120"/>
            <a:ext cx="4443889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695015" y="5135880"/>
            <a:ext cx="4158106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completed action or task result</a:t>
            </a:r>
            <a:endParaRPr lang="en-US" sz="1875" dirty="0"/>
          </a:p>
        </p:txBody>
      </p:sp>
      <p:sp>
        <p:nvSpPr>
          <p:cNvPr id="43" name="Shape 41"/>
          <p:cNvSpPr/>
          <p:nvPr/>
        </p:nvSpPr>
        <p:spPr>
          <a:xfrm>
            <a:off x="12929354" y="5913120"/>
            <a:ext cx="4444246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3138904" y="5135880"/>
            <a:ext cx="4368023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result across several retrieval steps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914400" y="6537960"/>
            <a:ext cx="3127177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14400" y="6073140"/>
            <a:ext cx="301144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4041577" y="6537960"/>
            <a:ext cx="4443889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251127" y="6073140"/>
            <a:ext cx="415810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to moderate</a:t>
            </a:r>
            <a:endParaRPr lang="en-US" sz="1875" dirty="0"/>
          </a:p>
        </p:txBody>
      </p:sp>
      <p:sp>
        <p:nvSpPr>
          <p:cNvPr id="49" name="Shape 47"/>
          <p:cNvSpPr/>
          <p:nvPr/>
        </p:nvSpPr>
        <p:spPr>
          <a:xfrm>
            <a:off x="8485465" y="6537960"/>
            <a:ext cx="4443889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695015" y="6073140"/>
            <a:ext cx="415810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to high within controls</a:t>
            </a:r>
            <a:endParaRPr lang="en-US" sz="1875" dirty="0"/>
          </a:p>
        </p:txBody>
      </p:sp>
      <p:sp>
        <p:nvSpPr>
          <p:cNvPr id="51" name="Shape 49"/>
          <p:cNvSpPr/>
          <p:nvPr/>
        </p:nvSpPr>
        <p:spPr>
          <a:xfrm>
            <a:off x="12929354" y="6537960"/>
            <a:ext cx="4444246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3138904" y="6073140"/>
            <a:ext cx="436802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to high within controls</a:t>
            </a:r>
            <a:endParaRPr lang="en-US" sz="1875" dirty="0"/>
          </a:p>
        </p:txBody>
      </p:sp>
      <p:sp>
        <p:nvSpPr>
          <p:cNvPr id="53" name="Shape 51"/>
          <p:cNvSpPr/>
          <p:nvPr/>
        </p:nvSpPr>
        <p:spPr>
          <a:xfrm>
            <a:off x="914400" y="7162800"/>
            <a:ext cx="3127177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14400" y="6697980"/>
            <a:ext cx="301144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and cost</a:t>
            </a:r>
            <a:endParaRPr lang="en-US" sz="1875" dirty="0"/>
          </a:p>
        </p:txBody>
      </p:sp>
      <p:sp>
        <p:nvSpPr>
          <p:cNvPr id="55" name="Shape 53"/>
          <p:cNvSpPr/>
          <p:nvPr/>
        </p:nvSpPr>
        <p:spPr>
          <a:xfrm>
            <a:off x="4041577" y="7162800"/>
            <a:ext cx="4443889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251127" y="6697980"/>
            <a:ext cx="415810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and more predictable</a:t>
            </a:r>
            <a:endParaRPr lang="en-US" sz="1875" dirty="0"/>
          </a:p>
        </p:txBody>
      </p:sp>
      <p:sp>
        <p:nvSpPr>
          <p:cNvPr id="57" name="Shape 55"/>
          <p:cNvSpPr/>
          <p:nvPr/>
        </p:nvSpPr>
        <p:spPr>
          <a:xfrm>
            <a:off x="8485465" y="7162800"/>
            <a:ext cx="4443889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695015" y="6697980"/>
            <a:ext cx="415810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and more variable</a:t>
            </a:r>
            <a:endParaRPr lang="en-US" sz="1875" dirty="0"/>
          </a:p>
        </p:txBody>
      </p:sp>
      <p:sp>
        <p:nvSpPr>
          <p:cNvPr id="59" name="Shape 57"/>
          <p:cNvSpPr/>
          <p:nvPr/>
        </p:nvSpPr>
        <p:spPr>
          <a:xfrm>
            <a:off x="12929354" y="7162800"/>
            <a:ext cx="4444246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3138904" y="6697980"/>
            <a:ext cx="436802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and more variable</a:t>
            </a:r>
            <a:endParaRPr lang="en-US" sz="1875" dirty="0"/>
          </a:p>
        </p:txBody>
      </p:sp>
      <p:sp>
        <p:nvSpPr>
          <p:cNvPr id="61" name="Shape 59"/>
          <p:cNvSpPr/>
          <p:nvPr/>
        </p:nvSpPr>
        <p:spPr>
          <a:xfrm>
            <a:off x="914400" y="8100060"/>
            <a:ext cx="3127177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14400" y="7322820"/>
            <a:ext cx="3011442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fit</a:t>
            </a:r>
            <a:endParaRPr lang="en-US" sz="1875" dirty="0"/>
          </a:p>
        </p:txBody>
      </p:sp>
      <p:sp>
        <p:nvSpPr>
          <p:cNvPr id="63" name="Shape 61"/>
          <p:cNvSpPr/>
          <p:nvPr/>
        </p:nvSpPr>
        <p:spPr>
          <a:xfrm>
            <a:off x="4041577" y="8100060"/>
            <a:ext cx="4443889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251127" y="7322820"/>
            <a:ext cx="4158106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over documents</a:t>
            </a:r>
            <a:endParaRPr lang="en-US" sz="1875" dirty="0"/>
          </a:p>
        </p:txBody>
      </p:sp>
      <p:sp>
        <p:nvSpPr>
          <p:cNvPr id="65" name="Shape 63"/>
          <p:cNvSpPr/>
          <p:nvPr/>
        </p:nvSpPr>
        <p:spPr>
          <a:xfrm>
            <a:off x="8485465" y="8100060"/>
            <a:ext cx="4443889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695015" y="7322820"/>
            <a:ext cx="4158106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execution</a:t>
            </a:r>
            <a:endParaRPr lang="en-US" sz="1875" dirty="0"/>
          </a:p>
        </p:txBody>
      </p:sp>
      <p:sp>
        <p:nvSpPr>
          <p:cNvPr id="67" name="Shape 65"/>
          <p:cNvSpPr/>
          <p:nvPr/>
        </p:nvSpPr>
        <p:spPr>
          <a:xfrm>
            <a:off x="12929354" y="8100060"/>
            <a:ext cx="4444246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3138904" y="7322820"/>
            <a:ext cx="4368023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retrieval, or retrieval with action</a:t>
            </a:r>
            <a:endParaRPr lang="en-US" sz="1875" dirty="0"/>
          </a:p>
        </p:txBody>
      </p:sp>
      <p:sp>
        <p:nvSpPr>
          <p:cNvPr id="69" name="Text 67"/>
          <p:cNvSpPr/>
          <p:nvPr/>
        </p:nvSpPr>
        <p:spPr>
          <a:xfrm>
            <a:off x="914400" y="8260080"/>
            <a:ext cx="3011442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risk</a:t>
            </a:r>
            <a:endParaRPr lang="en-US" sz="1875" dirty="0"/>
          </a:p>
        </p:txBody>
      </p:sp>
      <p:sp>
        <p:nvSpPr>
          <p:cNvPr id="70" name="Text 68"/>
          <p:cNvSpPr/>
          <p:nvPr/>
        </p:nvSpPr>
        <p:spPr>
          <a:xfrm>
            <a:off x="4251127" y="8260080"/>
            <a:ext cx="4158106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or misleading retrieval</a:t>
            </a:r>
            <a:endParaRPr lang="en-US" sz="1875" dirty="0"/>
          </a:p>
        </p:txBody>
      </p:sp>
      <p:sp>
        <p:nvSpPr>
          <p:cNvPr id="71" name="Text 69"/>
          <p:cNvSpPr/>
          <p:nvPr/>
        </p:nvSpPr>
        <p:spPr>
          <a:xfrm>
            <a:off x="8695015" y="8260080"/>
            <a:ext cx="4158106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Incorrect action or uncontrolled loop</a:t>
            </a:r>
            <a:endParaRPr lang="en-US" sz="1875" dirty="0"/>
          </a:p>
        </p:txBody>
      </p:sp>
      <p:sp>
        <p:nvSpPr>
          <p:cNvPr id="72" name="Text 70"/>
          <p:cNvSpPr/>
          <p:nvPr/>
        </p:nvSpPr>
        <p:spPr>
          <a:xfrm>
            <a:off x="13138904" y="8260080"/>
            <a:ext cx="4368023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risks combined</a:t>
            </a:r>
            <a:endParaRPr lang="en-US" sz="1875" dirty="0"/>
          </a:p>
        </p:txBody>
      </p:sp>
      <p:sp>
        <p:nvSpPr>
          <p:cNvPr id="73" name="Shape 71"/>
          <p:cNvSpPr/>
          <p:nvPr/>
        </p:nvSpPr>
        <p:spPr>
          <a:xfrm>
            <a:off x="914400" y="9182100"/>
            <a:ext cx="164592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914400" y="94183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17119283" y="94373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7249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600" y="762000"/>
            <a:ext cx="123563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73480"/>
            <a:ext cx="1810512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186"/>
              </a:lnSpc>
              <a:buNone/>
            </a:pPr>
            <a:r>
              <a:rPr lang="en-US" sz="4500" b="1" kern="0" spc="-90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Requests, Five Architectures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14400" y="2987040"/>
            <a:ext cx="164592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400300"/>
            <a:ext cx="1345311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Summarise the text I pasted.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13563600" y="2430780"/>
            <a:ext cx="41910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model call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14400" y="3810000"/>
            <a:ext cx="164592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223260"/>
            <a:ext cx="1345311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our current travel reimbursement policy?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3563600" y="3253740"/>
            <a:ext cx="41910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14400" y="4632960"/>
            <a:ext cx="164592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046220"/>
            <a:ext cx="1345311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travel request and send it for approval.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13563600" y="4076700"/>
            <a:ext cx="41910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or agent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914400" y="5455920"/>
            <a:ext cx="164592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4869180"/>
            <a:ext cx="1345311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policy, check my eligibility, create the request, ask me before submitting.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13563600" y="4899660"/>
            <a:ext cx="41910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with an agent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914400" y="5692140"/>
            <a:ext cx="1345311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several internal policies and find conflicting conditions.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13563600" y="5722620"/>
            <a:ext cx="41910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first, then consider agentic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914400" y="6621780"/>
            <a:ext cx="16459200" cy="1314450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4400" y="6621780"/>
            <a:ext cx="53340" cy="131445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29690" y="6888480"/>
            <a:ext cx="16152419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b="1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necessary correction. </a:t>
            </a: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"RAG plus an agent" is not automatically stronger. If a fixed RAG pipeline answers the question reliably, adding an agent reduces predictability without adding value.</a:t>
            </a:r>
            <a:endParaRPr lang="en-US" sz="2175" dirty="0"/>
          </a:p>
        </p:txBody>
      </p:sp>
      <p:sp>
        <p:nvSpPr>
          <p:cNvPr id="22" name="Shape 20"/>
          <p:cNvSpPr/>
          <p:nvPr/>
        </p:nvSpPr>
        <p:spPr>
          <a:xfrm>
            <a:off x="914400" y="9105900"/>
            <a:ext cx="164592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93802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7119283" y="93992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123563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Questions Before You Choose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3208139"/>
            <a:ext cx="77914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47750" y="2639497"/>
            <a:ext cx="3733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1C3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592580" y="2593777"/>
            <a:ext cx="781202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primary need to generate, retrieve, decide or act?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448800" y="3208139"/>
            <a:ext cx="77914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48800" y="2639497"/>
            <a:ext cx="3733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1C3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993631" y="2593777"/>
            <a:ext cx="696072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all required information already in the request?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47750" y="4692134"/>
            <a:ext cx="77914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47750" y="3737729"/>
            <a:ext cx="3733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1C3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592580" y="3692009"/>
            <a:ext cx="746401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the answer come from approved or changing sources?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448800" y="4692134"/>
            <a:ext cx="77914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48800" y="3737729"/>
            <a:ext cx="3733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1C3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993631" y="3692009"/>
            <a:ext cx="746401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system need to call a tool or change external state?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47750" y="6176129"/>
            <a:ext cx="77914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47750" y="5221724"/>
            <a:ext cx="3733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1C3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592580" y="5176004"/>
            <a:ext cx="731814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sequence stable enough for a fixed workflow?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448800" y="6176129"/>
            <a:ext cx="77914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48800" y="5221724"/>
            <a:ext cx="3733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1C3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993631" y="5176004"/>
            <a:ext cx="746401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the model choose among different tools or retrieval paths?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047750" y="6705719"/>
            <a:ext cx="3733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F8D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592580" y="6659999"/>
            <a:ext cx="746401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consequences of a wrong answer or wrong action?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448800" y="6705719"/>
            <a:ext cx="3733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F8D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993631" y="6659999"/>
            <a:ext cx="746401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human approval required before a sensitive or irreversible step?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744039"/>
            <a:ext cx="2330851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8239"/>
              </a:lnSpc>
              <a:buNone/>
            </a:pPr>
            <a:r>
              <a:rPr lang="en-US" sz="150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3776305" y="3877389"/>
            <a:ext cx="10896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390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776305" y="4445080"/>
            <a:ext cx="10896600" cy="889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040"/>
              </a:lnSpc>
              <a:buNone/>
            </a:pPr>
            <a:r>
              <a:rPr lang="en-US" sz="6450" b="1" kern="0" spc="-193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Quality, Failure and Limits</a:t>
            </a:r>
            <a:endParaRPr lang="en-US" sz="6450" dirty="0"/>
          </a:p>
        </p:txBody>
      </p:sp>
      <p:sp>
        <p:nvSpPr>
          <p:cNvPr id="5" name="Text 3"/>
          <p:cNvSpPr/>
          <p:nvPr/>
        </p:nvSpPr>
        <p:spPr>
          <a:xfrm>
            <a:off x="3776305" y="5582721"/>
            <a:ext cx="1020318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70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retrieval and generation separately, then diagnose the stage that actually failed.</a:t>
            </a:r>
            <a:endParaRPr lang="en-US" sz="2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135762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Things to Measure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308027"/>
            <a:ext cx="14912340" cy="894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699"/>
              </a:lnSpc>
              <a:buNone/>
            </a:pPr>
            <a:r>
              <a:rPr lang="en-US" sz="23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Otherwise teams repair the prompt when the real problem is missing evidence, or change chunking when the model is ignoring good context.</a:t>
            </a:r>
            <a:endParaRPr lang="en-US" sz="2325" dirty="0"/>
          </a:p>
        </p:txBody>
      </p:sp>
      <p:sp>
        <p:nvSpPr>
          <p:cNvPr id="6" name="Shape 4"/>
          <p:cNvSpPr/>
          <p:nvPr/>
        </p:nvSpPr>
        <p:spPr>
          <a:xfrm>
            <a:off x="1047750" y="5193149"/>
            <a:ext cx="794385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7750" y="3545324"/>
            <a:ext cx="7943850" cy="45720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47750" y="3545324"/>
            <a:ext cx="9525" cy="165544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83980" y="3545324"/>
            <a:ext cx="9525" cy="165544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36370" y="3933944"/>
            <a:ext cx="7883271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436370" y="4463534"/>
            <a:ext cx="7883271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 system find the right evidence?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296400" y="5193149"/>
            <a:ext cx="794385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296400" y="3545324"/>
            <a:ext cx="7943850" cy="4572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296400" y="3545324"/>
            <a:ext cx="9525" cy="165544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232630" y="3545324"/>
            <a:ext cx="9525" cy="165544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85020" y="3933944"/>
            <a:ext cx="7883271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85020" y="4463534"/>
            <a:ext cx="7883271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 model use that evidence faithfully?</a:t>
            </a:r>
            <a:endParaRPr lang="en-US" sz="2175" dirty="0"/>
          </a:p>
        </p:txBody>
      </p:sp>
      <p:sp>
        <p:nvSpPr>
          <p:cNvPr id="18" name="Shape 16"/>
          <p:cNvSpPr/>
          <p:nvPr/>
        </p:nvSpPr>
        <p:spPr>
          <a:xfrm>
            <a:off x="1047750" y="5600819"/>
            <a:ext cx="7991475" cy="117014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52550" y="5848469"/>
            <a:ext cx="812006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RETRIEVAL · WEAK ANSWER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1352550" y="6176129"/>
            <a:ext cx="8120062" cy="385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827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generation or prompt problem.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9248775" y="5600819"/>
            <a:ext cx="7991475" cy="117014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553575" y="5848469"/>
            <a:ext cx="812006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RETRIEVAL · FLUENT ANSWER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9553575" y="6176129"/>
            <a:ext cx="8120062" cy="385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827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filling gaps from unsupported knowledge.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047750" y="6980515"/>
            <a:ext cx="7991475" cy="117014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52550" y="7228165"/>
            <a:ext cx="812006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COMPLETENESS · LOW UTILISATION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1352550" y="7555825"/>
            <a:ext cx="8120062" cy="385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827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Enough evidence, but too much irrelevant material with it.</a:t>
            </a:r>
            <a:endParaRPr lang="en-US" sz="2025" dirty="0"/>
          </a:p>
        </p:txBody>
      </p:sp>
      <p:sp>
        <p:nvSpPr>
          <p:cNvPr id="27" name="Shape 25"/>
          <p:cNvSpPr/>
          <p:nvPr/>
        </p:nvSpPr>
        <p:spPr>
          <a:xfrm>
            <a:off x="9248775" y="6980515"/>
            <a:ext cx="7991475" cy="117014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553575" y="7228165"/>
            <a:ext cx="812006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173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COMPLETENESS · HIGH UTILISATION</a:t>
            </a:r>
            <a:endParaRPr lang="en-US" sz="1725" dirty="0"/>
          </a:p>
        </p:txBody>
      </p:sp>
      <p:sp>
        <p:nvSpPr>
          <p:cNvPr id="29" name="Text 27"/>
          <p:cNvSpPr/>
          <p:nvPr/>
        </p:nvSpPr>
        <p:spPr>
          <a:xfrm>
            <a:off x="9553575" y="7555825"/>
            <a:ext cx="8120062" cy="385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827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used what it got; retrieval did not provide enough.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135762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Representative Evaluation Set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327077"/>
            <a:ext cx="14912340" cy="894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699"/>
              </a:lnSpc>
              <a:buNone/>
            </a:pPr>
            <a:r>
              <a:rPr lang="en-US" sz="23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test questions that reflect real user language and real source content. For each one, record the expected passage and, where possible, the expected answer.</a:t>
            </a:r>
            <a:endParaRPr lang="en-US" sz="2325" dirty="0"/>
          </a:p>
        </p:txBody>
      </p:sp>
      <p:sp>
        <p:nvSpPr>
          <p:cNvPr id="6" name="Shape 4"/>
          <p:cNvSpPr/>
          <p:nvPr/>
        </p:nvSpPr>
        <p:spPr>
          <a:xfrm>
            <a:off x="1047750" y="3583424"/>
            <a:ext cx="3890962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95400" y="3850124"/>
            <a:ext cx="373522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295400" y="4227314"/>
            <a:ext cx="3735229" cy="385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827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factual questions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5148263" y="3583424"/>
            <a:ext cx="3890962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95913" y="3850124"/>
            <a:ext cx="373522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5395913" y="4227314"/>
            <a:ext cx="3497532" cy="732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827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worded differently from the source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9248775" y="3583424"/>
            <a:ext cx="3890962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496425" y="3850124"/>
            <a:ext cx="373522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9496425" y="4227314"/>
            <a:ext cx="3497532" cy="732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827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needing two related passages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3349288" y="3583424"/>
            <a:ext cx="3890962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596938" y="3850124"/>
            <a:ext cx="373522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13596938" y="4227314"/>
            <a:ext cx="3497532" cy="732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827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Dates, codes and exact names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047750" y="6078974"/>
            <a:ext cx="3890962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95400" y="6345674"/>
            <a:ext cx="373522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1295400" y="6722864"/>
            <a:ext cx="3497532" cy="732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827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Arabic, English and mixed-language questions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5148263" y="6078974"/>
            <a:ext cx="3890962" cy="2286000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95913" y="6345674"/>
            <a:ext cx="373522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2F7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5395913" y="6722864"/>
            <a:ext cx="3497532" cy="740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827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with </a:t>
            </a:r>
            <a:r>
              <a:rPr lang="en-US" sz="2025" b="1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answer </a:t>
            </a: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sources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9248775" y="6078974"/>
            <a:ext cx="3890962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496425" y="6345674"/>
            <a:ext cx="373522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9496425" y="6722864"/>
            <a:ext cx="3497532" cy="732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827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where old and new versions both exist</a:t>
            </a:r>
            <a:endParaRPr lang="en-US" sz="2025" dirty="0"/>
          </a:p>
        </p:txBody>
      </p:sp>
      <p:sp>
        <p:nvSpPr>
          <p:cNvPr id="27" name="Shape 25"/>
          <p:cNvSpPr/>
          <p:nvPr/>
        </p:nvSpPr>
        <p:spPr>
          <a:xfrm>
            <a:off x="13349288" y="6078974"/>
            <a:ext cx="3890962" cy="2286000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596938" y="6345674"/>
            <a:ext cx="373522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2F7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725" dirty="0"/>
          </a:p>
        </p:txBody>
      </p:sp>
      <p:sp>
        <p:nvSpPr>
          <p:cNvPr id="29" name="Text 27"/>
          <p:cNvSpPr/>
          <p:nvPr/>
        </p:nvSpPr>
        <p:spPr>
          <a:xfrm>
            <a:off x="13596938" y="6722864"/>
            <a:ext cx="3497532" cy="74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827"/>
              </a:lnSpc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with </a:t>
            </a:r>
            <a:r>
              <a:rPr lang="en-US" sz="2025" b="1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permissions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7249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600" y="762000"/>
            <a:ext cx="135762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73480"/>
            <a:ext cx="1810512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186"/>
              </a:lnSpc>
              <a:buNone/>
            </a:pPr>
            <a:r>
              <a:rPr lang="en-US" sz="4500" b="1" kern="0" spc="-90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Metrics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2152650"/>
            <a:ext cx="7611302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207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QUERY · TOP 5 RESULTS · 3 RELEVANT PASSAGES EXIST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914400" y="2846070"/>
            <a:ext cx="7389614" cy="693420"/>
          </a:xfrm>
          <a:prstGeom prst="rect">
            <a:avLst/>
          </a:prstGeom>
          <a:solidFill>
            <a:srgbClr val="F0F9F5"/>
          </a:solidFill>
          <a:ln w="7620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50620" y="3044190"/>
            <a:ext cx="21336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F7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78280" y="3025140"/>
            <a:ext cx="6106942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expense deadline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7220545" y="3055620"/>
            <a:ext cx="92344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14400" y="3634740"/>
            <a:ext cx="7389614" cy="69342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50620" y="3832860"/>
            <a:ext cx="21336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78280" y="3813810"/>
            <a:ext cx="563100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opening hours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6787872" y="3825240"/>
            <a:ext cx="140791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relevant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14400" y="4423410"/>
            <a:ext cx="7389614" cy="693420"/>
          </a:xfrm>
          <a:prstGeom prst="rect">
            <a:avLst/>
          </a:prstGeom>
          <a:solidFill>
            <a:srgbClr val="F0F9F5"/>
          </a:solidFill>
          <a:ln w="7620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50620" y="4621530"/>
            <a:ext cx="21336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F7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78280" y="4602480"/>
            <a:ext cx="6106942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submission exception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7220545" y="4632960"/>
            <a:ext cx="92344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14400" y="5212080"/>
            <a:ext cx="7389614" cy="69342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50620" y="5410200"/>
            <a:ext cx="21336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78280" y="5391150"/>
            <a:ext cx="563100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Per-diem rates table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6787872" y="5402580"/>
            <a:ext cx="140791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relevant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914400" y="6000750"/>
            <a:ext cx="7389614" cy="693420"/>
          </a:xfrm>
          <a:prstGeom prst="rect">
            <a:avLst/>
          </a:prstGeom>
          <a:solidFill>
            <a:srgbClr val="F5F7FA"/>
          </a:solidFill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50620" y="6198870"/>
            <a:ext cx="21336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78280" y="6179820"/>
            <a:ext cx="563100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 application steps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6787872" y="6191250"/>
            <a:ext cx="140791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relevant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914400" y="6884670"/>
            <a:ext cx="7389614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7082790"/>
            <a:ext cx="1412236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914400" y="7517130"/>
            <a:ext cx="141223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Precision@5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522101" y="7082790"/>
            <a:ext cx="1045726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0.67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2522101" y="7517130"/>
            <a:ext cx="104572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Recall@5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815477" y="7082790"/>
            <a:ext cx="1751707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3815477" y="7517130"/>
            <a:ext cx="175170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Reciprocal rank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875514" y="2152650"/>
            <a:ext cx="8497967" cy="1660208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168884" y="2407920"/>
            <a:ext cx="87023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Precision@K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9168884" y="2830830"/>
            <a:ext cx="87023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A4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relevant in top K / K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168884" y="3223260"/>
            <a:ext cx="8702350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1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precision means the context carries little noise.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8875514" y="4003358"/>
            <a:ext cx="8497967" cy="1660208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168884" y="4258628"/>
            <a:ext cx="87023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Recall@K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9168884" y="4681538"/>
            <a:ext cx="87023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A4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relevant in top K / all relevant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168884" y="5073968"/>
            <a:ext cx="8702350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1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recall means retrieval rarely misses necessary evidence.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8875514" y="5854065"/>
            <a:ext cx="8497967" cy="1660208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168884" y="6109335"/>
            <a:ext cx="87023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Reciprocal Rank</a:t>
            </a:r>
            <a:endParaRPr lang="en-US" sz="2250" dirty="0"/>
          </a:p>
        </p:txBody>
      </p:sp>
      <p:sp>
        <p:nvSpPr>
          <p:cNvPr id="43" name="Text 41"/>
          <p:cNvSpPr/>
          <p:nvPr/>
        </p:nvSpPr>
        <p:spPr>
          <a:xfrm>
            <a:off x="9168884" y="6532245"/>
            <a:ext cx="87023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A4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rank of the first relevant result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168884" y="6924675"/>
            <a:ext cx="8702350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1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when one strong passage is enough to answer.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8875514" y="7704773"/>
            <a:ext cx="8497967" cy="1602105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168884" y="7960043"/>
            <a:ext cx="87023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latency</a:t>
            </a:r>
            <a:endParaRPr lang="en-US" sz="2250" dirty="0"/>
          </a:p>
        </p:txBody>
      </p:sp>
      <p:sp>
        <p:nvSpPr>
          <p:cNvPr id="47" name="Text 45"/>
          <p:cNvSpPr/>
          <p:nvPr/>
        </p:nvSpPr>
        <p:spPr>
          <a:xfrm>
            <a:off x="9168884" y="8382953"/>
            <a:ext cx="8148564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1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Query, search, filter, merge and rerank. Higher accuracy is not acceptable if the answer becomes too slow.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914400" y="9306878"/>
            <a:ext cx="164592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14400" y="9562148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7119283" y="9581198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135762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Metrics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5375077"/>
            <a:ext cx="3876675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7750" y="2346127"/>
            <a:ext cx="3876675" cy="3810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7750" y="2346127"/>
            <a:ext cx="9525" cy="303657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16805" y="2346127"/>
            <a:ext cx="9525" cy="303657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41120" y="2669977"/>
            <a:ext cx="36189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Groundedness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341120" y="3111937"/>
            <a:ext cx="3388633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factual content follow from the retrieved context?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153025" y="5375077"/>
            <a:ext cx="3876675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153025" y="2346127"/>
            <a:ext cx="3876675" cy="3810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53025" y="2346127"/>
            <a:ext cx="9525" cy="303657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022080" y="2346127"/>
            <a:ext cx="9525" cy="303657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46395" y="2669977"/>
            <a:ext cx="36189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Correctness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5446395" y="3111937"/>
            <a:ext cx="338863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accurate when checked against the trusted source?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258300" y="5375077"/>
            <a:ext cx="3876675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258300" y="2346127"/>
            <a:ext cx="3876675" cy="38100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258300" y="2346127"/>
            <a:ext cx="9525" cy="303657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3127355" y="2346127"/>
            <a:ext cx="9525" cy="303657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551670" y="2669977"/>
            <a:ext cx="36189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551670" y="3111937"/>
            <a:ext cx="3388633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address the actual question without unrelated content?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3363575" y="5375077"/>
            <a:ext cx="3876675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3363575" y="2346127"/>
            <a:ext cx="3876675" cy="38100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363575" y="2346127"/>
            <a:ext cx="9525" cy="303657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7232630" y="2346127"/>
            <a:ext cx="9525" cy="303657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656945" y="2669977"/>
            <a:ext cx="36189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3656945" y="3111937"/>
            <a:ext cx="338863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cover every important part the source supports?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047750" y="8640247"/>
            <a:ext cx="3876675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47750" y="5611296"/>
            <a:ext cx="3876675" cy="3810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47750" y="5611296"/>
            <a:ext cx="9525" cy="303657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16805" y="5611296"/>
            <a:ext cx="9525" cy="303657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341120" y="5935146"/>
            <a:ext cx="36189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utilisation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341120" y="6377107"/>
            <a:ext cx="3388633" cy="1424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of the supplied context actually contributed? Low utilisation suggests too much noise.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5153025" y="8640247"/>
            <a:ext cx="3876675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153025" y="5611296"/>
            <a:ext cx="3876675" cy="3810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153025" y="5611296"/>
            <a:ext cx="9525" cy="303657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022080" y="5611296"/>
            <a:ext cx="9525" cy="303657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446395" y="5935146"/>
            <a:ext cx="36189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accuracy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5446395" y="6377107"/>
            <a:ext cx="3388633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citations point to the right source, and does each support its claim?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9258300" y="5611296"/>
            <a:ext cx="3876675" cy="3036570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258300" y="8640247"/>
            <a:ext cx="3876675" cy="9525"/>
          </a:xfrm>
          <a:prstGeom prst="rect">
            <a:avLst/>
          </a:prstGeom>
          <a:solidFill>
            <a:srgbClr val="BFE5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258300" y="5611296"/>
            <a:ext cx="3876675" cy="3810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258300" y="5611296"/>
            <a:ext cx="9525" cy="3036570"/>
          </a:xfrm>
          <a:prstGeom prst="rect">
            <a:avLst/>
          </a:prstGeom>
          <a:solidFill>
            <a:srgbClr val="BFE5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3127355" y="5611296"/>
            <a:ext cx="9525" cy="3036570"/>
          </a:xfrm>
          <a:prstGeom prst="rect">
            <a:avLst/>
          </a:prstGeom>
          <a:solidFill>
            <a:srgbClr val="BFE5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551670" y="5935146"/>
            <a:ext cx="36189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No-answer accuracy</a:t>
            </a:r>
            <a:endParaRPr lang="en-US" sz="2250" dirty="0"/>
          </a:p>
        </p:txBody>
      </p:sp>
      <p:sp>
        <p:nvSpPr>
          <p:cNvPr id="47" name="Text 45"/>
          <p:cNvSpPr/>
          <p:nvPr/>
        </p:nvSpPr>
        <p:spPr>
          <a:xfrm>
            <a:off x="9551670" y="6377107"/>
            <a:ext cx="3388633" cy="1424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source has no answer, does the system refuse to guess and say so clearly?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13363575" y="5611296"/>
            <a:ext cx="3876675" cy="303657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3649325" y="6390442"/>
            <a:ext cx="3404330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each component independently — but the final user experience is still the overall outcome.</a:t>
            </a:r>
            <a:endParaRPr lang="en-US" sz="2025" dirty="0"/>
          </a:p>
        </p:txBody>
      </p:sp>
      <p:sp>
        <p:nvSpPr>
          <p:cNvPr id="50" name="Shape 48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7772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14450" y="666750"/>
            <a:ext cx="135762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7250" y="1059180"/>
            <a:ext cx="18230850" cy="63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337"/>
              </a:lnSpc>
              <a:buNone/>
            </a:pPr>
            <a:r>
              <a:rPr lang="en-US" sz="4350" b="1" kern="0" spc="-87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Diagnosing Poor Results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857250" y="2330172"/>
            <a:ext cx="6960870" cy="15240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7250" y="1960602"/>
            <a:ext cx="694109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198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PROBLEM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818120" y="2330172"/>
            <a:ext cx="9612630" cy="15240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0" y="1960602"/>
            <a:ext cx="967240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198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LOOK FIRST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57250" y="2928342"/>
            <a:ext cx="696087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7250" y="2478762"/>
            <a:ext cx="6941096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correct document is never found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7818120" y="2928342"/>
            <a:ext cx="961263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0" y="2478762"/>
            <a:ext cx="9672409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Ingestion, extraction, embeddings or search terminology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857250" y="3515082"/>
            <a:ext cx="696087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7250" y="3069312"/>
            <a:ext cx="694109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are on topic but do not answer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7818120" y="3515082"/>
            <a:ext cx="961263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0" y="3069312"/>
            <a:ext cx="967240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size, vector-only search, missing reranking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857250" y="4101822"/>
            <a:ext cx="696087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7250" y="3656052"/>
            <a:ext cx="694109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correct passage is ranked too low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7818120" y="4101822"/>
            <a:ext cx="961263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046720" y="3656052"/>
            <a:ext cx="967240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too small, wrong filters, no reranker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857250" y="4688562"/>
            <a:ext cx="696087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57250" y="4242792"/>
            <a:ext cx="694109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contain many duplicates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7818120" y="4688562"/>
            <a:ext cx="961263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46720" y="4242792"/>
            <a:ext cx="967240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too large, several versions indexed, no deduplication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857250" y="5275302"/>
            <a:ext cx="696087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7250" y="4829532"/>
            <a:ext cx="694109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omits an important condition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7818120" y="5275302"/>
            <a:ext cx="961263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046720" y="4829532"/>
            <a:ext cx="967240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boundaries, or context trimmed too aggressively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857250" y="5862042"/>
            <a:ext cx="696087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57250" y="5416272"/>
            <a:ext cx="694109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invents unsupported details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7818120" y="5862042"/>
            <a:ext cx="961263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046720" y="5416272"/>
            <a:ext cx="967240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instructions and no-answer behaviour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857250" y="6448782"/>
            <a:ext cx="696087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7250" y="6003012"/>
            <a:ext cx="694109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cites the wrong document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7818120" y="6448782"/>
            <a:ext cx="961263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046720" y="6003012"/>
            <a:ext cx="967240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mapping and citation logic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857250" y="7035522"/>
            <a:ext cx="696087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57250" y="6589752"/>
            <a:ext cx="694109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old policy is used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7818120" y="7035522"/>
            <a:ext cx="961263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046720" y="6589752"/>
            <a:ext cx="967240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metadata and the index refresh process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857250" y="7622262"/>
            <a:ext cx="696087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57250" y="7176492"/>
            <a:ext cx="694109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unauthorised source appears</a:t>
            </a:r>
            <a:endParaRPr lang="en-US" sz="1875" dirty="0"/>
          </a:p>
        </p:txBody>
      </p:sp>
      <p:sp>
        <p:nvSpPr>
          <p:cNvPr id="43" name="Shape 41"/>
          <p:cNvSpPr/>
          <p:nvPr/>
        </p:nvSpPr>
        <p:spPr>
          <a:xfrm>
            <a:off x="7818120" y="7622262"/>
            <a:ext cx="961263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046720" y="7176492"/>
            <a:ext cx="967240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Access-control filtering at retrieval time</a:t>
            </a:r>
            <a:endParaRPr lang="en-US" sz="1875" dirty="0"/>
          </a:p>
        </p:txBody>
      </p:sp>
      <p:sp>
        <p:nvSpPr>
          <p:cNvPr id="45" name="Text 43"/>
          <p:cNvSpPr/>
          <p:nvPr/>
        </p:nvSpPr>
        <p:spPr>
          <a:xfrm>
            <a:off x="857250" y="7763233"/>
            <a:ext cx="6941096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are accurate but slow</a:t>
            </a:r>
            <a:endParaRPr lang="en-US" sz="1875" dirty="0"/>
          </a:p>
        </p:txBody>
      </p:sp>
      <p:sp>
        <p:nvSpPr>
          <p:cNvPr id="46" name="Text 44"/>
          <p:cNvSpPr/>
          <p:nvPr/>
        </p:nvSpPr>
        <p:spPr>
          <a:xfrm>
            <a:off x="8046720" y="7763233"/>
            <a:ext cx="9672409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count, reranker cost, index, unnecessary calls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857250" y="9239250"/>
            <a:ext cx="16573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57250" y="94564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7176433" y="94754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7772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14450" y="666750"/>
            <a:ext cx="135762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7250" y="1059180"/>
            <a:ext cx="18230850" cy="63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337"/>
              </a:lnSpc>
              <a:buNone/>
            </a:pPr>
            <a:r>
              <a:rPr lang="en-US" sz="4350" b="1" kern="0" spc="-87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Common Mistakes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857250" y="1979652"/>
            <a:ext cx="4000500" cy="20764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7250" y="1979652"/>
            <a:ext cx="38100" cy="207645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23950" y="2189202"/>
            <a:ext cx="38557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23950" y="2539722"/>
            <a:ext cx="3610356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RAG as a prompt feature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23950" y="3179802"/>
            <a:ext cx="3610356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quality is decided before generation.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48250" y="1979652"/>
            <a:ext cx="4000500" cy="20764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48250" y="1979652"/>
            <a:ext cx="38100" cy="207645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14950" y="2189202"/>
            <a:ext cx="38557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14950" y="2539722"/>
            <a:ext cx="3610356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Indexing dirty or obsolete content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314950" y="3179802"/>
            <a:ext cx="385572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returns contradictions.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39250" y="1979652"/>
            <a:ext cx="4000500" cy="20764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39250" y="1979652"/>
            <a:ext cx="38100" cy="207645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505950" y="2189202"/>
            <a:ext cx="38557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505950" y="2539722"/>
            <a:ext cx="3610356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chunk size for every document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505950" y="3179802"/>
            <a:ext cx="3610356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 settings destroy tables and clauses.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430250" y="1979652"/>
            <a:ext cx="4000500" cy="20764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3430250" y="1979652"/>
            <a:ext cx="38100" cy="207645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696950" y="2189202"/>
            <a:ext cx="38557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3696950" y="2539722"/>
            <a:ext cx="38557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Chunks that are too large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3696950" y="2897862"/>
            <a:ext cx="385572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vector for several topics.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7250" y="4246602"/>
            <a:ext cx="4000500" cy="20764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57250" y="4246602"/>
            <a:ext cx="38100" cy="207645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23950" y="4456152"/>
            <a:ext cx="38557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123950" y="4806672"/>
            <a:ext cx="38557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Chunks that are too small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123950" y="5164812"/>
            <a:ext cx="3610356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and exceptions lose context.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048250" y="4246602"/>
            <a:ext cx="4000500" cy="20764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048250" y="4246602"/>
            <a:ext cx="38100" cy="207645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14950" y="4456152"/>
            <a:ext cx="38557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5314950" y="4806672"/>
            <a:ext cx="38557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Excessive overlap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5314950" y="5164812"/>
            <a:ext cx="3610356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evidence fills the context.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239250" y="4246602"/>
            <a:ext cx="4000500" cy="20764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239250" y="4246602"/>
            <a:ext cx="38100" cy="207645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505950" y="4456152"/>
            <a:ext cx="38557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9505950" y="4806672"/>
            <a:ext cx="38557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Omitting metadata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9505950" y="5164812"/>
            <a:ext cx="3610356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filtering, no permissions, no citations.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3430250" y="4246602"/>
            <a:ext cx="4000500" cy="20764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3430250" y="4246602"/>
            <a:ext cx="38100" cy="207645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3696950" y="4456152"/>
            <a:ext cx="38557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3696950" y="4806672"/>
            <a:ext cx="3610356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Assuming vector search is enough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3696950" y="5446752"/>
            <a:ext cx="3610356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Codes and exact names need lexical search.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57250" y="6513552"/>
            <a:ext cx="4000500" cy="20764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57250" y="6513552"/>
            <a:ext cx="38100" cy="207645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123950" y="6723102"/>
            <a:ext cx="38557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123950" y="7073622"/>
            <a:ext cx="3610356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top-k without measuring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1123950" y="7713702"/>
            <a:ext cx="3610356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noise, tokens, latency and cost.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048250" y="6513552"/>
            <a:ext cx="4000500" cy="20764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048250" y="6513552"/>
            <a:ext cx="38100" cy="207645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314950" y="6723102"/>
            <a:ext cx="38557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5314950" y="7073622"/>
            <a:ext cx="38557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only the final answer</a:t>
            </a:r>
            <a:endParaRPr lang="en-US" sz="1950" dirty="0"/>
          </a:p>
        </p:txBody>
      </p:sp>
      <p:sp>
        <p:nvSpPr>
          <p:cNvPr id="54" name="Text 52"/>
          <p:cNvSpPr/>
          <p:nvPr/>
        </p:nvSpPr>
        <p:spPr>
          <a:xfrm>
            <a:off x="5314950" y="7431762"/>
            <a:ext cx="385572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cannot tell which stage failed.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9239250" y="6513552"/>
            <a:ext cx="4000500" cy="20764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239250" y="6513552"/>
            <a:ext cx="38100" cy="207645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505950" y="6723102"/>
            <a:ext cx="38557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9505950" y="7073622"/>
            <a:ext cx="3610356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an agent for a fixed question</a:t>
            </a:r>
            <a:endParaRPr lang="en-US" sz="1950" dirty="0"/>
          </a:p>
        </p:txBody>
      </p:sp>
      <p:sp>
        <p:nvSpPr>
          <p:cNvPr id="59" name="Text 57"/>
          <p:cNvSpPr/>
          <p:nvPr/>
        </p:nvSpPr>
        <p:spPr>
          <a:xfrm>
            <a:off x="9505950" y="7713702"/>
            <a:ext cx="3610356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flow, cost and risk with no gain.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3430250" y="6513552"/>
            <a:ext cx="4000500" cy="2076450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3430250" y="6513552"/>
            <a:ext cx="38100" cy="207645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3696950" y="6723102"/>
            <a:ext cx="38557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650" dirty="0"/>
          </a:p>
        </p:txBody>
      </p:sp>
      <p:sp>
        <p:nvSpPr>
          <p:cNvPr id="63" name="Text 61"/>
          <p:cNvSpPr/>
          <p:nvPr/>
        </p:nvSpPr>
        <p:spPr>
          <a:xfrm>
            <a:off x="13696950" y="7073622"/>
            <a:ext cx="38557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Ignoring permissions in retrieval</a:t>
            </a:r>
            <a:endParaRPr lang="en-US" sz="1950" dirty="0"/>
          </a:p>
        </p:txBody>
      </p:sp>
      <p:sp>
        <p:nvSpPr>
          <p:cNvPr id="64" name="Text 62"/>
          <p:cNvSpPr/>
          <p:nvPr/>
        </p:nvSpPr>
        <p:spPr>
          <a:xfrm>
            <a:off x="13696950" y="7431762"/>
            <a:ext cx="3610356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18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can expose restricted content.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857250" y="9239250"/>
            <a:ext cx="16573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57250" y="94564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7176433" y="94754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135762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and Responsible Boundaries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2327077"/>
            <a:ext cx="5232321" cy="3177540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9220" y="2658547"/>
            <a:ext cx="502631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379220" y="3073837"/>
            <a:ext cx="4706462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682"/>
              </a:lnSpc>
              <a:buNone/>
            </a:pPr>
            <a:r>
              <a:rPr lang="en-US" sz="232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quality limits answer quality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1379220" y="3915847"/>
            <a:ext cx="4706462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source is wrong or biased, a grounded answer can still be wrong or biased.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527721" y="2327077"/>
            <a:ext cx="5232440" cy="3177540"/>
          </a:xfrm>
          <a:prstGeom prst="rect">
            <a:avLst/>
          </a:prstGeom>
          <a:solidFill>
            <a:srgbClr val="FDF4EC"/>
          </a:solidFill>
          <a:ln w="7620">
            <a:solidFill>
              <a:srgbClr val="F5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9191" y="2658547"/>
            <a:ext cx="50264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6859191" y="3073837"/>
            <a:ext cx="4706585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682"/>
              </a:lnSpc>
              <a:buNone/>
            </a:pPr>
            <a:r>
              <a:rPr lang="en-US" sz="232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Retrieved content is data, not instructions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6859191" y="3915847"/>
            <a:ext cx="4706585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document can contain text that looks like a command. Treat passages as source data only.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2007810" y="2327077"/>
            <a:ext cx="5232440" cy="3177540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39281" y="2658547"/>
            <a:ext cx="50264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12339281" y="3073837"/>
            <a:ext cx="4706585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682"/>
              </a:lnSpc>
              <a:buNone/>
            </a:pPr>
            <a:r>
              <a:rPr lang="en-US" sz="232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precedes disclosure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12339281" y="3915847"/>
            <a:ext cx="4706585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an answer after generation does not replace preventing retrieval.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047750" y="5752267"/>
            <a:ext cx="5232321" cy="3177540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79220" y="6083737"/>
            <a:ext cx="502631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1379220" y="6499027"/>
            <a:ext cx="4706462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682"/>
              </a:lnSpc>
              <a:buNone/>
            </a:pPr>
            <a:r>
              <a:rPr lang="en-US" sz="232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Freshness needs an update strategy</a:t>
            </a:r>
            <a:endParaRPr lang="en-US" sz="2325" dirty="0"/>
          </a:p>
        </p:txBody>
      </p:sp>
      <p:sp>
        <p:nvSpPr>
          <p:cNvPr id="20" name="Text 18"/>
          <p:cNvSpPr/>
          <p:nvPr/>
        </p:nvSpPr>
        <p:spPr>
          <a:xfrm>
            <a:off x="1379220" y="7341037"/>
            <a:ext cx="470646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detection, reprocessing, re-embedding, deletion and rollback.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6527721" y="5752267"/>
            <a:ext cx="5232440" cy="3177540"/>
          </a:xfrm>
          <a:prstGeom prst="rect">
            <a:avLst/>
          </a:prstGeom>
          <a:ln w="7620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9191" y="6083737"/>
            <a:ext cx="50264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6859191" y="6499027"/>
            <a:ext cx="50264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682"/>
              </a:lnSpc>
              <a:buNone/>
            </a:pPr>
            <a:r>
              <a:rPr lang="en-US" sz="232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capacity is limited</a:t>
            </a:r>
            <a:endParaRPr lang="en-US" sz="2325" dirty="0"/>
          </a:p>
        </p:txBody>
      </p:sp>
      <p:sp>
        <p:nvSpPr>
          <p:cNvPr id="24" name="Text 22"/>
          <p:cNvSpPr/>
          <p:nvPr/>
        </p:nvSpPr>
        <p:spPr>
          <a:xfrm>
            <a:off x="6859191" y="6986707"/>
            <a:ext cx="4706585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larger window does not remove the need for relevance and ranking.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2007810" y="5752267"/>
            <a:ext cx="5232440" cy="3177540"/>
          </a:xfrm>
          <a:prstGeom prst="rect">
            <a:avLst/>
          </a:prstGeom>
          <a:solidFill>
            <a:srgbClr val="F0F9F5"/>
          </a:solidFill>
          <a:ln w="7620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2339281" y="6083737"/>
            <a:ext cx="50264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2F7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725" dirty="0"/>
          </a:p>
        </p:txBody>
      </p:sp>
      <p:sp>
        <p:nvSpPr>
          <p:cNvPr id="27" name="Text 25"/>
          <p:cNvSpPr/>
          <p:nvPr/>
        </p:nvSpPr>
        <p:spPr>
          <a:xfrm>
            <a:off x="12339281" y="6499027"/>
            <a:ext cx="50264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682"/>
              </a:lnSpc>
              <a:buNone/>
            </a:pPr>
            <a:r>
              <a:rPr lang="en-US" sz="232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 must be justified</a:t>
            </a:r>
            <a:endParaRPr lang="en-US" sz="2325" dirty="0"/>
          </a:p>
        </p:txBody>
      </p:sp>
      <p:sp>
        <p:nvSpPr>
          <p:cNvPr id="28" name="Text 26"/>
          <p:cNvSpPr/>
          <p:nvPr/>
        </p:nvSpPr>
        <p:spPr>
          <a:xfrm>
            <a:off x="12339281" y="6986707"/>
            <a:ext cx="4706585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extra rewrite, source, reranker and agent step needs evaluation evidence.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439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600" y="723900"/>
            <a:ext cx="23226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OF 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35380"/>
            <a:ext cx="1810512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186"/>
              </a:lnSpc>
              <a:buNone/>
            </a:pPr>
            <a:r>
              <a:rPr lang="en-US" sz="4500" b="1" kern="0" spc="-90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Distinctions to Remember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14400" y="3146107"/>
            <a:ext cx="79819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266950"/>
            <a:ext cx="878014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vs model memory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914400" y="2640330"/>
            <a:ext cx="878014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1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retrieves evidence for this request. It does not teach the model.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391650" y="3146107"/>
            <a:ext cx="79819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91650" y="2266950"/>
            <a:ext cx="878014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vs fine-tuning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9391650" y="2640330"/>
            <a:ext cx="878014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1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at inference time versus behaviour learned by training.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14400" y="4710113"/>
            <a:ext cx="79819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496628"/>
            <a:ext cx="878014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vs chunk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914400" y="3870008"/>
            <a:ext cx="878014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1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chunk is the content. The embedding is how you search for it.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391650" y="4710113"/>
            <a:ext cx="79819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91650" y="3496628"/>
            <a:ext cx="878014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index vs knowledge source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9391650" y="3870008"/>
            <a:ext cx="8221408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1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document is authoritative. The index is a searchable representation.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" y="5939790"/>
            <a:ext cx="79819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5060632"/>
            <a:ext cx="878014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vs relevance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914400" y="5434013"/>
            <a:ext cx="878014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1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passage can share the topic without answering the question.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391650" y="5939790"/>
            <a:ext cx="79819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91650" y="5060632"/>
            <a:ext cx="878014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vs context size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9391650" y="5434013"/>
            <a:ext cx="878014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1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returned versus what finally reaches the model.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14400" y="6290310"/>
            <a:ext cx="878014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vs generation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914400" y="6663690"/>
            <a:ext cx="878014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1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selects evidence, the other writes the answer. Different metrics.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391650" y="6290310"/>
            <a:ext cx="878014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vs agent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9391650" y="6663690"/>
            <a:ext cx="878014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581"/>
              </a:lnSpc>
              <a:buNone/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Paths defined in code versus next steps delegated to the model.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14400" y="9182100"/>
            <a:ext cx="164592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94183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7119283" y="94373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23226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OF 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Recap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3287197"/>
            <a:ext cx="161925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7750" y="2807137"/>
            <a:ext cx="133350" cy="13335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04950" y="2612827"/>
            <a:ext cx="16118324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24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architecture from the behaviour you need. The simplest one that satisfies the requirement wins.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47750" y="4216837"/>
            <a:ext cx="161925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47750" y="3736777"/>
            <a:ext cx="133350" cy="133350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04950" y="3542467"/>
            <a:ext cx="1723850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24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retrieves approved evidence at answer time. Grounding improves support but does not guarantee correctness.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47750" y="5146477"/>
            <a:ext cx="161925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47750" y="4666417"/>
            <a:ext cx="133350" cy="13335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4950" y="4472107"/>
            <a:ext cx="14371856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24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RAG system is two pipelines: offline indexing and online answering. They share only the index.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47750" y="6076116"/>
            <a:ext cx="161925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47750" y="5596057"/>
            <a:ext cx="133350" cy="13335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04950" y="5401746"/>
            <a:ext cx="15428643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24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Chunking, metadata and the embedding model decide most of the quality before any answer is written.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47750" y="7432477"/>
            <a:ext cx="161925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47750" y="6525696"/>
            <a:ext cx="133350" cy="13335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504950" y="6331387"/>
            <a:ext cx="16207359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24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finds exact terms, vector finds meaning, hybrid combines both. Top-k and reranking balance coverage against noise.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047750" y="8362116"/>
            <a:ext cx="1619250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47750" y="7882057"/>
            <a:ext cx="133350" cy="133350"/>
          </a:xfrm>
          <a:prstGeom prst="rect">
            <a:avLst/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04950" y="7687746"/>
            <a:ext cx="16366772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24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is for knowledge. Agents are for decisions and actions. Agentic RAG is for dynamic retrieval inside a task.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047750" y="8811696"/>
            <a:ext cx="133350" cy="133350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504950" y="8617387"/>
            <a:ext cx="12987778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24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retrieval and generation separately, then verify the complete user experience.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047750" y="9291757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47750" y="9623227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985933" y="9642277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23226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OF 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17811750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Quiz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3111937"/>
            <a:ext cx="119062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47750" y="2582347"/>
            <a:ext cx="3619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600200" y="2536627"/>
            <a:ext cx="804868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problem does RAG solve that a base model cannot?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47750" y="3904417"/>
            <a:ext cx="119062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7750" y="3374827"/>
            <a:ext cx="3619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600200" y="3329107"/>
            <a:ext cx="927861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two pipelines in a RAG system and what each produces.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47750" y="4696897"/>
            <a:ext cx="119062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47750" y="4167307"/>
            <a:ext cx="3619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600200" y="4121587"/>
            <a:ext cx="5230368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there no universal chunk size?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47750" y="5489377"/>
            <a:ext cx="119062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47750" y="4959787"/>
            <a:ext cx="3619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600200" y="4914067"/>
            <a:ext cx="892159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embedding, and what does similarity actually prove?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47750" y="6281856"/>
            <a:ext cx="119062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47750" y="5752267"/>
            <a:ext cx="3619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600200" y="5706546"/>
            <a:ext cx="717604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keyword search better than vector search?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047750" y="7074337"/>
            <a:ext cx="11906250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47750" y="6544746"/>
            <a:ext cx="3619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600200" y="6499027"/>
            <a:ext cx="5642134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reranking add after retrieval?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047750" y="7337227"/>
            <a:ext cx="3619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8BE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600200" y="7291507"/>
            <a:ext cx="833904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would you choose an agent instead of standard RAG?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3620750" y="5775127"/>
            <a:ext cx="3728085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365"/>
              </a:lnSpc>
              <a:buNone/>
            </a:pPr>
            <a:r>
              <a:rPr lang="en-US" sz="195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are revealed and discussed straight after submission.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47750" y="930402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985933" y="932307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2964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950" y="819150"/>
            <a:ext cx="324868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TOMORROW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249680"/>
            <a:ext cx="7568423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13"/>
              </a:lnSpc>
              <a:buNone/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— Tools and Agents</a:t>
            </a:r>
            <a:endParaRPr lang="en-US" sz="4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0950" y="895350"/>
            <a:ext cx="2019300" cy="9459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750" y="2403277"/>
            <a:ext cx="896769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before tomorrow</a:t>
            </a:r>
            <a:endParaRPr lang="en-US" sz="2550" dirty="0"/>
          </a:p>
        </p:txBody>
      </p:sp>
      <p:sp>
        <p:nvSpPr>
          <p:cNvPr id="7" name="Shape 4"/>
          <p:cNvSpPr/>
          <p:nvPr/>
        </p:nvSpPr>
        <p:spPr>
          <a:xfrm>
            <a:off x="1047750" y="3755827"/>
            <a:ext cx="8152448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47750" y="3214807"/>
            <a:ext cx="2688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1449943" y="3207187"/>
            <a:ext cx="72842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RAG pipelines and what each stage produces</a:t>
            </a:r>
            <a:endParaRPr lang="en-US" sz="2175" dirty="0"/>
          </a:p>
        </p:txBody>
      </p:sp>
      <p:sp>
        <p:nvSpPr>
          <p:cNvPr id="10" name="Shape 7"/>
          <p:cNvSpPr/>
          <p:nvPr/>
        </p:nvSpPr>
        <p:spPr>
          <a:xfrm>
            <a:off x="1047750" y="4502587"/>
            <a:ext cx="8152448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47750" y="3961567"/>
            <a:ext cx="2688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12" name="Text 9"/>
          <p:cNvSpPr/>
          <p:nvPr/>
        </p:nvSpPr>
        <p:spPr>
          <a:xfrm>
            <a:off x="1449943" y="3953947"/>
            <a:ext cx="661457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chunking strategy fits your own document</a:t>
            </a:r>
            <a:endParaRPr lang="en-US" sz="2175" dirty="0"/>
          </a:p>
        </p:txBody>
      </p:sp>
      <p:sp>
        <p:nvSpPr>
          <p:cNvPr id="13" name="Shape 10"/>
          <p:cNvSpPr/>
          <p:nvPr/>
        </p:nvSpPr>
        <p:spPr>
          <a:xfrm>
            <a:off x="1047750" y="5249347"/>
            <a:ext cx="8152448" cy="9525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7750" y="4708327"/>
            <a:ext cx="2688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1449943" y="4700707"/>
            <a:ext cx="600989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metadata fields your capstone will need</a:t>
            </a:r>
            <a:endParaRPr lang="en-US" sz="2175" dirty="0"/>
          </a:p>
        </p:txBody>
      </p:sp>
      <p:sp>
        <p:nvSpPr>
          <p:cNvPr id="16" name="Text 13"/>
          <p:cNvSpPr/>
          <p:nvPr/>
        </p:nvSpPr>
        <p:spPr>
          <a:xfrm>
            <a:off x="1047750" y="5455087"/>
            <a:ext cx="2688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17" name="Text 14"/>
          <p:cNvSpPr/>
          <p:nvPr/>
        </p:nvSpPr>
        <p:spPr>
          <a:xfrm>
            <a:off x="1449943" y="5447467"/>
            <a:ext cx="740667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evaluation questions written for your own sources</a:t>
            </a:r>
            <a:endParaRPr lang="en-US" sz="2175" dirty="0"/>
          </a:p>
        </p:txBody>
      </p:sp>
      <p:sp>
        <p:nvSpPr>
          <p:cNvPr id="18" name="Text 15"/>
          <p:cNvSpPr/>
          <p:nvPr/>
        </p:nvSpPr>
        <p:spPr>
          <a:xfrm>
            <a:off x="9828848" y="2403277"/>
            <a:ext cx="815254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 the model acts</a:t>
            </a:r>
            <a:endParaRPr lang="en-US" sz="2550" dirty="0"/>
          </a:p>
        </p:txBody>
      </p:sp>
      <p:sp>
        <p:nvSpPr>
          <p:cNvPr id="19" name="Shape 16"/>
          <p:cNvSpPr/>
          <p:nvPr/>
        </p:nvSpPr>
        <p:spPr>
          <a:xfrm>
            <a:off x="9828848" y="3016687"/>
            <a:ext cx="7411403" cy="26898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190798" y="3359587"/>
            <a:ext cx="735625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 and tool definitions</a:t>
            </a:r>
            <a:endParaRPr lang="en-US" sz="2175" dirty="0"/>
          </a:p>
        </p:txBody>
      </p:sp>
      <p:sp>
        <p:nvSpPr>
          <p:cNvPr id="21" name="Text 18"/>
          <p:cNvSpPr/>
          <p:nvPr/>
        </p:nvSpPr>
        <p:spPr>
          <a:xfrm>
            <a:off x="10190798" y="3908227"/>
            <a:ext cx="735625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external APIs to a model</a:t>
            </a:r>
            <a:endParaRPr lang="en-US" sz="2175" dirty="0"/>
          </a:p>
        </p:txBody>
      </p:sp>
      <p:sp>
        <p:nvSpPr>
          <p:cNvPr id="22" name="Text 19"/>
          <p:cNvSpPr/>
          <p:nvPr/>
        </p:nvSpPr>
        <p:spPr>
          <a:xfrm>
            <a:off x="10190798" y="4456867"/>
            <a:ext cx="735625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agent patterns and boundaries</a:t>
            </a:r>
            <a:endParaRPr lang="en-US" sz="2175" dirty="0"/>
          </a:p>
        </p:txBody>
      </p:sp>
      <p:sp>
        <p:nvSpPr>
          <p:cNvPr id="23" name="Text 20"/>
          <p:cNvSpPr/>
          <p:nvPr/>
        </p:nvSpPr>
        <p:spPr>
          <a:xfrm>
            <a:off x="10190798" y="5005507"/>
            <a:ext cx="735625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as one tool among several</a:t>
            </a:r>
            <a:endParaRPr lang="en-US" sz="2175" dirty="0"/>
          </a:p>
        </p:txBody>
      </p:sp>
      <p:sp>
        <p:nvSpPr>
          <p:cNvPr id="24" name="Text 21"/>
          <p:cNvSpPr/>
          <p:nvPr/>
        </p:nvSpPr>
        <p:spPr>
          <a:xfrm>
            <a:off x="9828848" y="5954196"/>
            <a:ext cx="8152543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81"/>
              </a:lnSpc>
              <a:buNone/>
            </a:pPr>
            <a:r>
              <a:rPr lang="en-US" sz="20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start at 9:00. The room opens fifteen minutes earlier.</a:t>
            </a:r>
            <a:endParaRPr lang="en-US" sz="2025" dirty="0"/>
          </a:p>
        </p:txBody>
      </p:sp>
      <p:sp>
        <p:nvSpPr>
          <p:cNvPr id="25" name="Shape 22"/>
          <p:cNvSpPr/>
          <p:nvPr/>
        </p:nvSpPr>
        <p:spPr>
          <a:xfrm>
            <a:off x="1047750" y="8915400"/>
            <a:ext cx="16192500" cy="952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047750" y="9246870"/>
            <a:ext cx="48216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2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6985933" y="9265920"/>
            <a:ext cx="3305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196578f-6ae1-40cd-93dd-1a3b7a6ede66}" enabled="1" method="Standard" siteId="{2c86bbfc-8d04-41ff-a83a-942f075e0f60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7217</Words>
  <Application>Microsoft Office PowerPoint</Application>
  <PresentationFormat>Custom</PresentationFormat>
  <Paragraphs>1246</Paragraphs>
  <Slides>57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1" baseType="lpstr">
      <vt:lpstr>Aptos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حسين صالح محسن</cp:lastModifiedBy>
  <cp:revision>5</cp:revision>
  <dcterms:created xsi:type="dcterms:W3CDTF">2026-08-02T19:53:01Z</dcterms:created>
  <dcterms:modified xsi:type="dcterms:W3CDTF">2026-08-02T20:51:54Z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Theme:5</vt:lpwstr>
  </property>
  <property fmtid="{D5CDD505-2E9C-101B-9397-08002B2CF9AE}" pid="3" name="ClassificationContentMarkingFooterText">
    <vt:lpwstr>Public - عام</vt:lpwstr>
  </property>
  <property fmtid="{D5CDD505-2E9C-101B-9397-08002B2CF9AE}" pid="4" name="ClassificationContentMarkingHeaderLocations">
    <vt:lpwstr>Office Theme:4</vt:lpwstr>
  </property>
  <property fmtid="{D5CDD505-2E9C-101B-9397-08002B2CF9AE}" pid="5" name="ClassificationContentMarkingHeaderText">
    <vt:lpwstr>Public - عام</vt:lpwstr>
  </property>
</Properties>
</file>