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1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04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sentence: yesterday the model learned to read, today it learns to act. Then say the day's discipline out loud — the model proposes, the application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Day 2 in two minutes, then read the blue panel. Every slide today answers that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as a contract for the day. Objectives 3, 9 and 12 are the ones the quiz tests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six blocks. Sections five and six are the longest; warn them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This block exists so nobody leaves believing the model reaches into the database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travel request example. Read it once and ask the room to list which capabilities it needs — they will name retrieval, a budget read, a calculation and 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sentence of the day. Write it on the board and return to it every time a student says the model did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four is the one engineers underrate: the same model can express the same decision differently across runs. A tool contract turns part of that into structured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closing line as three roles: the model interprets, the tool provides capability, the application controls. Students should be able to repeat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bad JSON and let it sit. A model must never grant itself privileges through a generated argument. Identity comes from the authenticated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This block is the mechanics. The five-stage lifecycle is the single thing they must be able to draw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JSON and then say the caption twice: this object is a request to use a capability, not proof that it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confuse these four constantly. Ask them which of the four a log line is describing, next time they read a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diagram of Day 3. Draw it on the whiteboard too. Stage 3 is where the application earns its place — everything trustworthy happens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JSON blocks. The error object carries a stable code and a retryable flag — that is what lets the loop decide what to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loop with a finger. Point at the return arrow and say: every pass through this loop must be bounded, or the system never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section on restraint. A greeting, a summary, a translation or a rewrite may need no tool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Tell them this block is where most agent failures are actually created — in the interface,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weak description and the strong one aloud. The strong one tells the model what the tool is NOT for — that is what separates it from its neighbours.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enum and the required list. Then say the caption: schema validation reduces malformed arguments — it does not decide whether the action is authorized or sensible.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duration example is small but memorable. Thirty what? Ambiguity in a field name becomes a wrong argument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broad tool destroys permissions, approvals, logs and evaluation at once. Four narrow tools make all four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section with the product framing: tool definitions are interfaces, so they are documented, versioned, tested and revised from real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This block is where the day becomes engineering: categories, controls, retries,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read-tool warning: reading another user's record is harmful even though nothing changed. Read tools still need access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table against a tool from their own capstone. Blast radius and idempotency are the two rows teams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columns are required. A perfectly formed request can still be forbidden — that is the sentence students must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Repeating a read is usually safe. Repeating a payment is not. The idempotency key is the mechanism that makes a retried write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confirmation lines out loud. A generic Continue? is weak; a preview with target, amount and action is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error should help the system decide what to do next. Raw exceptions, SQL errors, secrets and internal hostnames never reach the model or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flows, then read the bottom rule. Parallelism is an optimisation, not a default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Say clearly that these patterns are not competing products — a real system combines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agent is used too broadly. Anchor the distinction on control of the sequence and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Climb the ladder with a finger and say what each step costs. An agent is not automatically more advanced — it is appropriate only when dynamic decisions create measurable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components. Say that a prompt and a tool list is not an agent — the missing four are what make it controllable.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all eight. Without explicit stopping conditions an agent can loop, repeat calls, and spend resources without improving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six-step example. Note step 4: asking the user is a legitimate action, not a failure of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patterns, one slide. Both share the same weakness: unbounded iteration. Bound the plan revisions and bound the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is cheap and high-leverage; hierarchical orchestration is expensive. Use the second only when a single controlled agent is genuinely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firmly: Human-in-the-Loop is not a failure of automation, it is a deliberate control for decisions that should not be delegated.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output of section five. Tell them to place their capstone task in one row before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marker. Last block. Control is designed into the loop, not added after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control on the slide deck. State-based tool exposure beats a prompt that merely says do not submit too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no single guardrail is sufficient — different risks need different layers. Then read the closing line about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line by line. Every guard in it maps to a real failure the students will meet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controls, nine named failures. Ask which of these nine their capstone currently has none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as one story, then read the control panel. Note the last line: if a future tool saves the plan, that write must be separate and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right-hand list twice — the privacy side is where teams get into trouble. Then state the distinction from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last four rows. Real systems fail at boundaries, permissions, dependencies and ambiguous requests — not on happy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families. False-success rate is the single most important number in this deck — it measures the system claiming an action succeeded when it never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Stage-by-stage evaluation prevents the team from blaming the model for every system failure. That sentence is the point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fifteen. Pick the four most relevant to the projects in the room and discuss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two is the bridge to Day 5: a tool result is data to validate, never higher-priority instructions. Prompt injection through external content lives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pairs are the vocabulary test. Cover the right column and ask the room to complete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objectives slide mentally and check each one. Ask four oral questions: what are the five stages, who executes, when do you use an agent, what stops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questions, ten minutes. Drop the QR image into the placeholder before the session. Answers are discussed straight after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what changes tomorrow: today the loop had to be correct, tomorrow it has to survive production. Remind them of the start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67F390-FE9E-02D1-0F80-71B64BAC8E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855075" y="63500"/>
            <a:ext cx="603314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 - عام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46B46-8F27-688D-CF2F-D88CFD761B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55075" y="10071101"/>
            <a:ext cx="603314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 - عام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3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2" indent="-342912" algn="l" defTabSz="91443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75" indent="-285759" algn="l" defTabSz="91443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8" indent="-228608" algn="l" defTabSz="91443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4" indent="-228608" algn="l" defTabSz="91443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70" indent="-228608" algn="l" defTabSz="91443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84" indent="-228608" algn="l" defTabSz="91443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00" indent="-228608" algn="l" defTabSz="91443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16" indent="-228608" algn="l" defTabSz="91443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31" indent="-228608" algn="l" defTabSz="91443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2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7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2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8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3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4" y="914306"/>
            <a:ext cx="247551" cy="247551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374" y="914306"/>
            <a:ext cx="247551" cy="247551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4992" y="914306"/>
            <a:ext cx="247551" cy="247551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8611" y="914306"/>
            <a:ext cx="247551" cy="247551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42228" y="914306"/>
            <a:ext cx="247551" cy="247551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65847" y="914306"/>
            <a:ext cx="247551" cy="247551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2" y="914301"/>
            <a:ext cx="2667000" cy="12493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7755" y="4233500"/>
            <a:ext cx="17811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ACADEMY · ADVANCED TRAINING PROGRAM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47755" y="4843033"/>
            <a:ext cx="17811751" cy="1048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2327"/>
              </a:lnSpc>
            </a:pPr>
            <a:r>
              <a:rPr lang="en-US" sz="7800" b="1" kern="0" spc="-234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</a:t>
            </a:r>
            <a:endParaRPr lang="en-US" sz="7800" dirty="0"/>
          </a:p>
        </p:txBody>
      </p:sp>
      <p:sp>
        <p:nvSpPr>
          <p:cNvPr id="11" name="Text 8"/>
          <p:cNvSpPr/>
          <p:nvPr/>
        </p:nvSpPr>
        <p:spPr>
          <a:xfrm>
            <a:off x="1047751" y="6177034"/>
            <a:ext cx="12363450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1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Tools and Controlled Agent Patterns</a:t>
            </a:r>
            <a:endParaRPr lang="en-US" sz="3150" dirty="0"/>
          </a:p>
        </p:txBody>
      </p:sp>
      <p:sp>
        <p:nvSpPr>
          <p:cNvPr id="12" name="Shape 9"/>
          <p:cNvSpPr/>
          <p:nvPr/>
        </p:nvSpPr>
        <p:spPr>
          <a:xfrm>
            <a:off x="1047754" y="8765320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47755" y="9137717"/>
            <a:ext cx="333242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days · 30 training hours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610531" y="9137717"/>
            <a:ext cx="22859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August 2026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221973" y="9137717"/>
            <a:ext cx="364202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Hussain Mohsen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22" y="819056"/>
            <a:ext cx="21229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 2 to Day 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4" y="2380759"/>
            <a:ext cx="7943255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you established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5" y="3739560"/>
            <a:ext cx="722114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3199805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49917" y="3189226"/>
            <a:ext cx="6798734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gives the model selected external knowledge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047755" y="4490977"/>
            <a:ext cx="722114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3951222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449917" y="3940643"/>
            <a:ext cx="7346984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improves evidence, but guarantees nothing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47750" y="4702638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49921" y="4692060"/>
            <a:ext cx="5325881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helps a system </a:t>
            </a: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</a:t>
            </a: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</a:t>
            </a: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8935641" y="2380754"/>
            <a:ext cx="8304444" cy="273413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35645" y="2380754"/>
            <a:ext cx="52917" cy="2734138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45630" y="2799793"/>
            <a:ext cx="807113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kern="0" spc="22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ENGINEERING QUESTION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445625" y="3284477"/>
            <a:ext cx="7557514" cy="144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2851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 solution use external capabilities to complete a task, while the application remains in control?</a:t>
            </a:r>
            <a:endParaRPr lang="en-US" sz="2851" dirty="0"/>
          </a:p>
        </p:txBody>
      </p:sp>
      <p:sp>
        <p:nvSpPr>
          <p:cNvPr id="18" name="Shape 16"/>
          <p:cNvSpPr/>
          <p:nvPr/>
        </p:nvSpPr>
        <p:spPr>
          <a:xfrm>
            <a:off x="1047754" y="5775694"/>
            <a:ext cx="3101413" cy="111521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47754" y="5775693"/>
            <a:ext cx="3101413" cy="42333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57272" y="6027544"/>
            <a:ext cx="295061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DONE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57272" y="6347028"/>
            <a:ext cx="295061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320485" y="5775694"/>
            <a:ext cx="3101413" cy="111521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20485" y="5775693"/>
            <a:ext cx="3101413" cy="42333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30003" y="6027544"/>
            <a:ext cx="295061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DONE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30003" y="6347028"/>
            <a:ext cx="295061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data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7593216" y="5775694"/>
            <a:ext cx="3101413" cy="1115219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93216" y="5775693"/>
            <a:ext cx="3101413" cy="4233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02733" y="6027544"/>
            <a:ext cx="295061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9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TODAY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802733" y="6347028"/>
            <a:ext cx="295061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agents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0865945" y="5775694"/>
            <a:ext cx="3101413" cy="111521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865945" y="5775693"/>
            <a:ext cx="3101413" cy="42333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075464" y="6027544"/>
            <a:ext cx="295061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075464" y="6347028"/>
            <a:ext cx="295061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4138677" y="5775694"/>
            <a:ext cx="3101413" cy="111521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138677" y="5775693"/>
            <a:ext cx="3101413" cy="42333"/>
          </a:xfrm>
          <a:prstGeom prst="rect">
            <a:avLst/>
          </a:prstGeom>
          <a:solidFill>
            <a:srgbClr val="D9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348194" y="6027544"/>
            <a:ext cx="295061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98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348194" y="6347028"/>
            <a:ext cx="295061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capstone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22" y="819056"/>
            <a:ext cx="21229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Day 3 You Can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3609252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670804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92630" y="2628470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model alone cannot reach live data or change systems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768" y="3609252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767" y="2670804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3647" y="2628470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tool as a capability exposed through the application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1" y="5038664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4100216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92631" y="4057883"/>
            <a:ext cx="615607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five-stage tool-calling lifecycle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48768" y="5038664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767" y="4100216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93647" y="4057882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model's request from the application's execution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1" y="6468075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5529627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92630" y="5487294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tool contract with a clear name, description and schema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448768" y="6468075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767" y="5529627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93643" y="5487294"/>
            <a:ext cx="7352804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schema constraints to reduce invalid arguments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7751" y="7897486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7750" y="6959038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592630" y="6916705"/>
            <a:ext cx="7887775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read, compute, write and orchestration tools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448768" y="7897486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48767" y="6959038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993647" y="6916706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when calls may run in parallel and when they must not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047751" y="9326898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0" y="8388450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592630" y="8346116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a deterministic workflow from an agentic loop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448768" y="9326898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48767" y="8388450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1C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993647" y="8346116"/>
            <a:ext cx="7464005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ReAct, Plan-and-Execute, Reflection, Routing and Hierarchical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047750" y="9817862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592626" y="9775529"/>
            <a:ext cx="7929612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step limits, budgets, validation and approval gates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9448767" y="9817862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993648" y="9775529"/>
            <a:ext cx="757217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and evaluate a tool-using system stage by stage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047750" y="10370675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7750" y="10705042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986085" y="10715625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22" y="819056"/>
            <a:ext cx="21229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Map for Today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418958"/>
            <a:ext cx="5207000" cy="27854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418957"/>
            <a:ext cx="5207000" cy="4233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534" y="2823104"/>
            <a:ext cx="50153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301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1" dirty="0"/>
          </a:p>
        </p:txBody>
      </p:sp>
      <p:sp>
        <p:nvSpPr>
          <p:cNvPr id="8" name="Text 6"/>
          <p:cNvSpPr/>
          <p:nvPr/>
        </p:nvSpPr>
        <p:spPr>
          <a:xfrm>
            <a:off x="1371534" y="3451660"/>
            <a:ext cx="501537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model needs tools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371539" y="3981158"/>
            <a:ext cx="4696215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boundaries of a model, and what a tool actually adds.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40500" y="2418958"/>
            <a:ext cx="5207000" cy="27854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40500" y="2418957"/>
            <a:ext cx="5207000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64284" y="2823104"/>
            <a:ext cx="50153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301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1" dirty="0"/>
          </a:p>
        </p:txBody>
      </p:sp>
      <p:sp>
        <p:nvSpPr>
          <p:cNvPr id="13" name="Text 11"/>
          <p:cNvSpPr/>
          <p:nvPr/>
        </p:nvSpPr>
        <p:spPr>
          <a:xfrm>
            <a:off x="6864284" y="3451660"/>
            <a:ext cx="501537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864289" y="3981158"/>
            <a:ext cx="4696215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five-stage lifecycle and the control boundary inside it.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033250" y="2418958"/>
            <a:ext cx="5207000" cy="27854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033250" y="2418957"/>
            <a:ext cx="5207000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57034" y="2823104"/>
            <a:ext cx="50153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301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1" dirty="0"/>
          </a:p>
        </p:txBody>
      </p:sp>
      <p:sp>
        <p:nvSpPr>
          <p:cNvPr id="18" name="Text 16"/>
          <p:cNvSpPr/>
          <p:nvPr/>
        </p:nvSpPr>
        <p:spPr>
          <a:xfrm>
            <a:off x="12357034" y="3451660"/>
            <a:ext cx="501537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tool contracts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12357039" y="3981158"/>
            <a:ext cx="4696215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descriptions, schemas, formats and output shapes.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490109"/>
            <a:ext cx="5207000" cy="27854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0" y="5490108"/>
            <a:ext cx="5207000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71534" y="5894255"/>
            <a:ext cx="50153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301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1" dirty="0"/>
          </a:p>
        </p:txBody>
      </p:sp>
      <p:sp>
        <p:nvSpPr>
          <p:cNvPr id="23" name="Text 21"/>
          <p:cNvSpPr/>
          <p:nvPr/>
        </p:nvSpPr>
        <p:spPr>
          <a:xfrm>
            <a:off x="1371534" y="6522812"/>
            <a:ext cx="501537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Categories, risk, execution</a:t>
            </a:r>
            <a:endParaRPr lang="en-US" sz="2475" dirty="0"/>
          </a:p>
        </p:txBody>
      </p:sp>
      <p:sp>
        <p:nvSpPr>
          <p:cNvPr id="24" name="Text 22"/>
          <p:cNvSpPr/>
          <p:nvPr/>
        </p:nvSpPr>
        <p:spPr>
          <a:xfrm>
            <a:off x="1371539" y="7052309"/>
            <a:ext cx="4696215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authorization, retries, confirmation and errors.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540500" y="5490109"/>
            <a:ext cx="5207000" cy="27854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40500" y="5490108"/>
            <a:ext cx="5207000" cy="42333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4284" y="5894255"/>
            <a:ext cx="50153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301" b="1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1" dirty="0"/>
          </a:p>
        </p:txBody>
      </p:sp>
      <p:sp>
        <p:nvSpPr>
          <p:cNvPr id="28" name="Text 26"/>
          <p:cNvSpPr/>
          <p:nvPr/>
        </p:nvSpPr>
        <p:spPr>
          <a:xfrm>
            <a:off x="6864284" y="6522812"/>
            <a:ext cx="501537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agents, patterns</a:t>
            </a:r>
            <a:endParaRPr lang="en-US" sz="2475" dirty="0"/>
          </a:p>
        </p:txBody>
      </p:sp>
      <p:sp>
        <p:nvSpPr>
          <p:cNvPr id="29" name="Text 27"/>
          <p:cNvSpPr/>
          <p:nvPr/>
        </p:nvSpPr>
        <p:spPr>
          <a:xfrm>
            <a:off x="6864289" y="7052309"/>
            <a:ext cx="4696215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Plan-and-Execute, Reflection, Routing, Hierarchical, HITL.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033250" y="5490109"/>
            <a:ext cx="5207000" cy="27854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033250" y="5490108"/>
            <a:ext cx="5207000" cy="4233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357034" y="5894255"/>
            <a:ext cx="501537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301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1" dirty="0"/>
          </a:p>
        </p:txBody>
      </p:sp>
      <p:sp>
        <p:nvSpPr>
          <p:cNvPr id="33" name="Text 31"/>
          <p:cNvSpPr/>
          <p:nvPr/>
        </p:nvSpPr>
        <p:spPr>
          <a:xfrm>
            <a:off x="12357034" y="6522812"/>
            <a:ext cx="501537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tracing, evaluation</a:t>
            </a:r>
            <a:endParaRPr lang="en-US" sz="2475" dirty="0"/>
          </a:p>
        </p:txBody>
      </p:sp>
      <p:sp>
        <p:nvSpPr>
          <p:cNvPr id="34" name="Text 32"/>
          <p:cNvSpPr/>
          <p:nvPr/>
        </p:nvSpPr>
        <p:spPr>
          <a:xfrm>
            <a:off x="12357039" y="7052309"/>
            <a:ext cx="4696215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Limits, guardrails, traces, metrics and common mistakes.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2201"/>
            <a:ext cx="2330880" cy="1600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58110"/>
              </a:lnSpc>
            </a:pPr>
            <a:r>
              <a:rPr lang="en-US" sz="15001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3776266" y="3875485"/>
            <a:ext cx="10896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266" y="4446986"/>
            <a:ext cx="10896600" cy="890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3850"/>
              </a:lnSpc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Model Needs Tools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266" y="5584698"/>
            <a:ext cx="10203180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95"/>
              </a:lnSpc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interprets language. A tool gives it a defined capability. The application keeps control.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85666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Knowledge Systems to Action Systems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803100"/>
            <a:ext cx="5505318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342725"/>
            <a:ext cx="540377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53072" y="2803100"/>
            <a:ext cx="10687183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19768" y="2342725"/>
            <a:ext cx="1074109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CAPABILITY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47750" y="3592550"/>
            <a:ext cx="550531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3023233"/>
            <a:ext cx="5403778" cy="397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call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6553072" y="3592550"/>
            <a:ext cx="10687183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19768" y="3023233"/>
            <a:ext cx="10741098" cy="397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or transform text from supplied context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047750" y="4382001"/>
            <a:ext cx="550531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3812684"/>
            <a:ext cx="5403778" cy="397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6553072" y="4382001"/>
            <a:ext cx="10687183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9768" y="3812684"/>
            <a:ext cx="10741098" cy="397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external evidence before generating an answer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47750" y="5171452"/>
            <a:ext cx="550531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4602135"/>
            <a:ext cx="5403778" cy="397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Tool-using workflow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6553072" y="5171452"/>
            <a:ext cx="10687183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9768" y="4602135"/>
            <a:ext cx="10741098" cy="397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specific external capabilities in a controlled sequence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047750" y="5391585"/>
            <a:ext cx="5403778" cy="40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6819768" y="5391585"/>
            <a:ext cx="10741098" cy="40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dynamically which steps and tools reach the goal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1047751" y="6366206"/>
            <a:ext cx="7169712" cy="171301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47754" y="6366206"/>
            <a:ext cx="52917" cy="1713012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24456" y="6651956"/>
            <a:ext cx="711615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CAN ANSWER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424455" y="7020227"/>
            <a:ext cx="6663305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approved travel allowance in the current policy?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8636497" y="6366206"/>
            <a:ext cx="8603754" cy="1713012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36502" y="6366206"/>
            <a:ext cx="52917" cy="1713012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13202" y="6651956"/>
            <a:ext cx="869359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TOOL-USING SYSTEM CAN GO FURTHER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013197" y="7020227"/>
            <a:ext cx="8140368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my remaining travel budget, calculate the trip cost, and prepare a request for approval.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85666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Day 3 Principle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4" y="2361737"/>
            <a:ext cx="16192501" cy="2346854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7284" y="2895043"/>
            <a:ext cx="15422636" cy="1318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2508"/>
              </a:lnSpc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proposes. The application validates, authorizes, executes, and records.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047755" y="5146647"/>
            <a:ext cx="3890863" cy="16465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5" y="5146642"/>
            <a:ext cx="3890863" cy="317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14323" y="5444960"/>
            <a:ext cx="369350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314319" y="5794215"/>
            <a:ext cx="3458460" cy="73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161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arguments match the declared schema?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148136" y="5146647"/>
            <a:ext cx="3891029" cy="16465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48136" y="5146642"/>
            <a:ext cx="3891029" cy="317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14703" y="5444960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5414698" y="5794215"/>
            <a:ext cx="3458630" cy="73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161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this authenticated user do this, to this record?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248681" y="5146647"/>
            <a:ext cx="3891029" cy="16465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48681" y="5146642"/>
            <a:ext cx="3891029" cy="317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15249" y="5444960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9515244" y="5794215"/>
            <a:ext cx="3458630" cy="73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161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code calls the real function or API.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3349227" y="5146647"/>
            <a:ext cx="3891029" cy="16465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349227" y="5146642"/>
            <a:ext cx="3891029" cy="317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615795" y="5444960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3615790" y="5794215"/>
            <a:ext cx="3458630" cy="73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161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call, the result and the decision are traceable.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4" y="7193199"/>
            <a:ext cx="16192501" cy="177998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47754" y="7193199"/>
            <a:ext cx="52917" cy="17799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81672" y="7497967"/>
            <a:ext cx="1691534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CORRECTING A COMMON MISCONCEPTION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81667" y="7868378"/>
            <a:ext cx="15838912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935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 does not mean the model enters a database, runs arbitrary code, or controls an external service. The application exposes selected capabilities under selected conditions.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4" y="8973184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1" y="9307551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986089" y="9318134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85666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Boundaries of a Language Model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4730754"/>
            <a:ext cx="7972392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342724"/>
            <a:ext cx="7972392" cy="42333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4" y="2342725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09563" y="2342725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01134" y="2708842"/>
            <a:ext cx="79921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1134" y="3138460"/>
            <a:ext cx="799218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know live information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401139" y="3648940"/>
            <a:ext cx="748359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weather, an inventory balance, a ticket status, a private account, a policy published last week.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267693" y="4730754"/>
            <a:ext cx="7972558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67693" y="2342724"/>
            <a:ext cx="7972558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67697" y="2342725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29672" y="2342725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21082" y="2708842"/>
            <a:ext cx="799236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21082" y="3138460"/>
            <a:ext cx="7992369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an action does not perform it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9621082" y="3648940"/>
            <a:ext cx="748376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can write "your appointment has been booked" with no booking anywhere. Real effects need real calls.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47750" y="7376918"/>
            <a:ext cx="7972392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47750" y="4988888"/>
            <a:ext cx="7972392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4" y="4988889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9563" y="4988889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01134" y="5355006"/>
            <a:ext cx="79921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01134" y="5784624"/>
            <a:ext cx="7992186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calculation engine</a:t>
            </a:r>
            <a:endParaRPr lang="en-US" sz="2475" dirty="0"/>
          </a:p>
        </p:txBody>
      </p:sp>
      <p:sp>
        <p:nvSpPr>
          <p:cNvPr id="25" name="Text 23"/>
          <p:cNvSpPr/>
          <p:nvPr/>
        </p:nvSpPr>
        <p:spPr>
          <a:xfrm>
            <a:off x="1401139" y="6295104"/>
            <a:ext cx="748359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arithmetic is not a substitute for deterministic calculation when exactness matters.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267693" y="7376918"/>
            <a:ext cx="7972558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67693" y="4988888"/>
            <a:ext cx="7972558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67697" y="4988889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229672" y="4988889"/>
            <a:ext cx="10583" cy="239861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21082" y="5355006"/>
            <a:ext cx="799236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621082" y="5784624"/>
            <a:ext cx="7992369" cy="41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824"/>
              </a:lnSpc>
            </a:pPr>
            <a:r>
              <a:rPr lang="en-US" sz="24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output is probabilistic</a:t>
            </a:r>
            <a:endParaRPr lang="en-US" sz="2475" dirty="0"/>
          </a:p>
        </p:txBody>
      </p:sp>
      <p:sp>
        <p:nvSpPr>
          <p:cNvPr id="32" name="Text 30"/>
          <p:cNvSpPr/>
          <p:nvPr/>
        </p:nvSpPr>
        <p:spPr>
          <a:xfrm>
            <a:off x="9621082" y="6295104"/>
            <a:ext cx="748376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decision may be expressed differently across runs. A tool contract makes part of it structured.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047754" y="7768498"/>
            <a:ext cx="16192501" cy="13715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7754" y="7768498"/>
            <a:ext cx="52917" cy="1371534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81667" y="8054248"/>
            <a:ext cx="15838912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935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are defects. They define where the application must supply capability instead of expecting the model to invent it.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047754" y="9140036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7751" y="9474403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6986089" y="9484987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85666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a Tool Can Provide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2361737"/>
            <a:ext cx="3876642" cy="34331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1" y="2361741"/>
            <a:ext cx="3876642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52522" y="2746871"/>
            <a:ext cx="359381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52522" y="3248427"/>
            <a:ext cx="3365121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current or private information.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52522" y="5128121"/>
            <a:ext cx="35938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search_documents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5152926" y="2361737"/>
            <a:ext cx="3876808" cy="34331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52926" y="2361741"/>
            <a:ext cx="3876808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57698" y="2746871"/>
            <a:ext cx="35940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57693" y="3248427"/>
            <a:ext cx="3365292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Calculate, transform or validate data exactly.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5457698" y="5128121"/>
            <a:ext cx="3594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calculate_total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258268" y="2361737"/>
            <a:ext cx="3876642" cy="34331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58268" y="2361741"/>
            <a:ext cx="3876642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63039" y="2746871"/>
            <a:ext cx="359381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63039" y="3248427"/>
            <a:ext cx="3365121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update, send, reserve or submit.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563039" y="5128121"/>
            <a:ext cx="35938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create_support_ticket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3363444" y="2361737"/>
            <a:ext cx="3876808" cy="34331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363444" y="2361741"/>
            <a:ext cx="3876808" cy="42333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668215" y="2746871"/>
            <a:ext cx="359400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668210" y="3248422"/>
            <a:ext cx="3365292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a bounded subtask to a specialised component.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3668215" y="5128121"/>
            <a:ext cx="3594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draft_with_worker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47750" y="6251943"/>
            <a:ext cx="5245034" cy="1212453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63105" y="6529091"/>
            <a:ext cx="50757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SUPPLIES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1363105" y="6859162"/>
            <a:ext cx="5075767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interpretation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6521318" y="6251943"/>
            <a:ext cx="5245200" cy="1212453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36673" y="6529091"/>
            <a:ext cx="507594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SUPPLIES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6836673" y="6859162"/>
            <a:ext cx="507594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defined capability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11995052" y="6251943"/>
            <a:ext cx="5245034" cy="1212453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310407" y="6529091"/>
            <a:ext cx="50757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SUPPLIES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12310407" y="6859162"/>
            <a:ext cx="5075767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2175" dirty="0"/>
          </a:p>
        </p:txBody>
      </p:sp>
      <p:sp>
        <p:nvSpPr>
          <p:cNvPr id="34" name="Shape 32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85666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Give Capability, Not Authority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5" y="2342720"/>
            <a:ext cx="14912341" cy="894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6422"/>
              </a:lnSpc>
            </a:pPr>
            <a:r>
              <a:rPr lang="en-US" sz="23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may make an operation technically possible. Whether a particular user may perform it on a particular record is decided by trusted application logic.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047755" y="3579983"/>
            <a:ext cx="840237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THIS ARGUMENT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47754" y="4045650"/>
            <a:ext cx="7638521" cy="2260699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0552" y="4350417"/>
            <a:ext cx="764821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90552" y="4767962"/>
            <a:ext cx="764821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"booking_id": "BK-2048",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90552" y="5185508"/>
            <a:ext cx="764821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"is_admin": </a:t>
            </a:r>
            <a:r>
              <a:rPr lang="en-US" sz="202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390552" y="5603053"/>
            <a:ext cx="764821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047754" y="6496849"/>
            <a:ext cx="7867677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claim is not authentication context. The model can write anything here.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219577" y="3579983"/>
            <a:ext cx="882274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THESE FROM TRUSTED STATE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219577" y="4824517"/>
            <a:ext cx="802067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19577" y="4305929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09952" y="4274183"/>
            <a:ext cx="5687136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— from the authenticated session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219577" y="5575934"/>
            <a:ext cx="802067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19577" y="5057346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09957" y="5025601"/>
            <a:ext cx="5414103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— from the organisation's directory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219577" y="6327349"/>
            <a:ext cx="802067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19577" y="5808762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509952" y="5777017"/>
            <a:ext cx="5903780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— from a trusted policy check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219577" y="6560179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09956" y="6528434"/>
            <a:ext cx="6205555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— from the record, not the request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9219577" y="7364350"/>
            <a:ext cx="8020679" cy="1215099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24344" y="7611903"/>
            <a:ext cx="7633479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may choose the target and the intent. It must not decide its own privileges.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2201"/>
            <a:ext cx="2330880" cy="1600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58110"/>
              </a:lnSpc>
            </a:pPr>
            <a:r>
              <a:rPr lang="en-US" sz="15001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3776271" y="3875485"/>
            <a:ext cx="110395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271" y="4446986"/>
            <a:ext cx="11039575" cy="890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3850"/>
              </a:lnSpc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Function Calling Means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266" y="5584698"/>
            <a:ext cx="10203180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95"/>
              </a:lnSpc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request from the model to the application — and five stages around it.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087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Request for a Capability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5" y="2342720"/>
            <a:ext cx="859155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definition communicates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5" y="3612393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5" y="3208243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8025" y="3091822"/>
            <a:ext cx="209859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tool's name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5" y="4314862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5" y="3910712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8025" y="3794290"/>
            <a:ext cx="24745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tool does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5" y="5017331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5" y="4613181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8030" y="4496759"/>
            <a:ext cx="509686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should and should not be used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5" y="5719800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5" y="5315650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8030" y="5199228"/>
            <a:ext cx="304593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inputs it accepts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5" y="6422269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5" y="6018118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8030" y="5901697"/>
            <a:ext cx="338463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inputs are required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5" y="6720587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8026" y="6604165"/>
            <a:ext cx="457408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values and formats are valid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29756" y="2342725"/>
            <a:ext cx="85915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RETURNS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429756" y="2827404"/>
            <a:ext cx="7810501" cy="3133824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91569" y="3151193"/>
            <a:ext cx="779555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791569" y="3568737"/>
            <a:ext cx="779555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</a:t>
            </a:r>
            <a:r>
              <a:rPr lang="en-US" sz="202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"get_order_status"</a:t>
            </a: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791569" y="3986284"/>
            <a:ext cx="779555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"arguments": {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791569" y="4403829"/>
            <a:ext cx="779555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"order_id": </a:t>
            </a:r>
            <a:r>
              <a:rPr lang="en-US" sz="202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"ORD-1042"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791569" y="4821375"/>
            <a:ext cx="779555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9791569" y="5238920"/>
            <a:ext cx="7795552" cy="436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9500"/>
              </a:lnSpc>
            </a:pPr>
            <a:r>
              <a:rPr lang="en-US" sz="202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429756" y="6170745"/>
            <a:ext cx="7810501" cy="1316964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429756" y="6170745"/>
            <a:ext cx="52917" cy="1316964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06451" y="6437313"/>
            <a:ext cx="7323316" cy="8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to use a capability </a:t>
            </a: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not proof that the capability ran successfully.</a:t>
            </a:r>
            <a:endParaRPr lang="en-US" sz="2175" dirty="0"/>
          </a:p>
        </p:txBody>
      </p:sp>
      <p:sp>
        <p:nvSpPr>
          <p:cNvPr id="34" name="Shape 32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087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Objects Not to Confuse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5" y="5851926"/>
            <a:ext cx="389086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5" y="2361741"/>
            <a:ext cx="3890863" cy="42333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4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28035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44083" y="2727855"/>
            <a:ext cx="36280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344083" y="3146888"/>
            <a:ext cx="3628016" cy="392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625"/>
              </a:lnSpc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344088" y="3634553"/>
            <a:ext cx="339714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presented to the model.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44083" y="5183193"/>
            <a:ext cx="3628016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you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5148136" y="5851926"/>
            <a:ext cx="389102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48136" y="2361741"/>
            <a:ext cx="3891029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48135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28581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4464" y="2727855"/>
            <a:ext cx="3628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5444464" y="3146888"/>
            <a:ext cx="3628198" cy="392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625"/>
              </a:lnSpc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5444469" y="3634553"/>
            <a:ext cx="339731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structured request to use the tool.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5444464" y="5183193"/>
            <a:ext cx="362819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by the model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248681" y="5851926"/>
            <a:ext cx="389102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48681" y="2361741"/>
            <a:ext cx="3891029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48681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129126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45011" y="2727855"/>
            <a:ext cx="3628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9545011" y="3146888"/>
            <a:ext cx="3628198" cy="392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625"/>
              </a:lnSpc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2325" dirty="0"/>
          </a:p>
        </p:txBody>
      </p:sp>
      <p:sp>
        <p:nvSpPr>
          <p:cNvPr id="27" name="Text 25"/>
          <p:cNvSpPr/>
          <p:nvPr/>
        </p:nvSpPr>
        <p:spPr>
          <a:xfrm>
            <a:off x="9545015" y="3634548"/>
            <a:ext cx="3397313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operation performed by application code.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545011" y="5183193"/>
            <a:ext cx="362819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Performed by your code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3349227" y="5851926"/>
            <a:ext cx="389102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349227" y="2361741"/>
            <a:ext cx="3891029" cy="4233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349227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7229672" y="2361737"/>
            <a:ext cx="10583" cy="350076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645555" y="2727855"/>
            <a:ext cx="3628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3645555" y="3146888"/>
            <a:ext cx="3628198" cy="3924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625"/>
              </a:lnSpc>
            </a:pPr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</a:t>
            </a:r>
            <a:endParaRPr lang="en-US" sz="2325" dirty="0"/>
          </a:p>
        </p:txBody>
      </p:sp>
      <p:sp>
        <p:nvSpPr>
          <p:cNvPr id="35" name="Text 33"/>
          <p:cNvSpPr/>
          <p:nvPr/>
        </p:nvSpPr>
        <p:spPr>
          <a:xfrm>
            <a:off x="13645559" y="3634553"/>
            <a:ext cx="339731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success data or error returned to the loop.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3645555" y="5183193"/>
            <a:ext cx="362819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to the model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047751" y="6300556"/>
            <a:ext cx="7943784" cy="123825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47754" y="6300556"/>
            <a:ext cx="52917" cy="12382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43472" y="6586307"/>
            <a:ext cx="792579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BOUNDARY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1443472" y="6935556"/>
            <a:ext cx="792579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"calculate_total" → trusted calculate_total()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296305" y="6300556"/>
            <a:ext cx="7943949" cy="123825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296306" y="6300556"/>
            <a:ext cx="52917" cy="12382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92019" y="6586307"/>
            <a:ext cx="79259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BOUNDARY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9692019" y="6935556"/>
            <a:ext cx="792597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 anything" → evaluate generated code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087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Five-Stage Tool-Calling Lifecycle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2168431"/>
            <a:ext cx="16459399" cy="1244203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5" y="2168431"/>
            <a:ext cx="52917" cy="124420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71989" y="2415978"/>
            <a:ext cx="609501" cy="78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1" dirty="0"/>
          </a:p>
        </p:txBody>
      </p:sp>
      <p:sp>
        <p:nvSpPr>
          <p:cNvPr id="8" name="Text 6"/>
          <p:cNvSpPr/>
          <p:nvPr/>
        </p:nvSpPr>
        <p:spPr>
          <a:xfrm>
            <a:off x="2052836" y="2415982"/>
            <a:ext cx="1467377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request and the available tools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2052836" y="2830715"/>
            <a:ext cx="14673776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user's request, relevant instructions and state, and only the tool definitions appropriate to this user, task and state.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497313" y="2652949"/>
            <a:ext cx="15716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14305" y="3564935"/>
            <a:ext cx="16459399" cy="1244203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305" y="3564935"/>
            <a:ext cx="52917" cy="124420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1989" y="3812482"/>
            <a:ext cx="609501" cy="78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1" dirty="0"/>
          </a:p>
        </p:txBody>
      </p:sp>
      <p:sp>
        <p:nvSpPr>
          <p:cNvPr id="14" name="Text 12"/>
          <p:cNvSpPr/>
          <p:nvPr/>
        </p:nvSpPr>
        <p:spPr>
          <a:xfrm>
            <a:off x="2052836" y="3812486"/>
            <a:ext cx="1467377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 model response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2052836" y="4227220"/>
            <a:ext cx="14673776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directly · request one tool call · request several · or ask the user for missing information.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497313" y="4049453"/>
            <a:ext cx="15716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14305" y="4961434"/>
            <a:ext cx="16459399" cy="204026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305" y="4961434"/>
            <a:ext cx="52917" cy="2040268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1989" y="5208989"/>
            <a:ext cx="609501" cy="158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1" dirty="0"/>
          </a:p>
        </p:txBody>
      </p:sp>
      <p:sp>
        <p:nvSpPr>
          <p:cNvPr id="20" name="Text 18"/>
          <p:cNvSpPr/>
          <p:nvPr/>
        </p:nvSpPr>
        <p:spPr>
          <a:xfrm>
            <a:off x="2052836" y="5208989"/>
            <a:ext cx="1467377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Validate, authorize and execute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2052836" y="5642901"/>
            <a:ext cx="2903306" cy="508000"/>
          </a:xfrm>
          <a:prstGeom prst="rect">
            <a:avLst/>
          </a:prstGeom>
          <a:solidFill>
            <a:srgbClr val="FFFFFF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34873" y="5748740"/>
            <a:ext cx="262633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tool allowed now?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51392" y="5642901"/>
            <a:ext cx="3850018" cy="508000"/>
          </a:xfrm>
          <a:prstGeom prst="rect">
            <a:avLst/>
          </a:prstGeom>
          <a:solidFill>
            <a:srgbClr val="FFFFFF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3427" y="5748740"/>
            <a:ext cx="360145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arguments match the schema?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996666" y="5642901"/>
            <a:ext cx="2679899" cy="508000"/>
          </a:xfrm>
          <a:prstGeom prst="rect">
            <a:avLst/>
          </a:prstGeom>
          <a:solidFill>
            <a:srgbClr val="FFFFFF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78699" y="5748740"/>
            <a:ext cx="239622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user permitted?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1771814" y="5642901"/>
            <a:ext cx="2952915" cy="508000"/>
          </a:xfrm>
          <a:prstGeom prst="rect">
            <a:avLst/>
          </a:prstGeom>
          <a:solidFill>
            <a:srgbClr val="FFFFFF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953843" y="5748740"/>
            <a:ext cx="267743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confirmation required?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052836" y="6246151"/>
            <a:ext cx="1734344" cy="508000"/>
          </a:xfrm>
          <a:prstGeom prst="rect">
            <a:avLst/>
          </a:prstGeom>
          <a:solidFill>
            <a:srgbClr val="FFFFFF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34874" y="6351989"/>
            <a:ext cx="144647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 replay?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882430" y="6246151"/>
            <a:ext cx="2370998" cy="508000"/>
          </a:xfrm>
          <a:prstGeom prst="rect">
            <a:avLst/>
          </a:prstGeom>
          <a:solidFill>
            <a:srgbClr val="FFFFFF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64468" y="6351989"/>
            <a:ext cx="208313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limits satisfied?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497313" y="5843990"/>
            <a:ext cx="15716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914305" y="7154008"/>
            <a:ext cx="16459399" cy="1244203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14305" y="7154008"/>
            <a:ext cx="52917" cy="124420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71989" y="7401553"/>
            <a:ext cx="609501" cy="78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51" dirty="0"/>
          </a:p>
        </p:txBody>
      </p:sp>
      <p:sp>
        <p:nvSpPr>
          <p:cNvPr id="37" name="Text 35"/>
          <p:cNvSpPr/>
          <p:nvPr/>
        </p:nvSpPr>
        <p:spPr>
          <a:xfrm>
            <a:off x="2052836" y="7401558"/>
            <a:ext cx="1467377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 structured result</a:t>
            </a:r>
            <a:endParaRPr lang="en-US" sz="2325" dirty="0"/>
          </a:p>
        </p:txBody>
      </p:sp>
      <p:sp>
        <p:nvSpPr>
          <p:cNvPr id="38" name="Text 36"/>
          <p:cNvSpPr/>
          <p:nvPr/>
        </p:nvSpPr>
        <p:spPr>
          <a:xfrm>
            <a:off x="2052836" y="7816292"/>
            <a:ext cx="14673776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information to proceed — never secrets, stack traces, access tokens or unnecessary personal data.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5497313" y="7638526"/>
            <a:ext cx="15716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914305" y="8550512"/>
            <a:ext cx="16459399" cy="1244203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4305" y="8550512"/>
            <a:ext cx="52917" cy="124420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71989" y="8798058"/>
            <a:ext cx="609501" cy="78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51" dirty="0"/>
          </a:p>
        </p:txBody>
      </p:sp>
      <p:sp>
        <p:nvSpPr>
          <p:cNvPr id="43" name="Text 41"/>
          <p:cNvSpPr/>
          <p:nvPr/>
        </p:nvSpPr>
        <p:spPr>
          <a:xfrm>
            <a:off x="2052836" y="8798063"/>
            <a:ext cx="1467377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answer, or another tool call</a:t>
            </a:r>
            <a:endParaRPr lang="en-US" sz="2325" dirty="0"/>
          </a:p>
        </p:txBody>
      </p:sp>
      <p:sp>
        <p:nvSpPr>
          <p:cNvPr id="44" name="Text 42"/>
          <p:cNvSpPr/>
          <p:nvPr/>
        </p:nvSpPr>
        <p:spPr>
          <a:xfrm>
            <a:off x="2052836" y="9212796"/>
            <a:ext cx="14673776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request another needed tool · explain a recoverable problem · ask for missing information · stop.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5497313" y="9035030"/>
            <a:ext cx="15716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b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914305" y="979471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302" y="10052850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119538" y="10063433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087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Stage 4 Sends Back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302" y="2168431"/>
            <a:ext cx="886403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914302" y="2614915"/>
            <a:ext cx="8058216" cy="2881147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8086" y="2900661"/>
            <a:ext cx="81517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38086" y="3288772"/>
            <a:ext cx="81517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 </a:t>
            </a:r>
            <a:r>
              <a:rPr lang="en-US" sz="18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38086" y="3676882"/>
            <a:ext cx="81517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"order_id": </a:t>
            </a:r>
            <a:r>
              <a:rPr lang="en-US" sz="18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"ORD-1042"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38086" y="4064992"/>
            <a:ext cx="81517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"delivery_state": </a:t>
            </a:r>
            <a:r>
              <a:rPr lang="en-US" sz="18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"out_for_delivery"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38086" y="4453103"/>
            <a:ext cx="81517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"estimated_arrival": </a:t>
            </a:r>
            <a:r>
              <a:rPr lang="en-US" sz="18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"2026-08-04"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38086" y="4841215"/>
            <a:ext cx="81517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315318" y="2168431"/>
            <a:ext cx="886422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315319" y="2614915"/>
            <a:ext cx="8058382" cy="2881147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39107" y="2900661"/>
            <a:ext cx="815189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639107" y="3288772"/>
            <a:ext cx="815189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 </a:t>
            </a:r>
            <a:r>
              <a:rPr lang="en-US" sz="18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639107" y="3676882"/>
            <a:ext cx="815189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"code": </a:t>
            </a:r>
            <a:r>
              <a:rPr lang="en-US" sz="18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"ORDER_NOT_FOUND"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639107" y="4064992"/>
            <a:ext cx="815189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"message": </a:t>
            </a:r>
            <a:r>
              <a:rPr lang="en-US" sz="18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visible order matched."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639107" y="4453103"/>
            <a:ext cx="815189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"retryable": </a:t>
            </a:r>
            <a:r>
              <a:rPr lang="en-US" sz="18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39107" y="4841215"/>
            <a:ext cx="815189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14301" y="5857876"/>
            <a:ext cx="8077234" cy="127992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305" y="5857876"/>
            <a:ext cx="52917" cy="1279922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91001" y="6124444"/>
            <a:ext cx="7598052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error </a:t>
            </a:r>
            <a:r>
              <a:rPr lang="en-US" sz="2100" dirty="0">
                <a:solidFill>
                  <a:srgbClr val="4A4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</a:t>
            </a: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loop branch. A free-text apology does not.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296306" y="5857876"/>
            <a:ext cx="8077399" cy="1279922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96306" y="5857876"/>
            <a:ext cx="52917" cy="1279922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73002" y="6124444"/>
            <a:ext cx="7598222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make the model infer success from an unstructured paragraph when the application already knows the outcome.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087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Lifecycle as a Control Loop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2342725"/>
            <a:ext cx="8678334" cy="709083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4088" y="2543809"/>
            <a:ext cx="834601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377330" y="3051809"/>
            <a:ext cx="19017" cy="209517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1" y="3261325"/>
            <a:ext cx="8678334" cy="709083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44088" y="3462409"/>
            <a:ext cx="834601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sends instructions + allowed tools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377330" y="3970409"/>
            <a:ext cx="19017" cy="209517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7751" y="4179926"/>
            <a:ext cx="8678334" cy="709083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44088" y="4381009"/>
            <a:ext cx="834601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answers or proposes a tool call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377330" y="4889009"/>
            <a:ext cx="19017" cy="209517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7751" y="5098526"/>
            <a:ext cx="8678334" cy="709083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44088" y="5299610"/>
            <a:ext cx="834601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validates, authorizes, executes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377330" y="5807609"/>
            <a:ext cx="19017" cy="209517"/>
          </a:xfrm>
          <a:prstGeom prst="rect">
            <a:avLst/>
          </a:prstGeom>
          <a:solidFill>
            <a:srgbClr val="C3CA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7751" y="6017126"/>
            <a:ext cx="8678334" cy="709083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44088" y="6218209"/>
            <a:ext cx="834601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result returns to the model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33500" y="6840475"/>
            <a:ext cx="26984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679443" y="6845764"/>
            <a:ext cx="441546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bounded tool call, if needed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1" y="7282827"/>
            <a:ext cx="8678334" cy="687917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33500" y="7473327"/>
            <a:ext cx="836718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answer or controlled stop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297584" y="2342720"/>
            <a:ext cx="763693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is part of the intelligence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297584" y="2920509"/>
            <a:ext cx="7636934" cy="411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passive messenger. It determines: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297589" y="3522431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92719" y="3522431"/>
            <a:ext cx="185122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tools exist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911798" y="3522431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4106923" y="3522431"/>
            <a:ext cx="247944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are visible now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297589" y="3973215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492719" y="3973215"/>
            <a:ext cx="291154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arguments are valid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911798" y="3973215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4106923" y="3973215"/>
            <a:ext cx="254195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user may do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0297589" y="4424000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492718" y="4424000"/>
            <a:ext cx="241561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approval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911798" y="4424000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4106928" y="4424000"/>
            <a:ext cx="230316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failures appear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0297589" y="4874784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92715" y="4874784"/>
            <a:ext cx="234913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loop stops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3911798" y="4874784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4106928" y="4874784"/>
            <a:ext cx="170239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logged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0297588" y="5496884"/>
            <a:ext cx="6942667" cy="130638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297589" y="5496884"/>
            <a:ext cx="52917" cy="130638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74286" y="5763457"/>
            <a:ext cx="6429448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model cannot compensate for weak orchestration around it.</a:t>
            </a:r>
            <a:endParaRPr lang="en-US" sz="2175" dirty="0"/>
          </a:p>
        </p:txBody>
      </p:sp>
      <p:sp>
        <p:nvSpPr>
          <p:cNvPr id="44" name="Shape 42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087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Does Not Make Every Answer Better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61742"/>
            <a:ext cx="85706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tool when it adds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4" y="2979709"/>
            <a:ext cx="28307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406922" y="2979709"/>
            <a:ext cx="441182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 model cannot have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047754" y="3521444"/>
            <a:ext cx="28307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406923" y="3521444"/>
            <a:ext cx="274215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exact calculation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47754" y="4063179"/>
            <a:ext cx="28307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406922" y="4063179"/>
            <a:ext cx="283783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external effect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47754" y="4604913"/>
            <a:ext cx="28307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406926" y="4604913"/>
            <a:ext cx="4054029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delegated subtask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448767" y="2361742"/>
            <a:ext cx="85706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the tool for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448772" y="2979709"/>
            <a:ext cx="3019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826791" y="2979709"/>
            <a:ext cx="138572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greeting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448772" y="3521444"/>
            <a:ext cx="3019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826795" y="3521444"/>
            <a:ext cx="373042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of supplied text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448772" y="4063179"/>
            <a:ext cx="3019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826791" y="4063179"/>
            <a:ext cx="173588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translation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448772" y="4604913"/>
            <a:ext cx="3019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826791" y="4604913"/>
            <a:ext cx="284875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rewrite or reformat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1047750" y="5394364"/>
            <a:ext cx="5245034" cy="119128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52517" y="5660927"/>
            <a:ext cx="50990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UNNECESSARY CALL ADDS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352517" y="5990999"/>
            <a:ext cx="5099050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6521318" y="5394364"/>
            <a:ext cx="5245200" cy="119128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26085" y="5660927"/>
            <a:ext cx="50992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ALSO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6826085" y="5990999"/>
            <a:ext cx="509923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11995052" y="5394364"/>
            <a:ext cx="5245034" cy="119128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2299819" y="5660927"/>
            <a:ext cx="50990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WORST OF ALL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12299819" y="5990999"/>
            <a:ext cx="5099050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failure opportunities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316222"/>
            <a:ext cx="2330880" cy="1600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58110"/>
              </a:lnSpc>
            </a:pPr>
            <a:r>
              <a:rPr lang="en-US" sz="15001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3776266" y="3449505"/>
            <a:ext cx="1236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270" y="4021010"/>
            <a:ext cx="11576685" cy="174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3850"/>
              </a:lnSpc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 Reliable Tool Contract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266" y="6010677"/>
            <a:ext cx="10203180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95"/>
              </a:lnSpc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between probabilistic model behaviour and deterministic application behaviour.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28674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CONTRACTS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Action, Describe the Boundary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5" y="2323708"/>
            <a:ext cx="78295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THAT REVEAL THE OPERATION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47750" y="2751171"/>
            <a:ext cx="7117788" cy="58406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2751171"/>
            <a:ext cx="31750" cy="584068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70001" y="2884521"/>
            <a:ext cx="6918572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search_course_materials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3430490"/>
            <a:ext cx="7117788" cy="58406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3430490"/>
            <a:ext cx="31750" cy="584068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70001" y="3563839"/>
            <a:ext cx="6918572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get_invoice_status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4109806"/>
            <a:ext cx="7117788" cy="58406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7750" y="4109806"/>
            <a:ext cx="31750" cy="584068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70001" y="4243156"/>
            <a:ext cx="6918572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calculate_shipping_cost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4789124"/>
            <a:ext cx="7117788" cy="58406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7750" y="4789124"/>
            <a:ext cx="31750" cy="584068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0001" y="4922474"/>
            <a:ext cx="6918572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create_support_ticket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5" y="5639764"/>
            <a:ext cx="78295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THAT HIDE MEANING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47755" y="6067227"/>
            <a:ext cx="1421143" cy="5840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8255" y="6200577"/>
            <a:ext cx="1116343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2564144" y="6067227"/>
            <a:ext cx="1272646" cy="5840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54644" y="6200577"/>
            <a:ext cx="967846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3932044" y="6067227"/>
            <a:ext cx="1718469" cy="5840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22543" y="6200577"/>
            <a:ext cx="1413669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data_tool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745763" y="6067227"/>
            <a:ext cx="1718469" cy="5840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36263" y="6200577"/>
            <a:ext cx="1413669" cy="35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do_action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698843" y="2323708"/>
            <a:ext cx="939537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DESCRIPTION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698843" y="2732159"/>
            <a:ext cx="8541247" cy="8169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84589" y="2960759"/>
            <a:ext cx="8225984" cy="397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data.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8698843" y="3796611"/>
            <a:ext cx="939537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DESCRIPTION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698843" y="4205061"/>
            <a:ext cx="8541247" cy="164703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14227" y="4463294"/>
            <a:ext cx="8166717" cy="1168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highlight>
                  <a:srgbClr val="F0F9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Search approved Day 1 to Day 5 course materials for passages relevant to a learner's factual question. Use for course-content questions. </a:t>
            </a:r>
            <a:r>
              <a:rPr lang="en-US" sz="210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</a:t>
            </a:r>
            <a:r>
              <a:rPr lang="en-US" sz="2100" dirty="0">
                <a:solidFill>
                  <a:srgbClr val="3A3E5B"/>
                </a:solidFill>
                <a:highlight>
                  <a:srgbClr val="F0F9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for live attendance, grades, or account data.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698843" y="6099643"/>
            <a:ext cx="8541247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98839" y="6300722"/>
            <a:ext cx="8797484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description states what the tool returns or changes, when to use it, </a:t>
            </a:r>
            <a:r>
              <a:rPr lang="en-US" sz="1950" b="1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not to</a:t>
            </a: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any preconditions.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28674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CONTRACTS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Narrow Input Schema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1" y="2149409"/>
            <a:ext cx="8176618" cy="5617932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57102" y="2435163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57102" y="2796981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</a:t>
            </a:r>
            <a:r>
              <a:rPr lang="en-US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57102" y="3158799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"properties": {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57102" y="3520616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"operation": {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7102" y="3882434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</a:t>
            </a:r>
            <a:r>
              <a:rPr lang="en-US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"string"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57102" y="4244253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"enum": [</a:t>
            </a: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"subtract"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57102" y="4606069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"multiply"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"divide"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57102" y="4967887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7102" y="5329706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"left": { "type": </a:t>
            </a:r>
            <a:r>
              <a:rPr lang="en-US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 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57102" y="5691523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"right": { "type": </a:t>
            </a:r>
            <a:r>
              <a:rPr lang="en-US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 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57102" y="6053340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57102" y="6415159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"required": [</a:t>
            </a: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"operation"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dirty="0">
                <a:solidFill>
                  <a:srgbClr val="9FC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"right"</a:t>
            </a: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57102" y="6776976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"additionalProperties": </a:t>
            </a:r>
            <a:r>
              <a:rPr lang="en-US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57102" y="7138793"/>
            <a:ext cx="8240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6186" y="2149409"/>
            <a:ext cx="856626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constraints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86190" y="2727193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781316" y="2727193"/>
            <a:ext cx="73187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613148" y="2727193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808275" y="2727193"/>
            <a:ext cx="17488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86190" y="3177977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781321" y="3177977"/>
            <a:ext cx="221667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Enumerated values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613148" y="3177977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808275" y="3177977"/>
            <a:ext cx="27616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and maximum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86190" y="3628761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781316" y="3628761"/>
            <a:ext cx="24620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and patterns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613148" y="3628761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808280" y="3628761"/>
            <a:ext cx="210456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length limits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586190" y="4079545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781316" y="4079545"/>
            <a:ext cx="22234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properties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613148" y="4079545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808275" y="4079545"/>
            <a:ext cx="26625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valid input set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86190" y="4682634"/>
            <a:ext cx="7787515" cy="162586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86189" y="4682634"/>
            <a:ext cx="52917" cy="162586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943869" y="4930185"/>
            <a:ext cx="7338816" cy="1168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reduces malformed arguments. It does </a:t>
            </a:r>
            <a:r>
              <a:rPr lang="en-US" sz="210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an action is authorized or sensible. Semantic and policy checks are still required.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586185" y="6537033"/>
            <a:ext cx="8021140" cy="65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structured output is provider-supported enforcement, subject to each provider's schema rules.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28674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CONTRACTS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Units and Identifiers Explicit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5" y="2353303"/>
            <a:ext cx="7571383" cy="18117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09568" y="2658070"/>
            <a:ext cx="753252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409568" y="3026341"/>
            <a:ext cx="7532522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6A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{"duration": 30}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09568" y="3542771"/>
            <a:ext cx="753252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 what?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961938" y="3036921"/>
            <a:ext cx="41900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70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647541" y="2342725"/>
            <a:ext cx="7592715" cy="18329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19938" y="2658070"/>
            <a:ext cx="753270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0019938" y="3026341"/>
            <a:ext cx="7532704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{"duration_minutes": 30}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19938" y="3542771"/>
            <a:ext cx="753270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interpretation needed.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1" y="4632693"/>
            <a:ext cx="3086034" cy="24022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05885" y="4909840"/>
            <a:ext cx="28267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05888" y="5259090"/>
            <a:ext cx="2646859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dates instead of informal date text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324285" y="4632693"/>
            <a:ext cx="3086034" cy="24022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82419" y="4909840"/>
            <a:ext cx="28267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4582422" y="5259090"/>
            <a:ext cx="2646859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codes such as </a:t>
            </a:r>
            <a:r>
              <a:rPr lang="en-US" sz="1950" dirty="0">
                <a:solidFill>
                  <a:srgbClr val="3A3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600822" y="4632693"/>
            <a:ext cx="3086199" cy="24022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58952" y="4909840"/>
            <a:ext cx="28269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7858956" y="5259090"/>
            <a:ext cx="2647029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identifiers instead of names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877517" y="4632693"/>
            <a:ext cx="3086034" cy="24022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135653" y="4909840"/>
            <a:ext cx="282674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1135653" y="5259094"/>
            <a:ext cx="2826742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time zones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4154055" y="4632693"/>
            <a:ext cx="3086199" cy="24022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412185" y="4909840"/>
            <a:ext cx="28269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4412189" y="5259090"/>
            <a:ext cx="2647029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Enumerated values, not free text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28674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CONTRACTS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Tools with Different Risk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1" y="2342725"/>
            <a:ext cx="74890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ONE BROAD TOOL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47750" y="2789209"/>
            <a:ext cx="6808226" cy="91016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4" y="2789209"/>
            <a:ext cx="52917" cy="910167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24517" y="3074959"/>
            <a:ext cx="631185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6A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manage_customer(action, payload)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47750" y="3870694"/>
            <a:ext cx="7012472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name covers reading, drafting, saving and closing. Permissions cannot distinguish them.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8389276" y="2342725"/>
            <a:ext cx="97358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DISTINCT CONTRACTS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389276" y="2789204"/>
            <a:ext cx="4358680" cy="69850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89276" y="2789204"/>
            <a:ext cx="31750" cy="6985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68676" y="2979704"/>
            <a:ext cx="396239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get_customer_summary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881245" y="2789204"/>
            <a:ext cx="4358845" cy="69850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881240" y="2789204"/>
            <a:ext cx="31750" cy="69850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160645" y="2979704"/>
            <a:ext cx="396256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draft_customer_note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389276" y="3620989"/>
            <a:ext cx="4358680" cy="69850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89276" y="3620989"/>
            <a:ext cx="31750" cy="69850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68676" y="3811489"/>
            <a:ext cx="396239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save_customer_note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881245" y="3620989"/>
            <a:ext cx="4358845" cy="69850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881240" y="3620989"/>
            <a:ext cx="31750" cy="698500"/>
          </a:xfrm>
          <a:prstGeom prst="rect">
            <a:avLst/>
          </a:prstGeom>
          <a:solidFill>
            <a:srgbClr val="C26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160645" y="3811489"/>
            <a:ext cx="396256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close_customer_account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5" y="5009720"/>
            <a:ext cx="3890863" cy="113208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33501" y="5257272"/>
            <a:ext cx="36513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MAKES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333501" y="5587344"/>
            <a:ext cx="36513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precise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148136" y="5009720"/>
            <a:ext cx="3891029" cy="113208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33881" y="5257272"/>
            <a:ext cx="365148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5433881" y="5587344"/>
            <a:ext cx="365148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Confirmations targeted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248681" y="5009720"/>
            <a:ext cx="3891029" cy="113208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34426" y="5257272"/>
            <a:ext cx="365148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534426" y="5587344"/>
            <a:ext cx="365148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readable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3349227" y="5009720"/>
            <a:ext cx="3891029" cy="113208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3634973" y="5257272"/>
            <a:ext cx="365148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3634973" y="5587344"/>
            <a:ext cx="365148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meaningful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28674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CONTRACTS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Output, Versioned Interface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2342725"/>
            <a:ext cx="85706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result includes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1" y="3633725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5" y="3239001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8029" y="3122579"/>
            <a:ext cx="84216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1" y="4317344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5" y="3922618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8030" y="3806197"/>
            <a:ext cx="149104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data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1" y="5000960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5" y="4606236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8025" y="4489814"/>
            <a:ext cx="24955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error code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1" y="5684578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5" y="5289853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8030" y="5173431"/>
            <a:ext cx="360582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user-facing message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1" y="6368194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5" y="5973470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8025" y="5857048"/>
            <a:ext cx="371678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retry is appropriate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47751" y="7051813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5" y="6657088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8030" y="6540666"/>
            <a:ext cx="254570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identifiers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47755" y="7340705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8025" y="7224283"/>
            <a:ext cx="598254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or timestamp when freshness matters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448767" y="2342725"/>
            <a:ext cx="857063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definitions as product interfaces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448771" y="2960689"/>
            <a:ext cx="3819591" cy="7957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15472" y="3189288"/>
            <a:ext cx="340077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3420664" y="2960689"/>
            <a:ext cx="3819591" cy="7957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687365" y="3189288"/>
            <a:ext cx="340077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448771" y="3908724"/>
            <a:ext cx="3819591" cy="7957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15472" y="4137323"/>
            <a:ext cx="340077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3420664" y="3908724"/>
            <a:ext cx="3819591" cy="79573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687365" y="4137323"/>
            <a:ext cx="340077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for confusion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448768" y="4952008"/>
            <a:ext cx="7791484" cy="1279922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48771" y="4952008"/>
            <a:ext cx="52917" cy="1279922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25473" y="5218576"/>
            <a:ext cx="7303729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normal, edge and invalid inputs — then update the contract when real traces reveal repeated mistakes.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448767" y="6479486"/>
            <a:ext cx="8025228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two tools are frequently confused by the model, the problem is usually the descriptions, not the model.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316222"/>
            <a:ext cx="2330880" cy="1600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58110"/>
              </a:lnSpc>
            </a:pPr>
            <a:r>
              <a:rPr lang="en-US" sz="15001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3776266" y="3449505"/>
            <a:ext cx="1236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270" y="4021010"/>
            <a:ext cx="11576685" cy="174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3850"/>
              </a:lnSpc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Categories and Reliable Execution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266" y="6010677"/>
            <a:ext cx="10203180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95"/>
              </a:lnSpc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consequential the action, the less autonomy the system should have by default.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Categories, Four Levels of Control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5" y="7109359"/>
            <a:ext cx="389086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5" y="2323708"/>
            <a:ext cx="3890863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4" y="2323708"/>
            <a:ext cx="10583" cy="479623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28035" y="2323708"/>
            <a:ext cx="10583" cy="479623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44083" y="2670809"/>
            <a:ext cx="362801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tools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344088" y="3142754"/>
            <a:ext cx="3397143" cy="1041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information without intentionally changing anything.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44083" y="4355212"/>
            <a:ext cx="36280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documents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44083" y="4727613"/>
            <a:ext cx="36280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order status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44083" y="5100014"/>
            <a:ext cx="362801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 price list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344088" y="5807113"/>
            <a:ext cx="3298197" cy="95944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3638" y="5978563"/>
            <a:ext cx="2978043" cy="654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 access control and privacy protection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48136" y="7109359"/>
            <a:ext cx="389102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48136" y="2323708"/>
            <a:ext cx="3891029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48135" y="2323708"/>
            <a:ext cx="10583" cy="479623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028581" y="2323708"/>
            <a:ext cx="10583" cy="479623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4464" y="2670809"/>
            <a:ext cx="362819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tools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5444469" y="3142754"/>
            <a:ext cx="3397313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deterministic processing.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44464" y="4020845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 total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44464" y="4393246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units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44464" y="4765646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an identifier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44465" y="5498703"/>
            <a:ext cx="3298362" cy="12678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54019" y="5670153"/>
            <a:ext cx="2978213" cy="96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risk, but resource limits and input validation still matter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248681" y="7109359"/>
            <a:ext cx="3891029" cy="10583"/>
          </a:xfrm>
          <a:prstGeom prst="rect">
            <a:avLst/>
          </a:prstGeom>
          <a:solidFill>
            <a:srgbClr val="F5D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48681" y="2323708"/>
            <a:ext cx="3891029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48681" y="2323708"/>
            <a:ext cx="10583" cy="4796235"/>
          </a:xfrm>
          <a:prstGeom prst="rect">
            <a:avLst/>
          </a:prstGeom>
          <a:solidFill>
            <a:srgbClr val="F5D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129126" y="2323708"/>
            <a:ext cx="10583" cy="4796235"/>
          </a:xfrm>
          <a:prstGeom prst="rect">
            <a:avLst/>
          </a:prstGeom>
          <a:solidFill>
            <a:srgbClr val="F5D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45011" y="2670809"/>
            <a:ext cx="362819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tools</a:t>
            </a:r>
            <a:endParaRPr lang="en-US" sz="2325" dirty="0"/>
          </a:p>
        </p:txBody>
      </p:sp>
      <p:sp>
        <p:nvSpPr>
          <p:cNvPr id="32" name="Text 30"/>
          <p:cNvSpPr/>
          <p:nvPr/>
        </p:nvSpPr>
        <p:spPr>
          <a:xfrm>
            <a:off x="9545011" y="3142759"/>
            <a:ext cx="3628198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external effect.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545011" y="3686478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an email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45011" y="4058878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an appointment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545011" y="4431279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 refund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45010" y="5498703"/>
            <a:ext cx="3298362" cy="126785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54565" y="5670153"/>
            <a:ext cx="2978213" cy="96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authorization, confirmation, replay protection, audit logs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3349227" y="7109359"/>
            <a:ext cx="389102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3349227" y="2323708"/>
            <a:ext cx="3891029" cy="42333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3349227" y="2323708"/>
            <a:ext cx="10583" cy="479623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7229672" y="2323708"/>
            <a:ext cx="10583" cy="4796235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645555" y="2670809"/>
            <a:ext cx="362819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tools</a:t>
            </a:r>
            <a:endParaRPr lang="en-US" sz="2325" dirty="0"/>
          </a:p>
        </p:txBody>
      </p:sp>
      <p:sp>
        <p:nvSpPr>
          <p:cNvPr id="43" name="Text 41"/>
          <p:cNvSpPr/>
          <p:nvPr/>
        </p:nvSpPr>
        <p:spPr>
          <a:xfrm>
            <a:off x="13645559" y="3142754"/>
            <a:ext cx="3397313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a bounded task to another component.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3645555" y="4020845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 worker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3645555" y="4393246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drafting worker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3645555" y="4765646"/>
            <a:ext cx="362819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specialist workflow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13645555" y="5498703"/>
            <a:ext cx="3298362" cy="126785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855110" y="5670153"/>
            <a:ext cx="2978213" cy="96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does not transfer responsibility away from the parent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Questions Before Exposing a Tool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2588456"/>
            <a:ext cx="8558775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306" y="2168427"/>
            <a:ext cx="8548839" cy="286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9473076" y="2588456"/>
            <a:ext cx="7900624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39781" y="2168427"/>
            <a:ext cx="7870943" cy="286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14305" y="3299525"/>
            <a:ext cx="8558775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06" y="2780010"/>
            <a:ext cx="854883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read-only, or does it create side effects?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473076" y="3299525"/>
            <a:ext cx="790062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39781" y="2780010"/>
            <a:ext cx="7870943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effects require stronger controls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14305" y="4010592"/>
            <a:ext cx="8558775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306" y="3491078"/>
            <a:ext cx="854883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action reversible?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473076" y="4010592"/>
            <a:ext cx="790062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39781" y="3491078"/>
            <a:ext cx="7870943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Irreversible actions need more caution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305" y="4721659"/>
            <a:ext cx="8558775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306" y="4202147"/>
            <a:ext cx="854883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expose private or confidential data?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473076" y="4721659"/>
            <a:ext cx="790062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39781" y="4202147"/>
            <a:ext cx="7870943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access can still be high risk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305" y="5432727"/>
            <a:ext cx="8558775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306" y="4913214"/>
            <a:ext cx="854883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move money or create legal commitments?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473076" y="5432727"/>
            <a:ext cx="790062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39781" y="4913214"/>
            <a:ext cx="7870943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and legal effects need approval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14305" y="6143795"/>
            <a:ext cx="8558775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306" y="5624281"/>
            <a:ext cx="854883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one call affect many records or people?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9473076" y="6143795"/>
            <a:ext cx="790062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39781" y="5624281"/>
            <a:ext cx="7870943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blast radius increases risk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305" y="6854863"/>
            <a:ext cx="8558775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306" y="6335349"/>
            <a:ext cx="8548839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retries duplicate the action?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473076" y="6854863"/>
            <a:ext cx="790062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39781" y="6335349"/>
            <a:ext cx="7870943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Non-idempotent operations need replay protection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914306" y="7046417"/>
            <a:ext cx="8548839" cy="38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user verify the result before execution?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9739781" y="7046417"/>
            <a:ext cx="7870943" cy="38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and confirmation reduce harm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14305" y="7895006"/>
            <a:ext cx="16459399" cy="954319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14305" y="7895006"/>
            <a:ext cx="52917" cy="954319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329035" y="8161569"/>
            <a:ext cx="17251132" cy="459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935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consequential the action, the </a:t>
            </a:r>
            <a:r>
              <a:rPr lang="en-US" sz="225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autonomy </a:t>
            </a: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should have by default.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Syntax, Then Validate Meaning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6291961"/>
            <a:ext cx="7943784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1" y="2361741"/>
            <a:ext cx="7943784" cy="42333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4" y="2361738"/>
            <a:ext cx="10583" cy="3940804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0955" y="2361738"/>
            <a:ext cx="10583" cy="3940804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58351" y="2785074"/>
            <a:ext cx="7834842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70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Syntactic validation asks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58351" y="3386171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78621" y="3386171"/>
            <a:ext cx="2464395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field present?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58351" y="3887721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678621" y="3887721"/>
            <a:ext cx="262216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the correct type?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58351" y="4389272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78616" y="4389272"/>
            <a:ext cx="3687718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within the allowed range?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58351" y="4948043"/>
            <a:ext cx="71225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58355" y="5091973"/>
            <a:ext cx="7336261" cy="35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by the schema.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96305" y="6291961"/>
            <a:ext cx="794394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96305" y="2361741"/>
            <a:ext cx="7943949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96305" y="2361738"/>
            <a:ext cx="10583" cy="3940804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229672" y="2361738"/>
            <a:ext cx="10583" cy="3940804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06902" y="2785074"/>
            <a:ext cx="7835024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70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validation asks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706902" y="3386171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927172" y="3386171"/>
            <a:ext cx="5257779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order belong to the current user?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06902" y="3887721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927172" y="3887721"/>
            <a:ext cx="5730943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date inside an allowed booking window?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706902" y="4389272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927167" y="4389272"/>
            <a:ext cx="528452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refund no greater than the payment?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06902" y="4890823"/>
            <a:ext cx="1631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927172" y="4890823"/>
            <a:ext cx="4732835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state transition make sense?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706906" y="5449594"/>
            <a:ext cx="712274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706907" y="5593523"/>
            <a:ext cx="7336431" cy="355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only by business logic.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47751" y="6740591"/>
            <a:ext cx="7943784" cy="2000746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7754" y="6740591"/>
            <a:ext cx="52917" cy="2000746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43472" y="7026341"/>
            <a:ext cx="792579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443469" y="7375592"/>
            <a:ext cx="7421424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status tool gets read access, not update access. A search tool reads only approved collections. A worker gets only the tools its subtask needs.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296305" y="6740591"/>
            <a:ext cx="7943949" cy="2000746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96306" y="6740591"/>
            <a:ext cx="52917" cy="2000746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92019" y="7026341"/>
            <a:ext cx="792597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CONTEXT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9692019" y="7375592"/>
            <a:ext cx="7421594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permissions come from the authenticated session. The model selects the target and the intent — never its own privileges.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Timeouts, Retries and Idempotency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2342725"/>
            <a:ext cx="3086034" cy="22858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5301" y="2609288"/>
            <a:ext cx="28500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295301" y="2990293"/>
            <a:ext cx="2850026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timeout on every call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324285" y="2342725"/>
            <a:ext cx="3086034" cy="22858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1835" y="2609288"/>
            <a:ext cx="28500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4571839" y="2990288"/>
            <a:ext cx="2668661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error result, not an exception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600822" y="2342725"/>
            <a:ext cx="3086199" cy="22858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48374" y="2609288"/>
            <a:ext cx="28502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848374" y="2990288"/>
            <a:ext cx="2668831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limited retry policy for transient failures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877517" y="2342725"/>
            <a:ext cx="3086034" cy="22858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25069" y="2609288"/>
            <a:ext cx="28500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125074" y="2990288"/>
            <a:ext cx="2668661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 where appropriate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4154055" y="2342725"/>
            <a:ext cx="3086199" cy="22858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401607" y="2609288"/>
            <a:ext cx="28502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4401607" y="2990288"/>
            <a:ext cx="2668831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total step and time budget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5066606"/>
            <a:ext cx="80116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is not one policy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7751" y="5606360"/>
            <a:ext cx="7283318" cy="740833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05888" y="5807444"/>
            <a:ext cx="585084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 read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6815341" y="5839194"/>
            <a:ext cx="138335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safe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47751" y="6480478"/>
            <a:ext cx="7283318" cy="740833"/>
          </a:xfrm>
          <a:prstGeom prst="rect">
            <a:avLst/>
          </a:prstGeom>
          <a:solidFill>
            <a:srgbClr val="FDF4EC"/>
          </a:solidFill>
          <a:ln w="10583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05884" y="6681561"/>
            <a:ext cx="599618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 payment or submission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6947467" y="6713312"/>
            <a:ext cx="120167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751" y="7354595"/>
            <a:ext cx="7283318" cy="740833"/>
          </a:xfrm>
          <a:prstGeom prst="rect">
            <a:avLst/>
          </a:prstGeom>
          <a:solidFill>
            <a:srgbClr val="FDF4EC"/>
          </a:solidFill>
          <a:ln w="10583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05884" y="7555679"/>
            <a:ext cx="599618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 message send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947467" y="7587429"/>
            <a:ext cx="120167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8864369" y="5066606"/>
            <a:ext cx="921328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idempotent writes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864369" y="5606355"/>
            <a:ext cx="8626988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idempotent operation can receive the same request twice without creating duplicate effects.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8864374" y="6543647"/>
            <a:ext cx="8375717" cy="2028527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69141" y="6791194"/>
            <a:ext cx="854280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9169141" y="7179304"/>
            <a:ext cx="854280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"slot": </a:t>
            </a:r>
            <a:r>
              <a:rPr lang="en-US" sz="18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"2026-08-10T09:00+03:00"</a:t>
            </a: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169141" y="7567414"/>
            <a:ext cx="854280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"idempotency_key": </a:t>
            </a:r>
            <a:r>
              <a:rPr lang="en-US" sz="18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"req-7f3a91"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9169141" y="7955526"/>
            <a:ext cx="854280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4135"/>
              </a:lnSpc>
            </a:pPr>
            <a:r>
              <a:rPr lang="en-US" sz="18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8864369" y="8762675"/>
            <a:ext cx="8626988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call is retried after a network timeout, the service returns the original booking instead of creating another.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47754" y="9456213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7751" y="9790581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6986089" y="9801165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Consequential Actions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42725"/>
            <a:ext cx="7753284" cy="1756833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2118" y="2639057"/>
            <a:ext cx="779300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82118" y="3062391"/>
            <a:ext cx="779300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or preview the proposed action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382118" y="3485720"/>
            <a:ext cx="779300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effect yet.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991535" y="3020058"/>
            <a:ext cx="381132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486967" y="2342725"/>
            <a:ext cx="7753284" cy="1756833"/>
          </a:xfrm>
          <a:prstGeom prst="rect">
            <a:avLst/>
          </a:prstGeom>
          <a:solidFill>
            <a:srgbClr val="FDF4EC"/>
          </a:solidFill>
          <a:ln w="10583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21334" y="2639057"/>
            <a:ext cx="779300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21334" y="3062391"/>
            <a:ext cx="779300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only after explicit confirmation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821334" y="3485720"/>
            <a:ext cx="779300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B08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write tool becomes available.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" y="4537609"/>
            <a:ext cx="871724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CONFIRMATION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47755" y="4965072"/>
            <a:ext cx="7924767" cy="1387078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82118" y="5261410"/>
            <a:ext cx="7473714" cy="83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prepared a request for SAR 1,250 to supplier X. </a:t>
            </a: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has been submitted. </a:t>
            </a: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me to submit it?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047750" y="6504451"/>
            <a:ext cx="8717244" cy="38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Target, amount, action and current state are all visible.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315319" y="4537609"/>
            <a:ext cx="871742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16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CONFIRMATION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315323" y="4965072"/>
            <a:ext cx="7924933" cy="95812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39102" y="5250822"/>
            <a:ext cx="8005102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Continue?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315322" y="6075500"/>
            <a:ext cx="8162681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cannot see what will happen, so the approval protects nothing.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Safe Errors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1" y="2569440"/>
            <a:ext cx="6583660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301" y="2149409"/>
            <a:ext cx="6514470" cy="286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TYPE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7497967" y="2569440"/>
            <a:ext cx="9875739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64667" y="2149409"/>
            <a:ext cx="9905311" cy="286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RESPONSE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14301" y="3242473"/>
            <a:ext cx="658366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01" y="2741948"/>
            <a:ext cx="6514470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7497967" y="3242473"/>
            <a:ext cx="987573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64667" y="2741948"/>
            <a:ext cx="9905311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user to correct a specific field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14301" y="3915507"/>
            <a:ext cx="658366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301" y="3414982"/>
            <a:ext cx="6514470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7497967" y="3915507"/>
            <a:ext cx="987573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64667" y="3414982"/>
            <a:ext cx="9905311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identifier or explain there is no visible match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301" y="4588541"/>
            <a:ext cx="658366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301" y="4088016"/>
            <a:ext cx="6514470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7497967" y="4588541"/>
            <a:ext cx="987573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64667" y="4088016"/>
            <a:ext cx="9905311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without revealing protected details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301" y="5261576"/>
            <a:ext cx="658366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301" y="4761049"/>
            <a:ext cx="6514470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limited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7497967" y="5261576"/>
            <a:ext cx="987573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64667" y="4761049"/>
            <a:ext cx="9905311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later, within a limit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14301" y="5934609"/>
            <a:ext cx="658366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301" y="5434083"/>
            <a:ext cx="6514470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dependency failure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7497967" y="5934609"/>
            <a:ext cx="987573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64667" y="5434083"/>
            <a:ext cx="9905311" cy="3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 backoff, or offer manual continuation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14301" y="6107113"/>
            <a:ext cx="6514470" cy="381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business-rule failure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7764667" y="6107113"/>
            <a:ext cx="9905311" cy="381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allowed alternative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14301" y="6936719"/>
            <a:ext cx="8077234" cy="1583201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4305" y="6936719"/>
            <a:ext cx="52917" cy="1583201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91001" y="7203283"/>
            <a:ext cx="81144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PASS THROUGH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291001" y="7533354"/>
            <a:ext cx="7598052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exceptions · stack traces · SQL errors · secrets · internal hostnames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296306" y="6936719"/>
            <a:ext cx="8077399" cy="15832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96306" y="6936719"/>
            <a:ext cx="52917" cy="1583201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73003" y="7203283"/>
            <a:ext cx="811460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RESULT SIZE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9673002" y="7533354"/>
            <a:ext cx="7598222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paginate or summarise — but keep source identifiers so details can be verified.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6369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AND RISK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Call, Sequential Calls, Parallel Calls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5944530"/>
            <a:ext cx="53214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5" y="2149413"/>
            <a:ext cx="5321433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306" y="2149414"/>
            <a:ext cx="10583" cy="38057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25154" y="2149414"/>
            <a:ext cx="10583" cy="38057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29656" y="2477497"/>
            <a:ext cx="515980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229656" y="2987481"/>
            <a:ext cx="5159805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status of order ORD-1042?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29652" y="3984956"/>
            <a:ext cx="4690732" cy="59035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20151" y="4137357"/>
            <a:ext cx="4450454" cy="32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get_order_status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995120" y="4670563"/>
            <a:ext cx="5159805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6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29652" y="5030391"/>
            <a:ext cx="4690732" cy="59035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20151" y="5182792"/>
            <a:ext cx="4450454" cy="32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483288" y="5944530"/>
            <a:ext cx="53214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83288" y="2149413"/>
            <a:ext cx="5321433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83288" y="2149414"/>
            <a:ext cx="10583" cy="38057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794137" y="2149414"/>
            <a:ext cx="10583" cy="38057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98639" y="2477497"/>
            <a:ext cx="515980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6798634" y="2987477"/>
            <a:ext cx="483145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my open invoice and calculate the late fee.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798635" y="4099389"/>
            <a:ext cx="4690732" cy="55231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89135" y="4232738"/>
            <a:ext cx="4450454" cy="323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get_open_invoice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6564103" y="4727779"/>
            <a:ext cx="5159805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6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amount + due date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6798635" y="5068426"/>
            <a:ext cx="4690732" cy="55231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89135" y="5201775"/>
            <a:ext cx="4450454" cy="323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calculate_late_fee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12052272" y="5944530"/>
            <a:ext cx="53214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052272" y="2149413"/>
            <a:ext cx="5321433" cy="4233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052272" y="2149414"/>
            <a:ext cx="10583" cy="38057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7363122" y="2149414"/>
            <a:ext cx="10583" cy="38057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367623" y="2477497"/>
            <a:ext cx="515980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32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2325" dirty="0"/>
          </a:p>
        </p:txBody>
      </p:sp>
      <p:sp>
        <p:nvSpPr>
          <p:cNvPr id="32" name="Text 30"/>
          <p:cNvSpPr/>
          <p:nvPr/>
        </p:nvSpPr>
        <p:spPr>
          <a:xfrm>
            <a:off x="12367618" y="2987477"/>
            <a:ext cx="483145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current weather in Riyadh and Jeddah.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2367618" y="4099389"/>
            <a:ext cx="4690732" cy="55231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558119" y="4232738"/>
            <a:ext cx="4450454" cy="323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get_weather(Riyadh)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2367618" y="4727774"/>
            <a:ext cx="4690732" cy="55231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558119" y="4861124"/>
            <a:ext cx="4450454" cy="323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get_weather(Jeddah)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2133087" y="5356164"/>
            <a:ext cx="5159805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6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compare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914305" y="6297910"/>
            <a:ext cx="16459399" cy="1987186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4305" y="6297910"/>
            <a:ext cx="52917" cy="1987186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29035" y="6564479"/>
            <a:ext cx="172511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CALLS SEQUENTIAL WHEN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1329040" y="6951763"/>
            <a:ext cx="157063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524165" y="6951762"/>
            <a:ext cx="309243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needs the other's data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6664529" y="6951763"/>
            <a:ext cx="157063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6859659" y="6951763"/>
            <a:ext cx="3497295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may make the second unnecessary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000017" y="6951763"/>
            <a:ext cx="157063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2195148" y="6951762"/>
            <a:ext cx="265111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affects the result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329040" y="7701029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524165" y="7701029"/>
            <a:ext cx="331402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modify the same record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6664529" y="7701029"/>
            <a:ext cx="15706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6859659" y="7701029"/>
            <a:ext cx="407248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must occur between them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2000017" y="7701029"/>
            <a:ext cx="551305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is an optimisation, not a goal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42201"/>
            <a:ext cx="2330880" cy="1600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58110"/>
              </a:lnSpc>
            </a:pPr>
            <a:r>
              <a:rPr lang="en-US" sz="15001" b="1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3776271" y="3875485"/>
            <a:ext cx="119439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271" y="4446986"/>
            <a:ext cx="11943987" cy="890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3850"/>
              </a:lnSpc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Agents and Patterns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266" y="5584698"/>
            <a:ext cx="10203180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95"/>
              </a:lnSpc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distinction is not intelligence — it is who controls the sequence.</a:t>
            </a:r>
            <a:endParaRPr lang="en-US" sz="2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62528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Controls the Sequence?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7371132"/>
            <a:ext cx="7943784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1" y="2323708"/>
            <a:ext cx="7943784" cy="42333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4" y="2323708"/>
            <a:ext cx="10583" cy="5058007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0955" y="2323708"/>
            <a:ext cx="10583" cy="5058007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39337" y="2727854"/>
            <a:ext cx="787667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workflow</a:t>
            </a:r>
            <a:endParaRPr lang="en-US" sz="2851" dirty="0"/>
          </a:p>
        </p:txBody>
      </p:sp>
      <p:sp>
        <p:nvSpPr>
          <p:cNvPr id="10" name="Text 8"/>
          <p:cNvSpPr/>
          <p:nvPr/>
        </p:nvSpPr>
        <p:spPr>
          <a:xfrm>
            <a:off x="1439337" y="3369143"/>
            <a:ext cx="7876679" cy="411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code defines the path.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439334" y="3971065"/>
            <a:ext cx="7160618" cy="11201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86983" y="4180615"/>
            <a:ext cx="6880136" cy="73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4000"/>
              </a:lnSpc>
            </a:pPr>
            <a:r>
              <a:rPr lang="en-US" sz="1725" dirty="0">
                <a:solidFill>
                  <a:srgbClr val="35385C"/>
                </a:solidFill>
                <a:highlight>
                  <a:srgbClr val="F5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→ retrieve policy → draft → validate → return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439334" y="5319783"/>
            <a:ext cx="716061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39337" y="5520867"/>
            <a:ext cx="787667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180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39333" y="5929313"/>
            <a:ext cx="7375436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sequence is known · compliance requires a fixed process · branches can be enumerated · predictability matters more than flexibility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296305" y="7371132"/>
            <a:ext cx="794394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96305" y="2323708"/>
            <a:ext cx="7943949" cy="42333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296305" y="2323708"/>
            <a:ext cx="10583" cy="5058007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229672" y="2323708"/>
            <a:ext cx="10583" cy="5058007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87890" y="2727854"/>
            <a:ext cx="7876861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851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</a:t>
            </a:r>
            <a:endParaRPr lang="en-US" sz="2851" dirty="0"/>
          </a:p>
        </p:txBody>
      </p:sp>
      <p:sp>
        <p:nvSpPr>
          <p:cNvPr id="21" name="Text 19"/>
          <p:cNvSpPr/>
          <p:nvPr/>
        </p:nvSpPr>
        <p:spPr>
          <a:xfrm>
            <a:off x="9687890" y="3369143"/>
            <a:ext cx="7876861" cy="411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chooses the next step from allowed actions.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687889" y="3971065"/>
            <a:ext cx="7160783" cy="112018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35535" y="4180615"/>
            <a:ext cx="6880306" cy="73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4000"/>
              </a:lnSpc>
            </a:pPr>
            <a:r>
              <a:rPr lang="en-US" sz="1725" dirty="0">
                <a:solidFill>
                  <a:srgbClr val="35385C"/>
                </a:solidFill>
                <a:highlight>
                  <a:srgbClr val="F0F9F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→ decide → act → observe → decide again → stop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687889" y="5319783"/>
            <a:ext cx="7160783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87890" y="5520867"/>
            <a:ext cx="787686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180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87885" y="5929313"/>
            <a:ext cx="7375606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cannot be known in advance · the task adapts to new information · tool choice depends on observations · several paths may work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62528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Complexity Ladder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4" y="2342720"/>
            <a:ext cx="8355377" cy="73025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5" y="2342720"/>
            <a:ext cx="42333" cy="7302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56656" y="2559684"/>
            <a:ext cx="2134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9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03421" y="2533220"/>
            <a:ext cx="196780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call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95301" y="3187238"/>
            <a:ext cx="8107826" cy="730250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5305" y="3187238"/>
            <a:ext cx="42333" cy="7302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04207" y="3404200"/>
            <a:ext cx="2134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2F9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50976" y="3377737"/>
            <a:ext cx="376262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call with retrieval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543017" y="4031755"/>
            <a:ext cx="7860110" cy="7302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43022" y="4031755"/>
            <a:ext cx="42333" cy="73025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51923" y="4248716"/>
            <a:ext cx="2134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4A8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98688" y="4222254"/>
            <a:ext cx="308831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 tool call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790572" y="4876271"/>
            <a:ext cx="7612559" cy="7302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90572" y="4876271"/>
            <a:ext cx="42333" cy="73025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99474" y="5093234"/>
            <a:ext cx="2134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4A87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46242" y="5066771"/>
            <a:ext cx="448276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multi-step workflow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2038289" y="5720789"/>
            <a:ext cx="7364843" cy="73025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38288" y="5720789"/>
            <a:ext cx="42333" cy="7302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47190" y="5937751"/>
            <a:ext cx="2134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93954" y="5911288"/>
            <a:ext cx="491260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Single-agent loop with bounded tools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2286005" y="6565306"/>
            <a:ext cx="7117127" cy="73025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5" y="6565306"/>
            <a:ext cx="42333" cy="730250"/>
          </a:xfrm>
          <a:prstGeom prst="rect">
            <a:avLst/>
          </a:prstGeom>
          <a:solidFill>
            <a:srgbClr val="C266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94906" y="6782267"/>
            <a:ext cx="2134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41671" y="6755805"/>
            <a:ext cx="334625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974632" y="2342720"/>
            <a:ext cx="799200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up also adds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974627" y="2920509"/>
            <a:ext cx="160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172739" y="2920509"/>
            <a:ext cx="976445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3750232" y="2920509"/>
            <a:ext cx="160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3948338" y="2920509"/>
            <a:ext cx="593790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9974627" y="3392460"/>
            <a:ext cx="160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0172734" y="3392460"/>
            <a:ext cx="1724058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testing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3750232" y="3392460"/>
            <a:ext cx="160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3948338" y="3392460"/>
            <a:ext cx="1430866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states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9974627" y="3864410"/>
            <a:ext cx="160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0172739" y="3864410"/>
            <a:ext cx="2304157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failure modes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3750232" y="3864410"/>
            <a:ext cx="160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13948339" y="3864410"/>
            <a:ext cx="2137470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debugging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9974631" y="4507678"/>
            <a:ext cx="7265459" cy="174195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974632" y="4507678"/>
            <a:ext cx="52917" cy="1741951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370349" y="4793428"/>
            <a:ext cx="6722749" cy="1208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87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the </a:t>
            </a:r>
            <a:r>
              <a:rPr lang="en-US" sz="217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level </a:t>
            </a: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satisfies the requirement. An agent is not automatically better — only sometimes appropriate.</a:t>
            </a:r>
            <a:endParaRPr lang="en-US" sz="2175" dirty="0"/>
          </a:p>
        </p:txBody>
      </p:sp>
      <p:sp>
        <p:nvSpPr>
          <p:cNvPr id="45" name="Shape 43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62528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Controlled Agent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23707"/>
            <a:ext cx="5245034" cy="28214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63105" y="2620038"/>
            <a:ext cx="50757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63105" y="2988309"/>
            <a:ext cx="475276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desired outcome, specific enough to determine success.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21318" y="2323707"/>
            <a:ext cx="5245200" cy="28214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36673" y="2620038"/>
            <a:ext cx="507594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6836668" y="2988309"/>
            <a:ext cx="4752934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Behaviour, priorities, boundaries and stopping rules.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995052" y="2323707"/>
            <a:ext cx="5245034" cy="28214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10407" y="2620038"/>
            <a:ext cx="50757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310407" y="2988309"/>
            <a:ext cx="475276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actions available in the current state — narrow and permission-aware.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47750" y="5373693"/>
            <a:ext cx="5245034" cy="28214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63105" y="5670022"/>
            <a:ext cx="50757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63105" y="6038288"/>
            <a:ext cx="4752763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identity, completed steps, observations, pending approval, budgets, status.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6521318" y="5373693"/>
            <a:ext cx="5245200" cy="282145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6673" y="5670022"/>
            <a:ext cx="507594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POLICY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6836668" y="6038293"/>
            <a:ext cx="4752934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a tool, which are allowed, when to ask, when to stop.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995052" y="5373693"/>
            <a:ext cx="5245034" cy="282145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10407" y="5670022"/>
            <a:ext cx="50757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CONDITIONS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310407" y="6038293"/>
            <a:ext cx="4752763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rules that end the loop — never left implicit.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1" y="8576143"/>
            <a:ext cx="7943784" cy="200256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534" y="8842706"/>
            <a:ext cx="802583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GOAL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371534" y="9191956"/>
            <a:ext cx="802583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with the course.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296305" y="8576143"/>
            <a:ext cx="7943949" cy="2002565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96306" y="8576143"/>
            <a:ext cx="52917" cy="2002565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73002" y="8842706"/>
            <a:ext cx="796781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GOAL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9673007" y="9191956"/>
            <a:ext cx="7460769" cy="11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learner's question using approved course material, cite the relevant day, and state when the material does not support an answer.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47750" y="10578703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0" y="10913071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986085" y="10923654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62528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Reasons an Agent Should Stop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3223457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2651622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92631" y="2609289"/>
            <a:ext cx="2907325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complete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768" y="3223457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767" y="2651622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3648" y="2609289"/>
            <a:ext cx="399163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declines or cancels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1" y="4324289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0" y="3752453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92630" y="3710120"/>
            <a:ext cx="4980633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information is unavailable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448768" y="4324289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48767" y="3752453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93648" y="3710120"/>
            <a:ext cx="460809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action needs human approval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1" y="5425120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0" y="4853285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92630" y="4810952"/>
            <a:ext cx="5101233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maximum step count is reached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448768" y="5425120"/>
            <a:ext cx="779148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767" y="4853285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605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93643" y="4810952"/>
            <a:ext cx="4864216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or cost budget is reached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7750" y="5954117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592631" y="5911784"/>
            <a:ext cx="4178813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exceed the retry limit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448767" y="5954117"/>
            <a:ext cx="37352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993648" y="5911784"/>
            <a:ext cx="5874131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581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policy or safety rule blocks continuation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4" y="6906948"/>
            <a:ext cx="16192501" cy="992684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47754" y="6906948"/>
            <a:ext cx="52917" cy="992684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81672" y="7192698"/>
            <a:ext cx="16915343" cy="459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935"/>
              </a:lnSpc>
            </a:pP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a limit should produce a </a:t>
            </a:r>
            <a:r>
              <a:rPr lang="en-US" sz="2250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state</a:t>
            </a:r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fabricated success.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74" y="762005"/>
            <a:ext cx="188758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01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— Reason, Act, Observe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2" y="2149414"/>
            <a:ext cx="2925796" cy="1011701"/>
          </a:xfrm>
          <a:prstGeom prst="rect">
            <a:avLst/>
          </a:prstGeom>
          <a:solidFill>
            <a:srgbClr val="F0F7F4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4352" y="2369542"/>
            <a:ext cx="2725703" cy="60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about the next step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954364" y="2496509"/>
            <a:ext cx="32391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316350" y="2149414"/>
            <a:ext cx="2925961" cy="1011701"/>
          </a:xfrm>
          <a:prstGeom prst="rect">
            <a:avLst/>
          </a:prstGeom>
          <a:solidFill>
            <a:srgbClr val="F0F7F4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16394" y="2369542"/>
            <a:ext cx="2725873" cy="60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with one allowed tool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356575" y="2496509"/>
            <a:ext cx="32391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718563" y="2292289"/>
            <a:ext cx="2925961" cy="725951"/>
          </a:xfrm>
          <a:prstGeom prst="rect">
            <a:avLst/>
          </a:prstGeom>
          <a:solidFill>
            <a:srgbClr val="F0F7F4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18607" y="2512417"/>
            <a:ext cx="2725873" cy="32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result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758786" y="2496509"/>
            <a:ext cx="32391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120774" y="2292289"/>
            <a:ext cx="2925961" cy="725951"/>
          </a:xfrm>
          <a:prstGeom prst="rect">
            <a:avLst/>
          </a:prstGeom>
          <a:solidFill>
            <a:srgbClr val="F0F7F4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20818" y="2512417"/>
            <a:ext cx="2725873" cy="32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950" b="1" dirty="0">
                <a:solidFill>
                  <a:srgbClr val="2F7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decision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160997" y="2491222"/>
            <a:ext cx="26984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4468905" y="2159992"/>
            <a:ext cx="2904794" cy="990534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558684" y="2369542"/>
            <a:ext cx="2725238" cy="60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or repeat within limits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4301" y="3522928"/>
            <a:ext cx="919837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RUN, SIX STEPS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14301" y="4532317"/>
            <a:ext cx="836215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305" y="4123866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30483" y="4081529"/>
            <a:ext cx="473088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factual claim needs current evidence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301" y="5126968"/>
            <a:ext cx="836215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305" y="4718518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30483" y="4676180"/>
            <a:ext cx="246112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calls a search tool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301" y="5721620"/>
            <a:ext cx="836215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305" y="5313168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230478" y="5270832"/>
            <a:ext cx="503647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mentions two possible records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301" y="6316270"/>
            <a:ext cx="836215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305" y="5907820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30482" y="5865482"/>
            <a:ext cx="494734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asks the user which record is intended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301" y="6910922"/>
            <a:ext cx="836215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305" y="6502471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30483" y="6460134"/>
            <a:ext cx="516799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calls a detail tool for the selected record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14305" y="7097121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30478" y="7054785"/>
            <a:ext cx="413915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answers from the verified result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771724" y="3522927"/>
            <a:ext cx="7601976" cy="118516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771728" y="3522927"/>
            <a:ext cx="52917" cy="1185168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129413" y="3770483"/>
            <a:ext cx="1840657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10129409" y="4100550"/>
            <a:ext cx="7633478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evidence determines the next step.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9771724" y="4917617"/>
            <a:ext cx="7601976" cy="190516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771728" y="4917617"/>
            <a:ext cx="52917" cy="190516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129408" y="5165168"/>
            <a:ext cx="1448842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0129413" y="5495231"/>
            <a:ext cx="7147711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loop repeats unhelpful actions. Control it with maximum steps, tool restrictions, duplicate-call detection and clear exit rules.</a:t>
            </a:r>
            <a:endParaRPr lang="en-US" sz="2025" dirty="0"/>
          </a:p>
        </p:txBody>
      </p:sp>
      <p:sp>
        <p:nvSpPr>
          <p:cNvPr id="45" name="Shape 43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31314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02 AND 03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· Reflection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1" y="8014564"/>
            <a:ext cx="8067808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1" y="2168430"/>
            <a:ext cx="8067808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306" y="2168426"/>
            <a:ext cx="10583" cy="585671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71530" y="2168426"/>
            <a:ext cx="10583" cy="585671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7685" y="2534548"/>
            <a:ext cx="809714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67685" y="3095460"/>
            <a:ext cx="7361040" cy="6667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96290" y="3285961"/>
            <a:ext cx="71246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→ plan → execute → review → answer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67685" y="3952710"/>
            <a:ext cx="8097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67690" y="4320982"/>
            <a:ext cx="7581871" cy="1078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has recognisable stages · progress should be visible · the plan can be checked before expensive work · some steps can be delegated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67685" y="5551791"/>
            <a:ext cx="736104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7685" y="5733688"/>
            <a:ext cx="8097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267690" y="6101959"/>
            <a:ext cx="7581871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flawed initial plan guides all later work. Add plan validation and checkpoints.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67690" y="6985993"/>
            <a:ext cx="758187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154"/>
              </a:lnSpc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not absolute truth. Re-plan deliberately — do not drift silently.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305893" y="8014564"/>
            <a:ext cx="8067808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05893" y="2168430"/>
            <a:ext cx="8067808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05897" y="2168426"/>
            <a:ext cx="10583" cy="585671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363122" y="2168426"/>
            <a:ext cx="10583" cy="5856718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59277" y="2534548"/>
            <a:ext cx="809714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· Evaluator-Optimizer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659277" y="3095460"/>
            <a:ext cx="7361040" cy="66675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87881" y="3285961"/>
            <a:ext cx="71246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→ evaluate → improve if needed → stop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9659277" y="3952710"/>
            <a:ext cx="8097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CRITERIA ARE CLEAR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9659281" y="4320982"/>
            <a:ext cx="7581871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requested sections present · claims supported by supplied sources · a specified output format · generated code passes tests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659277" y="5205021"/>
            <a:ext cx="736104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59277" y="5386918"/>
            <a:ext cx="8097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9659281" y="5755189"/>
            <a:ext cx="7581871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self-critique adds cost without improving quality. Bound the revisions and use a concrete rubric.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659277" y="7319373"/>
            <a:ext cx="80971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154"/>
              </a:lnSpc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only when the evaluation finds a material defect.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331314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04 AND 05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· Orchestrator-Workers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1" y="7546748"/>
            <a:ext cx="8067808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1" y="2168430"/>
            <a:ext cx="8067808" cy="42333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306" y="2168431"/>
            <a:ext cx="10583" cy="53889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71530" y="2168431"/>
            <a:ext cx="10583" cy="53889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7685" y="2534548"/>
            <a:ext cx="809714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67685" y="3095460"/>
            <a:ext cx="7361040" cy="61151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77202" y="3247765"/>
            <a:ext cx="5876496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course-content question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971771" y="3263641"/>
            <a:ext cx="159218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workflow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267685" y="3783046"/>
            <a:ext cx="7361040" cy="61151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77202" y="3935351"/>
            <a:ext cx="61553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question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25275" y="3951227"/>
            <a:ext cx="131332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tool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267685" y="4470632"/>
            <a:ext cx="7361040" cy="61151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77207" y="4622938"/>
            <a:ext cx="5582725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problem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704708" y="4638813"/>
            <a:ext cx="18859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workflow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267685" y="5158218"/>
            <a:ext cx="7361040" cy="611518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77202" y="5310523"/>
            <a:ext cx="588977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request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983848" y="5326398"/>
            <a:ext cx="15789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response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267685" y="5960240"/>
            <a:ext cx="736104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7685" y="6123120"/>
            <a:ext cx="8097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67690" y="6491392"/>
            <a:ext cx="7581871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route makes a capable downstream system fail. Evaluate routing accuracy and define a fallback for uncertain cases.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305893" y="7546748"/>
            <a:ext cx="8067808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05893" y="2168430"/>
            <a:ext cx="8067808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05897" y="2168431"/>
            <a:ext cx="10583" cy="53889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363122" y="2168431"/>
            <a:ext cx="10583" cy="538890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59277" y="2534548"/>
            <a:ext cx="809714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· Orchestrator-Workers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659277" y="3095460"/>
            <a:ext cx="7361040" cy="590352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87881" y="3247860"/>
            <a:ext cx="7124671" cy="32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983065" y="3781062"/>
            <a:ext cx="3471003" cy="584068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184144" y="3925000"/>
            <a:ext cx="3172966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3549319" y="3781062"/>
            <a:ext cx="3471003" cy="584068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750398" y="3925000"/>
            <a:ext cx="3172966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983065" y="4460379"/>
            <a:ext cx="3471003" cy="584068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184144" y="4604318"/>
            <a:ext cx="3172966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3549319" y="4460379"/>
            <a:ext cx="3471003" cy="584068"/>
          </a:xfrm>
          <a:prstGeom prst="rect">
            <a:avLst/>
          </a:prstGeom>
          <a:solidFill>
            <a:srgbClr val="F5F7FA"/>
          </a:solidFill>
          <a:ln w="10583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750398" y="4604318"/>
            <a:ext cx="3172966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9659277" y="5234951"/>
            <a:ext cx="736104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59277" y="5397831"/>
            <a:ext cx="809714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RISKS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9659281" y="5766103"/>
            <a:ext cx="7581871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work · inconsistent state · higher latency · greater cost · difficult failure recovery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9659277" y="6851556"/>
            <a:ext cx="80971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154"/>
              </a:lnSpc>
            </a:pPr>
            <a:r>
              <a:rPr lang="en-US" sz="187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when a single controlled agent or workflow is insufficient.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23" y="819056"/>
            <a:ext cx="188758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06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5" y="2323703"/>
            <a:ext cx="859155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for a human 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47755" y="3555344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5" y="3170209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8025" y="3053788"/>
            <a:ext cx="357326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missing information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47755" y="4219779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5" y="3834644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8025" y="3718223"/>
            <a:ext cx="240018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ambiguity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5" y="4884213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5" y="4499080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8025" y="4382658"/>
            <a:ext cx="413333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consequential action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5" y="5548649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47755" y="5163514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8030" y="5047093"/>
            <a:ext cx="410168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low-confidence result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5" y="6213084"/>
            <a:ext cx="78105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7755" y="5827949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8026" y="5711528"/>
            <a:ext cx="310723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repeated failure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5" y="6492384"/>
            <a:ext cx="125975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200" dirty="0">
                <a:solidFill>
                  <a:srgbClr val="61C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8030" y="6375963"/>
            <a:ext cx="594670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decision that should not be delegated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29756" y="2323703"/>
            <a:ext cx="859155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checkpoint must present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29756" y="2901492"/>
            <a:ext cx="3829017" cy="8169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07038" y="3140670"/>
            <a:ext cx="3389321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wants to do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411073" y="2901492"/>
            <a:ext cx="3829183" cy="8169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688357" y="3140670"/>
            <a:ext cx="3389491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reached this point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429756" y="3870694"/>
            <a:ext cx="3829017" cy="8169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707038" y="4109873"/>
            <a:ext cx="3389321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important evidence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3411073" y="3870694"/>
            <a:ext cx="3829183" cy="8169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688357" y="4109873"/>
            <a:ext cx="3389491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expected effect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9429756" y="4839896"/>
            <a:ext cx="3829017" cy="8169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07038" y="5079075"/>
            <a:ext cx="3389321" cy="37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available choices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3411073" y="4839896"/>
            <a:ext cx="3829183" cy="8169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677769" y="5068496"/>
            <a:ext cx="3410658" cy="397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Reversibility, where relevant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4" y="7296548"/>
            <a:ext cx="16192501" cy="14469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47754" y="7296548"/>
            <a:ext cx="52917" cy="1446940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81667" y="7601315"/>
            <a:ext cx="15838912" cy="875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062"/>
              </a:lnSpc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is </a:t>
            </a:r>
            <a:r>
              <a:rPr lang="en-US" sz="2325" b="1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failure of automation </a:t>
            </a: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a deliberate control for decisions where human judgement or authority remains necessary.</a:t>
            </a:r>
            <a:endParaRPr lang="en-US" sz="2325" dirty="0"/>
          </a:p>
        </p:txBody>
      </p:sp>
      <p:sp>
        <p:nvSpPr>
          <p:cNvPr id="39" name="Shape 37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62528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Selection Guide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860316"/>
            <a:ext cx="8905876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1" y="2399941"/>
            <a:ext cx="890635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TASK NEEDS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953625" y="2860316"/>
            <a:ext cx="7286626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20325" y="2399941"/>
            <a:ext cx="7238524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b="1" kern="0" spc="216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STARTING PATTERN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47750" y="3668617"/>
            <a:ext cx="890587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1" y="3089975"/>
            <a:ext cx="890635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known, fixed sequence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9953625" y="3668617"/>
            <a:ext cx="728662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20325" y="3089975"/>
            <a:ext cx="7238524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workflow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047750" y="4476919"/>
            <a:ext cx="890587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1" y="3898276"/>
            <a:ext cx="890635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depends on new evidence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953625" y="4476919"/>
            <a:ext cx="728662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20325" y="3898276"/>
            <a:ext cx="7238524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047750" y="5285223"/>
            <a:ext cx="890587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1" y="4706578"/>
            <a:ext cx="890635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task with recognisable stages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9953625" y="5285223"/>
            <a:ext cx="728662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220325" y="4706578"/>
            <a:ext cx="7238524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1047750" y="6093524"/>
            <a:ext cx="890587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1" y="5514881"/>
            <a:ext cx="890635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can be checked against a rubric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953625" y="6093524"/>
            <a:ext cx="728662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20325" y="5514881"/>
            <a:ext cx="7238524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· Evaluator-Optimizer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1047750" y="6901826"/>
            <a:ext cx="890587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7751" y="6323182"/>
            <a:ext cx="890635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belong to distinct categories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9953625" y="6901826"/>
            <a:ext cx="728662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220325" y="6323182"/>
            <a:ext cx="7238524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1047750" y="7710129"/>
            <a:ext cx="890587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7751" y="7131484"/>
            <a:ext cx="8906352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subtasks require specialists</a:t>
            </a:r>
            <a:endParaRPr lang="en-US" sz="2175" dirty="0"/>
          </a:p>
        </p:txBody>
      </p:sp>
      <p:sp>
        <p:nvSpPr>
          <p:cNvPr id="31" name="Shape 29"/>
          <p:cNvSpPr/>
          <p:nvPr/>
        </p:nvSpPr>
        <p:spPr>
          <a:xfrm>
            <a:off x="9953625" y="7710129"/>
            <a:ext cx="728662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220325" y="7131484"/>
            <a:ext cx="7238524" cy="397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· Orchestrator-Workers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1047751" y="7939782"/>
            <a:ext cx="8906352" cy="40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consequential decision, or unresolved ambiguity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10220325" y="7939782"/>
            <a:ext cx="7238524" cy="40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17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FA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982146"/>
            <a:ext cx="2330880" cy="1600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58110"/>
              </a:lnSpc>
            </a:pPr>
            <a:r>
              <a:rPr lang="en-US" sz="15001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1" dirty="0"/>
          </a:p>
        </p:txBody>
      </p:sp>
      <p:sp>
        <p:nvSpPr>
          <p:cNvPr id="3" name="Text 1"/>
          <p:cNvSpPr/>
          <p:nvPr/>
        </p:nvSpPr>
        <p:spPr>
          <a:xfrm>
            <a:off x="3776271" y="4115429"/>
            <a:ext cx="117342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90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6271" y="4686929"/>
            <a:ext cx="11734255" cy="890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3850"/>
              </a:lnSpc>
            </a:pPr>
            <a:r>
              <a:rPr lang="en-US" sz="6450" b="1" kern="0" spc="-193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Tracing and Evaluation</a:t>
            </a:r>
            <a:endParaRPr lang="en-US" sz="6450" dirty="0"/>
          </a:p>
        </p:txBody>
      </p:sp>
      <p:sp>
        <p:nvSpPr>
          <p:cNvPr id="5" name="Text 3"/>
          <p:cNvSpPr/>
          <p:nvPr/>
        </p:nvSpPr>
        <p:spPr>
          <a:xfrm>
            <a:off x="3776266" y="5824642"/>
            <a:ext cx="10896600" cy="51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95"/>
              </a:lnSpc>
            </a:pPr>
            <a:r>
              <a:rPr lang="en-US" sz="2700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turn an open-ended loop into a bounded computation.</a:t>
            </a:r>
            <a:endParaRPr lang="en-US" sz="2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8" y="819056"/>
            <a:ext cx="15105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Expose Every Tool on Every Turn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4" y="2323708"/>
            <a:ext cx="16192501" cy="7577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5" y="2323708"/>
            <a:ext cx="42333" cy="757701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5833" y="2549100"/>
            <a:ext cx="35623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details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861884" y="2554391"/>
            <a:ext cx="30473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7974" y="2533225"/>
            <a:ext cx="3863033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read and validation tools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047754" y="3214693"/>
            <a:ext cx="16192501" cy="7577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7755" y="3214693"/>
            <a:ext cx="42333" cy="757701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5833" y="3440085"/>
            <a:ext cx="35623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preview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61884" y="3445375"/>
            <a:ext cx="30473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7970" y="3424210"/>
            <a:ext cx="2394182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the draft tool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47754" y="4105677"/>
            <a:ext cx="16192501" cy="725951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7755" y="4105677"/>
            <a:ext cx="42333" cy="725951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5833" y="4315194"/>
            <a:ext cx="35623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confirmation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861884" y="4320486"/>
            <a:ext cx="30473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E3B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37974" y="4320486"/>
            <a:ext cx="292478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no write tool at all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47754" y="4964911"/>
            <a:ext cx="16192501" cy="757701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7755" y="4964911"/>
            <a:ext cx="42333" cy="757701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75833" y="5190303"/>
            <a:ext cx="35623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861884" y="5195595"/>
            <a:ext cx="30473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BFE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7974" y="5174429"/>
            <a:ext cx="3763715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one specific submit tool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047754" y="5855896"/>
            <a:ext cx="16192501" cy="7577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7755" y="5855896"/>
            <a:ext cx="42333" cy="757701"/>
          </a:xfrm>
          <a:prstGeom prst="rect">
            <a:avLst/>
          </a:prstGeom>
          <a:solidFill>
            <a:srgbClr val="8A9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5833" y="6081288"/>
            <a:ext cx="35623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861884" y="6086579"/>
            <a:ext cx="30473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C3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37974" y="6065413"/>
            <a:ext cx="3594729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a read-only status tool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047751" y="7032626"/>
            <a:ext cx="7943784" cy="1279922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47754" y="7032626"/>
            <a:ext cx="52917" cy="1279922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43469" y="7299194"/>
            <a:ext cx="7421424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enforced in code, so it holds even when the model misjudges the stage.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296305" y="7032626"/>
            <a:ext cx="7943949" cy="127992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296306" y="7032626"/>
            <a:ext cx="52917" cy="1279922"/>
          </a:xfrm>
          <a:prstGeom prst="rect">
            <a:avLst/>
          </a:prstGeom>
          <a:solidFill>
            <a:srgbClr val="8A9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92019" y="7299194"/>
            <a:ext cx="7421594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far stronger than a prompt that merely says "do not submit too early".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62005"/>
            <a:ext cx="15105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Guardrails, Budgets, Checkpoints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5851761"/>
            <a:ext cx="53214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5" y="2149413"/>
            <a:ext cx="5321433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306" y="2149414"/>
            <a:ext cx="10583" cy="371293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25154" y="2149414"/>
            <a:ext cx="10583" cy="371293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0634" y="2458314"/>
            <a:ext cx="520164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10639" y="2919682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02623" y="2919682"/>
            <a:ext cx="3704070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unsupported input formats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10639" y="3312258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02628" y="3312258"/>
            <a:ext cx="3894153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disallowed tool combinations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10639" y="3704833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402628" y="3704833"/>
            <a:ext cx="2981889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results by permission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10639" y="4097409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402623" y="4097404"/>
            <a:ext cx="4016106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confirmation for high impact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10639" y="4489984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402627" y="4489984"/>
            <a:ext cx="3174527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disclosure of secrets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210639" y="4882560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402628" y="4882560"/>
            <a:ext cx="3398505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the response structure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483288" y="5851761"/>
            <a:ext cx="53214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83288" y="2149413"/>
            <a:ext cx="5321433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83288" y="2149414"/>
            <a:ext cx="10583" cy="371293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794137" y="2149414"/>
            <a:ext cx="10583" cy="371293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9618" y="2458314"/>
            <a:ext cx="520164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779623" y="2919682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6971611" y="2919682"/>
            <a:ext cx="2472829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model turns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6779623" y="3312258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6971610" y="3312258"/>
            <a:ext cx="2145903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tool calls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6779623" y="3704833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6971607" y="3704833"/>
            <a:ext cx="4046594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calls with same arguments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6779623" y="4097409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6971610" y="4097404"/>
            <a:ext cx="2567749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elapsed time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6779623" y="4489984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6971606" y="4489984"/>
            <a:ext cx="2688418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tokens or cost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6779623" y="4882560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6971611" y="4882560"/>
            <a:ext cx="3217449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records and retries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2052272" y="5851761"/>
            <a:ext cx="53214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052272" y="2149413"/>
            <a:ext cx="5321433" cy="4233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052272" y="2149414"/>
            <a:ext cx="10583" cy="371293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363122" y="2149414"/>
            <a:ext cx="10583" cy="3712931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348602" y="2458314"/>
            <a:ext cx="5201642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2348606" y="2919682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2540589" y="2919682"/>
            <a:ext cx="2836090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after interruption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2348606" y="3312258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12540594" y="3312258"/>
            <a:ext cx="2553527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duplicate actions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12348606" y="3704833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12540594" y="3704833"/>
            <a:ext cx="2368483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human review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12348606" y="4097409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12540589" y="4097404"/>
            <a:ext cx="2182780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auditability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2348606" y="4489984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2540594" y="4489984"/>
            <a:ext cx="2456623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recovery explicit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2348606" y="4930180"/>
            <a:ext cx="4870629" cy="654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54"/>
              </a:lnSpc>
            </a:pPr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state before or after consequential steps.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914301" y="6167107"/>
            <a:ext cx="5334000" cy="145587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00051" y="6395642"/>
            <a:ext cx="523875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1725" dirty="0"/>
          </a:p>
        </p:txBody>
      </p:sp>
      <p:sp>
        <p:nvSpPr>
          <p:cNvPr id="57" name="Text 55"/>
          <p:cNvSpPr/>
          <p:nvPr/>
        </p:nvSpPr>
        <p:spPr>
          <a:xfrm>
            <a:off x="1200056" y="6725709"/>
            <a:ext cx="4905375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sections · citations · no unsupported success claim · correct status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6476835" y="6167107"/>
            <a:ext cx="5334166" cy="145587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62585" y="6395642"/>
            <a:ext cx="52389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DEFENCE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6762585" y="6725709"/>
            <a:ext cx="4905546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guardrail is sufficient. Different risks need different layers.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2039535" y="6167107"/>
            <a:ext cx="5334000" cy="1455870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2039539" y="6167107"/>
            <a:ext cx="42333" cy="145587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2367618" y="6395642"/>
            <a:ext cx="519218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725" dirty="0"/>
          </a:p>
        </p:txBody>
      </p:sp>
      <p:sp>
        <p:nvSpPr>
          <p:cNvPr id="64" name="Text 62"/>
          <p:cNvSpPr/>
          <p:nvPr/>
        </p:nvSpPr>
        <p:spPr>
          <a:xfrm>
            <a:off x="12367618" y="6725709"/>
            <a:ext cx="4861772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not authorization. Reported confidence never replaces policy.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8531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319" y="666752"/>
            <a:ext cx="15105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7255" y="1075201"/>
            <a:ext cx="18230851" cy="614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2258"/>
              </a:lnSpc>
            </a:pPr>
            <a:r>
              <a:rPr lang="en-US" sz="4200" b="1" kern="0" spc="-84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ReAct Loop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57255" y="1937083"/>
            <a:ext cx="8974667" cy="8338179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2017" y="2203650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initialize(request, authenticated_user)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162017" y="2513213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 = 6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62017" y="2832201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</a:t>
            </a: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1..max_steps: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162017" y="3141764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tools_allowed_for(state)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62017" y="3451327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ask_model(state, tools)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62017" y="3770315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out.is_final_answer: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162017" y="4079877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 = validate_final_answer(out)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162017" y="4389440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ans.is_valid: </a:t>
            </a: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162017" y="4699002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state.add_observation(</a:t>
            </a:r>
            <a:r>
              <a:rPr lang="en-US" sz="15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 validation"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162017" y="5008565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162017" y="5327553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out.is_tool_call: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62017" y="5637115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controlled_error(</a:t>
            </a:r>
            <a:r>
              <a:rPr lang="en-US" sz="15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"unsupported output"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62017" y="5956104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= out.tool_call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162017" y="6265667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is_duplicate_without_progress(call, state):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62017" y="6575229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controlled_error(</a:t>
            </a:r>
            <a:r>
              <a:rPr lang="en-US" sz="15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"repeated call"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62017" y="6894217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= validate_schema_and_policy(call, state)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162017" y="7203780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check.is_allowed: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162017" y="7513342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state.add_observation(check.safe_error)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162017" y="7822905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162017" y="8141893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requires_human_approval(call, state):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162017" y="8451455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save_checkpoint(state, call)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162017" y="8761018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request_approval(call.preview)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162017" y="9080006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execute_with_timeout(call)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162017" y="9389569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state.add_tool_result(call.id, sanitize(result))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162017" y="9708557"/>
            <a:ext cx="9201646" cy="338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864"/>
              </a:lnSpc>
            </a:pPr>
            <a:r>
              <a:rPr lang="en-US" sz="1575" dirty="0">
                <a:solidFill>
                  <a:srgbClr val="F5A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controlled_stop(</a:t>
            </a:r>
            <a:r>
              <a:rPr lang="en-US" sz="1575" dirty="0">
                <a:solidFill>
                  <a:srgbClr val="8FD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"max steps"</a:t>
            </a:r>
            <a:r>
              <a:rPr lang="en-US" sz="1575" dirty="0">
                <a:solidFill>
                  <a:srgbClr val="E8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state.work)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0250952" y="1937081"/>
            <a:ext cx="7395194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asks for a small ReAct agent with at least two tools, a maximum step count and one output guardrail. This is the architecture, independent of any SDK.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250952" y="3207579"/>
            <a:ext cx="7179800" cy="1480675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250955" y="3207579"/>
            <a:ext cx="52917" cy="1480675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89623" y="3436113"/>
            <a:ext cx="2435291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SHAPE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589618" y="3766181"/>
            <a:ext cx="6752044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path out of the loop is explicit: a validated answer, a controlled error, an approval request, or a controlled stop.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250952" y="4878752"/>
            <a:ext cx="7179800" cy="182744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536701" y="5107287"/>
            <a:ext cx="5073402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NEED NOT BE EXPOSED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0536706" y="5437355"/>
            <a:ext cx="6806549" cy="1078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trace records why a tool category was needed, which tool was selected, the validated arguments, the result status, the next state and the stopping reason.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857254" y="10275262"/>
            <a:ext cx="16573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7250" y="10495359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7176588" y="10505944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42368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23806"/>
            <a:ext cx="15105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51272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Control Exists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2512223"/>
            <a:ext cx="6912901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301" y="2092193"/>
            <a:ext cx="6853588" cy="286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7827202" y="2512223"/>
            <a:ext cx="9546498" cy="1058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93907" y="2092193"/>
            <a:ext cx="9566193" cy="286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725" b="1" kern="0" spc="207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IT HELPS PREVENT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14305" y="3166075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01" y="2675202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max_steps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7827202" y="3166075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3907" y="2675202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or costly loops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14305" y="3819927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301" y="3329054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tools_allowed_for(state)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7827202" y="3819927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3907" y="3329054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at the wrong stage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305" y="4473779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301" y="3982905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validate_final_answer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7827202" y="4473779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93907" y="3982905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or malformed completion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305" y="5127630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301" y="4636757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detection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7827202" y="5127630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93907" y="4636757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 without progress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14305" y="5781482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301" y="5290608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and policy validation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827202" y="5781482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93907" y="5290608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or unauthorized calls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305" y="6435334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301" y="5944460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 checkpoint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827202" y="6435334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93907" y="5944460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unreviewed consequential action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914305" y="7089185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301" y="6598312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7827202" y="7089185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93907" y="6598312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dependency blocking the whole task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14305" y="7743036"/>
            <a:ext cx="691290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301" y="7252163"/>
            <a:ext cx="6853588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sanitization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7827202" y="7743036"/>
            <a:ext cx="9546498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93907" y="7252163"/>
            <a:ext cx="9566193" cy="37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or unsafe internal data entering context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914301" y="7906015"/>
            <a:ext cx="6853588" cy="381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1875" dirty="0">
                <a:solidFill>
                  <a:srgbClr val="353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controlled stop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8093907" y="7906015"/>
            <a:ext cx="9566193" cy="381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r>
              <a:rPr lang="en-US" sz="2025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success after limits are reached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914305" y="8649726"/>
            <a:ext cx="16459399" cy="124188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305" y="8649726"/>
            <a:ext cx="52917" cy="1241888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310018" y="8897278"/>
            <a:ext cx="16192508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655"/>
              </a:lnSpc>
            </a:pPr>
            <a:r>
              <a:rPr lang="en-US" sz="210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of a good controlled stop: "I could not complete the task within the allowed steps. I verified A and B, but C still requires review."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914305" y="9891618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302" y="10111718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119538" y="1012230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42368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69" y="723806"/>
            <a:ext cx="15105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51269"/>
            <a:ext cx="18105339" cy="614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2258"/>
              </a:lnSpc>
            </a:pPr>
            <a:r>
              <a:rPr lang="en-US" sz="4200" b="1" kern="0" spc="-84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A Controlled Course Assistant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305" y="2032170"/>
            <a:ext cx="16459399" cy="72595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0056" y="2241687"/>
            <a:ext cx="1747668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0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missed the tool-calling lesson. Find what I need to learn and create a two-day study plan with equal study time each day.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306" y="3913523"/>
            <a:ext cx="857961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305" y="3181289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49500" y="3138951"/>
            <a:ext cx="602037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required evidence, then call the read tool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9500" y="3494486"/>
            <a:ext cx="60203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search_course_materials(day: 3)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914306" y="4508173"/>
            <a:ext cx="857961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305" y="4099723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65A7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49499" y="4057385"/>
            <a:ext cx="878964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returned sections — lifecycle, schemas, patterns, guardrails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306" y="5426610"/>
            <a:ext cx="857961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305" y="4694375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605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49500" y="4652037"/>
            <a:ext cx="839909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180 minutes across two days with the deterministic calculator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9500" y="5007572"/>
            <a:ext cx="83990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calculate_study_time(180, 2) → 90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14306" y="6345043"/>
            <a:ext cx="8579611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305" y="5612809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EF8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49500" y="5570472"/>
            <a:ext cx="685948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 the verified topics into two 90-minute sessions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49500" y="5926006"/>
            <a:ext cx="68594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draft_study_plan → preview only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914305" y="6531245"/>
            <a:ext cx="20187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49496" y="6488908"/>
            <a:ext cx="849175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before answering: topics came from retrieved content, both days total 90 minutes, lab prep included, no claim that anything was saved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912946" y="3005667"/>
            <a:ext cx="820664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207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CONTROLLED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9912951" y="3411973"/>
            <a:ext cx="26173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231772" y="3411968"/>
            <a:ext cx="440070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three bounded tools are available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912951" y="3835306"/>
            <a:ext cx="26173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231768" y="3835301"/>
            <a:ext cx="519561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course facts come from approved material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912951" y="4258639"/>
            <a:ext cx="26173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231772" y="4258635"/>
            <a:ext cx="301748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is deterministic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912951" y="4681972"/>
            <a:ext cx="26173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231773" y="4681969"/>
            <a:ext cx="465635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a draft, not an external action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912951" y="5105305"/>
            <a:ext cx="26173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231772" y="5105302"/>
            <a:ext cx="516801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when the requested plan is complete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912951" y="5528639"/>
            <a:ext cx="26173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0231768" y="5528636"/>
            <a:ext cx="523529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maximum step count prevents an open loop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912950" y="6066074"/>
            <a:ext cx="7460589" cy="1112573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912950" y="6066074"/>
            <a:ext cx="52917" cy="111257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232434" y="6275591"/>
            <a:ext cx="7080773" cy="731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future tool saves the plan to a calendar, that write action must be separate and must require confirmation.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14305" y="9199072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302" y="9419172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7119538" y="9429756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74" y="762005"/>
            <a:ext cx="14128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Useful Trace Records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301" y="2149409"/>
            <a:ext cx="93928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207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FOR EVERY RUN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914305" y="2574732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06294" y="2574732"/>
            <a:ext cx="1515203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identifier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26564" y="2574732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5518552" y="2574732"/>
            <a:ext cx="3340595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and session, privacy-safe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14305" y="2995915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06289" y="2995915"/>
            <a:ext cx="2734406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config version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326564" y="2995915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518552" y="2995915"/>
            <a:ext cx="2294897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 names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14305" y="3417099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06294" y="3417094"/>
            <a:ext cx="2139619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tool name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326564" y="3417099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518551" y="3417094"/>
            <a:ext cx="3376533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arguments, redacted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14305" y="3838283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06294" y="3838278"/>
            <a:ext cx="2510367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outcome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5326564" y="3838283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5518547" y="3838278"/>
            <a:ext cx="2027502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outcome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14305" y="4259466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06294" y="4259466"/>
            <a:ext cx="3099073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status and error code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5326564" y="4259466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5518547" y="4259466"/>
            <a:ext cx="2769834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Duration, retries, timeout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14305" y="4680650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106289" y="4680645"/>
            <a:ext cx="1714632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5326564" y="4680650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5518547" y="4680645"/>
            <a:ext cx="1812198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reason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9948505" y="2149409"/>
            <a:ext cx="816753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207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STORE CARELESSLY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948500" y="2574728"/>
            <a:ext cx="27083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0257401" y="2574732"/>
            <a:ext cx="1602350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tokens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9948500" y="2996903"/>
            <a:ext cx="27083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0257401" y="2996908"/>
            <a:ext cx="2495152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or API keys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948500" y="3419079"/>
            <a:ext cx="27083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0257401" y="3419083"/>
            <a:ext cx="2519958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private documents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9948500" y="3841254"/>
            <a:ext cx="27083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10257405" y="3841254"/>
            <a:ext cx="2056771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personal data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9948500" y="4263430"/>
            <a:ext cx="27083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0257401" y="4263435"/>
            <a:ext cx="3459822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traces in user-visible logs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9948500" y="4685607"/>
            <a:ext cx="27083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10257405" y="4685611"/>
            <a:ext cx="4230545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arguments without redaction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914301" y="5326893"/>
            <a:ext cx="8077234" cy="1545167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305" y="5326893"/>
            <a:ext cx="52917" cy="1545167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291001" y="5574441"/>
            <a:ext cx="811442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1291001" y="5904513"/>
            <a:ext cx="7598052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us what happened during a run. Traces without quality criteria produce data, not judgement.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9296306" y="5326893"/>
            <a:ext cx="8077399" cy="1545167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296306" y="5326893"/>
            <a:ext cx="52917" cy="1545167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73003" y="5574441"/>
            <a:ext cx="811460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9673002" y="5904513"/>
            <a:ext cx="7598222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500"/>
              </a:lnSpc>
            </a:pPr>
            <a:r>
              <a:rPr lang="en-US" sz="20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us whether that behaviour was good enough. Scores without traces reveal a problem but not its cause.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914305" y="9123004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14302" y="93811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7119538" y="9391722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74" y="762002"/>
            <a:ext cx="1957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0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Representative Evaluation Set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306" y="2149411"/>
            <a:ext cx="14912341" cy="838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081"/>
              </a:lnSpc>
            </a:pPr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quality cannot be reduced to "the final answer sounded good". The set must include the cases that break systems.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14301" y="3292907"/>
            <a:ext cx="3971892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1856" y="3540458"/>
            <a:ext cx="382446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61852" y="3900289"/>
            <a:ext cx="358109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requests requiring no tool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76693" y="3292907"/>
            <a:ext cx="3972058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24249" y="3540458"/>
            <a:ext cx="382465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24245" y="3900289"/>
            <a:ext cx="358126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requiring one specific tool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39251" y="3292907"/>
            <a:ext cx="3971892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86806" y="3540458"/>
            <a:ext cx="382446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486801" y="3900289"/>
            <a:ext cx="358109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requests needing clarification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401642" y="3292907"/>
            <a:ext cx="3972058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649199" y="3540458"/>
            <a:ext cx="382465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649199" y="3900291"/>
            <a:ext cx="382465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multi-tool tasks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01" y="5540708"/>
            <a:ext cx="3971892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61856" y="5788259"/>
            <a:ext cx="382446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61852" y="6148090"/>
            <a:ext cx="358109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calls that may run in parallel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076693" y="5540708"/>
            <a:ext cx="3972058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24249" y="5788259"/>
            <a:ext cx="382465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24245" y="6148090"/>
            <a:ext cx="358126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identifiers and missing records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239251" y="5540708"/>
            <a:ext cx="3971892" cy="2057301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86806" y="5788259"/>
            <a:ext cx="382446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486806" y="6148092"/>
            <a:ext cx="3824469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requests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401642" y="5540708"/>
            <a:ext cx="3972058" cy="2057301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649199" y="5788259"/>
            <a:ext cx="382465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649199" y="6148092"/>
            <a:ext cx="3824651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tool failures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301" y="7788509"/>
            <a:ext cx="3971892" cy="2057301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61856" y="8036060"/>
            <a:ext cx="382446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61856" y="8395893"/>
            <a:ext cx="3824469" cy="372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or duplicated calls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5076693" y="7788509"/>
            <a:ext cx="3972058" cy="2057301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24249" y="8036060"/>
            <a:ext cx="382465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324245" y="8395891"/>
            <a:ext cx="358126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requiring human approval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239251" y="7788509"/>
            <a:ext cx="3971892" cy="2057301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86806" y="8036060"/>
            <a:ext cx="382446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486801" y="8395891"/>
            <a:ext cx="3581094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that must be refused or safely stopped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3401642" y="7788509"/>
            <a:ext cx="3972058" cy="2057301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649195" y="8476589"/>
            <a:ext cx="358126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only happy paths hides every real failure mode.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914305" y="9845810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302" y="10103943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7119538" y="10114528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42368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74" y="723806"/>
            <a:ext cx="1957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51272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Families of Metric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7145575"/>
            <a:ext cx="395767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5" y="2092197"/>
            <a:ext cx="3957671" cy="4233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306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61392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91452" y="2401098"/>
            <a:ext cx="374370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65A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91452" y="2862466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Necessity accuracy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91452" y="3166070"/>
            <a:ext cx="3743706" cy="322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 tool only when needed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191452" y="3584117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Tool-name accuracy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91452" y="3887721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the right tool among alternatives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91452" y="4590526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Omission rate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91452" y="4894131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from memory when a tool was needed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91452" y="5596935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Unnecessary-call rate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91452" y="5900539"/>
            <a:ext cx="3743706" cy="322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a tool it did not need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5081494" y="7145575"/>
            <a:ext cx="395767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1494" y="2092197"/>
            <a:ext cx="3957671" cy="4233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81494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28581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8640" y="2401098"/>
            <a:ext cx="374370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and execution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5358640" y="2862466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Schema-valid rate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5358640" y="3166070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satisfied the declared schema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5358640" y="3868875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Semantic-validity rate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358640" y="4172480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 made sense for the real state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5358640" y="4875284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Authorization-block accuracy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5358640" y="5178889"/>
            <a:ext cx="3743706" cy="322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without leaking details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5358640" y="5596935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side-effect rate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5358640" y="5900539"/>
            <a:ext cx="3743706" cy="322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created duplicate records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9248681" y="7145575"/>
            <a:ext cx="395767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248681" y="2092197"/>
            <a:ext cx="3957671" cy="4233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48681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195768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525827" y="2401098"/>
            <a:ext cx="3743706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2F9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outcome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9525827" y="2862466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success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9525827" y="3166070"/>
            <a:ext cx="3743706" cy="322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the user's real goal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9525827" y="3584117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final response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9525828" y="3887721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reflected the tool result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9525827" y="4590526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False-success rate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9525828" y="4894131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success when it failed or never ran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9525827" y="5596935"/>
            <a:ext cx="37437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and escalation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9525828" y="5900539"/>
            <a:ext cx="350547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125"/>
              </a:lnSpc>
            </a:pPr>
            <a:r>
              <a:rPr lang="en-US" sz="17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failure, paused at the right time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13415864" y="7145575"/>
            <a:ext cx="3957836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415864" y="2092197"/>
            <a:ext cx="3957836" cy="4233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3415868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7363121" y="2092193"/>
            <a:ext cx="10583" cy="5063960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693016" y="2401098"/>
            <a:ext cx="3743888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b="1" dirty="0">
                <a:solidFill>
                  <a:srgbClr val="C26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2175" dirty="0"/>
          </a:p>
        </p:txBody>
      </p:sp>
      <p:sp>
        <p:nvSpPr>
          <p:cNvPr id="49" name="Text 47"/>
          <p:cNvSpPr/>
          <p:nvPr/>
        </p:nvSpPr>
        <p:spPr>
          <a:xfrm>
            <a:off x="13693019" y="2862466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13885009" y="2862466"/>
            <a:ext cx="1350169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turns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13693019" y="3255041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3885005" y="3255041"/>
            <a:ext cx="1075994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calls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3693019" y="3647617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3885004" y="3647617"/>
            <a:ext cx="1650802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calls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13693019" y="4040193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3885004" y="4040193"/>
            <a:ext cx="1441284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latency</a:t>
            </a:r>
            <a:endParaRPr lang="en-US" sz="1875" dirty="0"/>
          </a:p>
        </p:txBody>
      </p:sp>
      <p:sp>
        <p:nvSpPr>
          <p:cNvPr id="57" name="Text 55"/>
          <p:cNvSpPr/>
          <p:nvPr/>
        </p:nvSpPr>
        <p:spPr>
          <a:xfrm>
            <a:off x="13693019" y="4432768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58" name="Text 56"/>
          <p:cNvSpPr/>
          <p:nvPr/>
        </p:nvSpPr>
        <p:spPr>
          <a:xfrm>
            <a:off x="13885009" y="4432768"/>
            <a:ext cx="1407385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usage</a:t>
            </a:r>
            <a:endParaRPr lang="en-US" sz="1875" dirty="0"/>
          </a:p>
        </p:txBody>
      </p:sp>
      <p:sp>
        <p:nvSpPr>
          <p:cNvPr id="59" name="Text 57"/>
          <p:cNvSpPr/>
          <p:nvPr/>
        </p:nvSpPr>
        <p:spPr>
          <a:xfrm>
            <a:off x="13693019" y="4825344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60" name="Text 58"/>
          <p:cNvSpPr/>
          <p:nvPr/>
        </p:nvSpPr>
        <p:spPr>
          <a:xfrm>
            <a:off x="13885009" y="4825339"/>
            <a:ext cx="2517477" cy="34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service cost</a:t>
            </a:r>
            <a:endParaRPr lang="en-US" sz="1875" dirty="0"/>
          </a:p>
        </p:txBody>
      </p:sp>
      <p:sp>
        <p:nvSpPr>
          <p:cNvPr id="61" name="Text 59"/>
          <p:cNvSpPr/>
          <p:nvPr/>
        </p:nvSpPr>
        <p:spPr>
          <a:xfrm>
            <a:off x="13693019" y="5217919"/>
            <a:ext cx="15392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75" dirty="0"/>
          </a:p>
        </p:txBody>
      </p:sp>
      <p:sp>
        <p:nvSpPr>
          <p:cNvPr id="62" name="Text 60"/>
          <p:cNvSpPr/>
          <p:nvPr/>
        </p:nvSpPr>
        <p:spPr>
          <a:xfrm>
            <a:off x="13885009" y="5217919"/>
            <a:ext cx="2548897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awaiting approval</a:t>
            </a:r>
            <a:endParaRPr lang="en-US" sz="1875" dirty="0"/>
          </a:p>
        </p:txBody>
      </p:sp>
      <p:sp>
        <p:nvSpPr>
          <p:cNvPr id="63" name="Text 61"/>
          <p:cNvSpPr/>
          <p:nvPr/>
        </p:nvSpPr>
        <p:spPr>
          <a:xfrm>
            <a:off x="13693015" y="5658116"/>
            <a:ext cx="3505640" cy="1220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437"/>
              </a:lnSpc>
            </a:pPr>
            <a:r>
              <a:rPr lang="en-US" sz="1725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run is not the one with the fewest calls — it is the one that completes the task correctly, safely and efficiently.</a:t>
            </a:r>
            <a:endParaRPr lang="en-US" sz="1725" dirty="0"/>
          </a:p>
        </p:txBody>
      </p:sp>
      <p:sp>
        <p:nvSpPr>
          <p:cNvPr id="64" name="Shape 62"/>
          <p:cNvSpPr/>
          <p:nvPr/>
        </p:nvSpPr>
        <p:spPr>
          <a:xfrm>
            <a:off x="914305" y="9199072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14302" y="9419172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7119538" y="9429756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23" y="819056"/>
            <a:ext cx="1957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Failed Outcome Comes From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5" y="2342725"/>
            <a:ext cx="3890863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5" y="2342720"/>
            <a:ext cx="3890863" cy="31750"/>
          </a:xfrm>
          <a:prstGeom prst="rect">
            <a:avLst/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14323" y="2641038"/>
            <a:ext cx="369350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14319" y="2990288"/>
            <a:ext cx="345846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went to the wrong path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148136" y="2342725"/>
            <a:ext cx="3891029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48136" y="2342720"/>
            <a:ext cx="3891029" cy="317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14703" y="2641038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DESCRIPTION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5414698" y="2990288"/>
            <a:ext cx="34586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tools were indistinguishable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48681" y="2342725"/>
            <a:ext cx="3891029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48681" y="2342720"/>
            <a:ext cx="3891029" cy="3175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15249" y="2641038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605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ARGUMENTS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515244" y="2990288"/>
            <a:ext cx="34586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was valid but pointed at the wrong record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49227" y="2342725"/>
            <a:ext cx="3891029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349227" y="2342720"/>
            <a:ext cx="3891029" cy="317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615795" y="2641038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3615790" y="2990288"/>
            <a:ext cx="34586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external service timed out or failed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5" y="4869827"/>
            <a:ext cx="3890863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7755" y="4869822"/>
            <a:ext cx="3890863" cy="31750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14323" y="5168140"/>
            <a:ext cx="369350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EF8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314319" y="5517389"/>
            <a:ext cx="345846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logic blocked or allowed incorrectly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148136" y="4869827"/>
            <a:ext cx="3891029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48136" y="4869822"/>
            <a:ext cx="3891029" cy="317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14703" y="5168140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5414698" y="5517389"/>
            <a:ext cx="34586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correct result was read incorrectly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248681" y="4869827"/>
            <a:ext cx="3891029" cy="2317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48681" y="4869822"/>
            <a:ext cx="3891029" cy="31750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15249" y="5168140"/>
            <a:ext cx="369368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725" b="1" kern="0" spc="173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DECISION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9515244" y="5517389"/>
            <a:ext cx="3458630" cy="706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stopped too early, or would not stop at all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349227" y="4869827"/>
            <a:ext cx="3891029" cy="2317585"/>
          </a:xfrm>
          <a:prstGeom prst="rect">
            <a:avLst/>
          </a:prstGeom>
          <a:solidFill>
            <a:srgbClr val="F0F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349227" y="4869822"/>
            <a:ext cx="3891029" cy="31750"/>
          </a:xfrm>
          <a:prstGeom prst="rect">
            <a:avLst/>
          </a:prstGeom>
          <a:solidFill>
            <a:srgbClr val="2F9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615790" y="5523839"/>
            <a:ext cx="3458630" cy="1041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9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possible causes — and only one of them is "the model".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47754" y="7606445"/>
            <a:ext cx="16192501" cy="102294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47754" y="7606445"/>
            <a:ext cx="52917" cy="1022945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81672" y="7911212"/>
            <a:ext cx="16915343" cy="451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062"/>
              </a:lnSpc>
            </a:pPr>
            <a:r>
              <a:rPr lang="en-US" sz="232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Stage-by-stage evaluation prevents the team from blaming the model for every system failure.</a:t>
            </a:r>
            <a:endParaRPr lang="en-US" sz="2325" dirty="0"/>
          </a:p>
        </p:txBody>
      </p:sp>
      <p:sp>
        <p:nvSpPr>
          <p:cNvPr id="39" name="Shape 37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034" y="7471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57107" y="628556"/>
            <a:ext cx="1957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035" y="1037001"/>
            <a:ext cx="18356726" cy="593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3729"/>
              </a:lnSpc>
            </a:pPr>
            <a:r>
              <a:rPr lang="en-US" sz="4050" b="1" kern="0" spc="-8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Common Mistakes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800034" y="1858868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034" y="1858868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2289" y="2030186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2284" y="2330649"/>
            <a:ext cx="288701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the model executes the function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22289" y="2935387"/>
            <a:ext cx="3083223" cy="29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the application boundary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4168014" y="1858868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68014" y="1858868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90270" y="2030186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90265" y="2330649"/>
            <a:ext cx="288701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tool names and descriptions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4390265" y="2935391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tools become indistinguishable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7535999" y="1858868"/>
            <a:ext cx="3215845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35995" y="1858868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58249" y="2030186"/>
            <a:ext cx="308340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58249" y="2330649"/>
            <a:ext cx="308340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all-powerful tool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7758245" y="2661548"/>
            <a:ext cx="288718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and logs become too broad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904142" y="1858868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904141" y="1858868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26396" y="2030186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26391" y="2330649"/>
            <a:ext cx="288701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as authorization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1126391" y="2935391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well-formed request can still be forbidden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4272127" y="1858868"/>
            <a:ext cx="3215845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272122" y="1858868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494377" y="2030186"/>
            <a:ext cx="308340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494372" y="2330649"/>
            <a:ext cx="288718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identity arguments from the model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4494372" y="2935391"/>
            <a:ext cx="288718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claims are not authentication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800034" y="3820754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0034" y="3820754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22289" y="3992072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22289" y="4292534"/>
            <a:ext cx="3083223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steps or retries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022284" y="4623434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Loops, cost, repeated side effects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4168014" y="3820754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68014" y="3820754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90270" y="3992072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90270" y="4292534"/>
            <a:ext cx="3083223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Retrying writes blindly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4390265" y="4623434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timeout can hide a successful first action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7535999" y="3820754"/>
            <a:ext cx="3215845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35995" y="3820754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758249" y="3992072"/>
            <a:ext cx="308340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58245" y="4292534"/>
            <a:ext cx="288718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Claiming success from the request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7758249" y="4897273"/>
            <a:ext cx="3083405" cy="29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 is not an execution result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10904142" y="3820754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904141" y="3820754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126396" y="3992072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1126396" y="4292534"/>
            <a:ext cx="3083223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raw tool errors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11126391" y="4623434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expose secrets or confuse the loop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4272127" y="3820754"/>
            <a:ext cx="3215845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272122" y="3820754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4494377" y="3992072"/>
            <a:ext cx="308340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4494372" y="4292534"/>
            <a:ext cx="288718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every tool on every turn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14494372" y="4897278"/>
            <a:ext cx="288718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gets harder, bad actions stay reachable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800034" y="5782639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00034" y="5782639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22289" y="5953957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1022284" y="6254419"/>
            <a:ext cx="288701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for a fixed sequence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1022284" y="6859163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Variability with no useful flexibility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4168014" y="5782639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168014" y="5782639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390270" y="5953957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4390270" y="6254419"/>
            <a:ext cx="3083223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multiple agents</a:t>
            </a:r>
            <a:endParaRPr lang="en-US" sz="1725" dirty="0"/>
          </a:p>
        </p:txBody>
      </p:sp>
      <p:sp>
        <p:nvSpPr>
          <p:cNvPr id="64" name="Text 62"/>
          <p:cNvSpPr/>
          <p:nvPr/>
        </p:nvSpPr>
        <p:spPr>
          <a:xfrm>
            <a:off x="4390265" y="6585319"/>
            <a:ext cx="288701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overhead multiplies</a:t>
            </a:r>
            <a:endParaRPr lang="en-US" sz="1575" dirty="0"/>
          </a:p>
        </p:txBody>
      </p:sp>
      <p:sp>
        <p:nvSpPr>
          <p:cNvPr id="65" name="Shape 63"/>
          <p:cNvSpPr/>
          <p:nvPr/>
        </p:nvSpPr>
        <p:spPr>
          <a:xfrm>
            <a:off x="7535999" y="5782639"/>
            <a:ext cx="3215845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535995" y="5782639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758249" y="5953957"/>
            <a:ext cx="308340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7758245" y="6254419"/>
            <a:ext cx="288718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Hiding uncertainty instead of asking</a:t>
            </a:r>
            <a:endParaRPr lang="en-US" sz="1725" dirty="0"/>
          </a:p>
        </p:txBody>
      </p:sp>
      <p:sp>
        <p:nvSpPr>
          <p:cNvPr id="69" name="Text 67"/>
          <p:cNvSpPr/>
          <p:nvPr/>
        </p:nvSpPr>
        <p:spPr>
          <a:xfrm>
            <a:off x="7758245" y="6859163"/>
            <a:ext cx="288718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act on the wrong record or amount</a:t>
            </a:r>
            <a:endParaRPr lang="en-US" sz="1575" dirty="0"/>
          </a:p>
        </p:txBody>
      </p:sp>
      <p:sp>
        <p:nvSpPr>
          <p:cNvPr id="70" name="Shape 68"/>
          <p:cNvSpPr/>
          <p:nvPr/>
        </p:nvSpPr>
        <p:spPr>
          <a:xfrm>
            <a:off x="10904142" y="5782639"/>
            <a:ext cx="3215680" cy="180958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904141" y="5782639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1126396" y="5953957"/>
            <a:ext cx="30832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11126391" y="6254419"/>
            <a:ext cx="288701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no operational trace</a:t>
            </a:r>
            <a:endParaRPr lang="en-US" sz="1725" dirty="0"/>
          </a:p>
        </p:txBody>
      </p:sp>
      <p:sp>
        <p:nvSpPr>
          <p:cNvPr id="74" name="Text 72"/>
          <p:cNvSpPr/>
          <p:nvPr/>
        </p:nvSpPr>
        <p:spPr>
          <a:xfrm>
            <a:off x="11126396" y="6859158"/>
            <a:ext cx="3083223" cy="29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cannot be reproduced</a:t>
            </a:r>
            <a:endParaRPr lang="en-US" sz="1575" dirty="0"/>
          </a:p>
        </p:txBody>
      </p:sp>
      <p:sp>
        <p:nvSpPr>
          <p:cNvPr id="75" name="Shape 73"/>
          <p:cNvSpPr/>
          <p:nvPr/>
        </p:nvSpPr>
        <p:spPr>
          <a:xfrm>
            <a:off x="14272127" y="5782639"/>
            <a:ext cx="3215845" cy="1809585"/>
          </a:xfrm>
          <a:prstGeom prst="rect">
            <a:avLst/>
          </a:prstGeom>
          <a:solidFill>
            <a:srgbClr val="F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4272122" y="5782639"/>
            <a:ext cx="31750" cy="1809585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4494377" y="5953957"/>
            <a:ext cx="3083405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50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14494377" y="6254419"/>
            <a:ext cx="308340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7812"/>
              </a:lnSpc>
            </a:pPr>
            <a:r>
              <a:rPr lang="en-US" sz="1725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only happy paths</a:t>
            </a:r>
            <a:endParaRPr lang="en-US" sz="1725" dirty="0"/>
          </a:p>
        </p:txBody>
      </p:sp>
      <p:sp>
        <p:nvSpPr>
          <p:cNvPr id="79" name="Text 77"/>
          <p:cNvSpPr/>
          <p:nvPr/>
        </p:nvSpPr>
        <p:spPr>
          <a:xfrm>
            <a:off x="14494372" y="6585319"/>
            <a:ext cx="2887188" cy="55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1682"/>
              </a:lnSpc>
            </a:pPr>
            <a:r>
              <a:rPr lang="en-US" sz="15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fail at the boundaries</a:t>
            </a:r>
            <a:endParaRPr lang="en-US" sz="1575" dirty="0"/>
          </a:p>
        </p:txBody>
      </p:sp>
      <p:sp>
        <p:nvSpPr>
          <p:cNvPr id="80" name="Shape 78"/>
          <p:cNvSpPr/>
          <p:nvPr/>
        </p:nvSpPr>
        <p:spPr>
          <a:xfrm>
            <a:off x="800039" y="9294321"/>
            <a:ext cx="16687933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00034" y="94954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7233806" y="95059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71" y="762002"/>
            <a:ext cx="103217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3" y="1189470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Responsible Boundaries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1" y="2149411"/>
            <a:ext cx="5334000" cy="291670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9651" y="2445744"/>
            <a:ext cx="5173630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29653" y="2824595"/>
            <a:ext cx="4844399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1032"/>
              </a:lnSpc>
            </a:pPr>
            <a:r>
              <a:rPr lang="en-US" sz="21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result is not automatically trustworthy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229653" y="3601641"/>
            <a:ext cx="4844399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systems can return stale, incomplete, malicious or malformed content.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76835" y="2149411"/>
            <a:ext cx="5334166" cy="2916701"/>
          </a:xfrm>
          <a:prstGeom prst="rect">
            <a:avLst/>
          </a:prstGeom>
          <a:solidFill>
            <a:srgbClr val="FDF4EC"/>
          </a:solidFill>
          <a:ln w="10583">
            <a:solidFill>
              <a:srgbClr val="F5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92187" y="2445744"/>
            <a:ext cx="517381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C26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92187" y="2824595"/>
            <a:ext cx="5173811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1032"/>
              </a:lnSpc>
            </a:pPr>
            <a:r>
              <a:rPr lang="en-US" sz="21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output is data, not instructions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792187" y="3270250"/>
            <a:ext cx="4844569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retrieved content as source data to validate — never as higher-priority commands.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39535" y="2149411"/>
            <a:ext cx="5334000" cy="291670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54884" y="2445744"/>
            <a:ext cx="5173630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54886" y="2824595"/>
            <a:ext cx="4844399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1032"/>
              </a:lnSpc>
            </a:pPr>
            <a:r>
              <a:rPr lang="en-US" sz="21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can still choose the wrong tool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2354886" y="3601641"/>
            <a:ext cx="4844399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descriptions reduce selection errors but never eliminate them.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14301" y="5294646"/>
            <a:ext cx="5334000" cy="291670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29651" y="5590979"/>
            <a:ext cx="5173630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29653" y="5969829"/>
            <a:ext cx="4844399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1032"/>
              </a:lnSpc>
            </a:pPr>
            <a:r>
              <a:rPr lang="en-US" sz="21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arguments can still be wrong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229653" y="6746875"/>
            <a:ext cx="4844399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value may identify the wrong person, date, account or amount.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476835" y="5294646"/>
            <a:ext cx="5334166" cy="2916701"/>
          </a:xfrm>
          <a:prstGeom prst="rect">
            <a:avLst/>
          </a:prstGeom>
          <a:ln w="10583">
            <a:solidFill>
              <a:srgbClr val="E3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92187" y="5590979"/>
            <a:ext cx="517381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8A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92187" y="5969829"/>
            <a:ext cx="5173811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1032"/>
              </a:lnSpc>
            </a:pPr>
            <a:r>
              <a:rPr lang="en-US" sz="21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autonomy needs more control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6792187" y="6415485"/>
            <a:ext cx="4844569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tools, steps and side effects grow, permissions, budgets and oversight must grow with them.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2039535" y="5294646"/>
            <a:ext cx="5334000" cy="2916701"/>
          </a:xfrm>
          <a:prstGeom prst="rect">
            <a:avLst/>
          </a:prstGeom>
          <a:solidFill>
            <a:srgbClr val="F0F9F5"/>
          </a:solidFill>
          <a:ln w="10583">
            <a:solidFill>
              <a:srgbClr val="BFE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354884" y="5590979"/>
            <a:ext cx="5173630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dirty="0">
                <a:solidFill>
                  <a:srgbClr val="2F7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354884" y="5969829"/>
            <a:ext cx="5173630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1032"/>
              </a:lnSpc>
            </a:pPr>
            <a:r>
              <a:rPr lang="en-US" sz="2175" b="1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must be meaningful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2354886" y="6415485"/>
            <a:ext cx="4844399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827"/>
              </a:lnSpc>
            </a:pPr>
            <a:r>
              <a:rPr lang="en-US" sz="18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action, target, values, evidence and reversibility before asking for confirmation.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14301" y="8516111"/>
            <a:ext cx="8077234" cy="116119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303" y="8516111"/>
            <a:ext cx="52917" cy="1161190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71984" y="8744645"/>
            <a:ext cx="7637226" cy="74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establishes the control boundary. </a:t>
            </a:r>
            <a:r>
              <a:rPr lang="en-US" sz="1950" b="1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</a:t>
            </a: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prompt injection, permissions, secrets and data leakage in depth.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296303" y="8516111"/>
            <a:ext cx="8077399" cy="116119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96303" y="8516111"/>
            <a:ext cx="52917" cy="1161190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53985" y="8744645"/>
            <a:ext cx="7637396" cy="74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1333"/>
              </a:lnSpc>
            </a:pP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classroom loop can demonstrate correct tool use. </a:t>
            </a:r>
            <a:r>
              <a:rPr lang="en-US" sz="1950" b="1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</a:t>
            </a:r>
            <a:r>
              <a:rPr lang="en-US" sz="1950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deployment, monitoring, cost control and recovery.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14303" y="9677303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301" y="9935437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7119536" y="9946020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7853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14323" y="666755"/>
            <a:ext cx="232178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OF DAY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7255" y="1075201"/>
            <a:ext cx="18230851" cy="614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2258"/>
              </a:lnSpc>
            </a:pPr>
            <a:r>
              <a:rPr lang="en-US" sz="4200" b="1" kern="0" spc="-84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Distinctions to Remember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57251" y="3165578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7251" y="2070366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 vs implementation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7255" y="2413169"/>
            <a:ext cx="82999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definition describes a capability. The implementation is the trusted code.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372534" y="3165578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72534" y="2070366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 vs tool result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72534" y="2413170"/>
            <a:ext cx="88640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 is a request. A result reports what actually happened.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57251" y="4537940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7251" y="3442726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vs authority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57251" y="3785531"/>
            <a:ext cx="88640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makes an action possible. Permissions decide whether it is allowed.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372534" y="4537940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72534" y="3442726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vs business validation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372539" y="3785530"/>
            <a:ext cx="82999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checks structure. The other checks whether it makes sense and is permitted.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57251" y="5910301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7251" y="4815087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tool vs write tool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57255" y="5157891"/>
            <a:ext cx="82999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retrieves. The other creates an external effect and needs stronger controls.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372534" y="5910301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72534" y="4815087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vs agent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372539" y="5157891"/>
            <a:ext cx="82999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follows a coded path. An agent chooses steps within boundaries.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857251" y="6973098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7251" y="6187447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pattern vs control mechanism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57251" y="6530252"/>
            <a:ext cx="88640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organises decisions. Step limits and approvals constrain behaviour.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372534" y="6973098"/>
            <a:ext cx="8058216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72534" y="6187447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vs hierarchical orchestration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372534" y="6530252"/>
            <a:ext cx="88640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picks one path. Hierarchy decomposes and coordinates subtasks.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857251" y="7250245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vs autonomy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857255" y="7593051"/>
            <a:ext cx="82999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runs predefined processes. Autonomy allows dynamic decisions.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9372534" y="7250245"/>
            <a:ext cx="88640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vs evidence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372534" y="7593051"/>
            <a:ext cx="88640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500"/>
              </a:lnSpc>
            </a:pPr>
            <a:r>
              <a:rPr lang="en-US" sz="1875" dirty="0">
                <a:solidFill>
                  <a:srgbClr val="5A5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language is not proof. Verified results are evidence.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857254" y="9237270"/>
            <a:ext cx="16573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7251" y="9457370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7176589" y="9467954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01" y="880566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374" y="762005"/>
            <a:ext cx="232178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OF DAY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306" y="1189473"/>
            <a:ext cx="18105339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065"/>
              </a:lnSpc>
            </a:pPr>
            <a:r>
              <a:rPr lang="en-US" sz="4500" b="1" kern="0" spc="-90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Recap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305" y="3275712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306" y="2511396"/>
            <a:ext cx="123693" cy="123693"/>
          </a:xfrm>
          <a:prstGeom prst="rect">
            <a:avLst/>
          </a:prstGeom>
          <a:solidFill>
            <a:srgbClr val="48B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3748" y="2349336"/>
            <a:ext cx="16531455" cy="7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does not automatically reach live data, perform exact operations, or change external systems. Tools provide those bounded capabilities.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14305" y="4020844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306" y="3629261"/>
            <a:ext cx="123693" cy="12369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3749" y="3467199"/>
            <a:ext cx="15693513" cy="410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is a structured request from the model to the application. The model does not execute the function.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914305" y="5138709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306" y="4374393"/>
            <a:ext cx="123693" cy="123693"/>
          </a:xfrm>
          <a:prstGeom prst="rect">
            <a:avLst/>
          </a:prstGeom>
          <a:solidFill>
            <a:srgbClr val="65A7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23748" y="4212332"/>
            <a:ext cx="16531455" cy="7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stages: send request and tools, receive a tool call, execute in the application, return the result, receive a final answer or another call.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14305" y="5883842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306" y="5492258"/>
            <a:ext cx="123693" cy="12369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3749" y="5330197"/>
            <a:ext cx="11462313" cy="410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call is not evidence of success. Only a verified result supports a success claim.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14305" y="7001706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306" y="6237392"/>
            <a:ext cx="123693" cy="123693"/>
          </a:xfrm>
          <a:prstGeom prst="rect">
            <a:avLst/>
          </a:prstGeom>
          <a:solidFill>
            <a:srgbClr val="605B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23748" y="6075330"/>
            <a:ext cx="16531455" cy="7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need precise names, decision-boundary descriptions, narrow schemas and predictable outputs. Schema validation is not authorization.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14305" y="8119571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306" y="7355257"/>
            <a:ext cx="123693" cy="123693"/>
          </a:xfrm>
          <a:prstGeom prst="rect">
            <a:avLst/>
          </a:prstGeom>
          <a:solidFill>
            <a:srgbClr val="EF8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3748" y="7193194"/>
            <a:ext cx="16531455" cy="7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compute, write and orchestration tools need different levels of control. Independent calls may run in parallel; conflicting writes must not.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14305" y="9237436"/>
            <a:ext cx="16459399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306" y="8473122"/>
            <a:ext cx="123693" cy="123693"/>
          </a:xfrm>
          <a:prstGeom prst="rect">
            <a:avLst/>
          </a:prstGeom>
          <a:solidFill>
            <a:srgbClr val="61C3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23748" y="8311059"/>
            <a:ext cx="16531455" cy="7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suit known processes. Agents suit tasks whose next steps depend on intermediate evidence. The simplest sufficient architecture wins.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914306" y="9590986"/>
            <a:ext cx="123693" cy="123693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23748" y="9428924"/>
            <a:ext cx="16531455" cy="783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61"/>
              </a:lnSpc>
            </a:pPr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agents need explicit state, allowed tools, step limits, budgets, guardrails, checkpoints and stopping conditions — then stage-by-stage evaluation.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914301" y="10679080"/>
            <a:ext cx="16459399" cy="1910126"/>
          </a:xfrm>
          <a:prstGeom prst="rect">
            <a:avLst/>
          </a:prstGeom>
          <a:solidFill>
            <a:srgbClr val="35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33335" y="11002863"/>
            <a:ext cx="16089971" cy="130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657"/>
              </a:lnSpc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agents do not come from giving a model unlimited freedom. They come from combining flexible model decisions with narrow tools, trusted application controls, observable state, and explicit stopping rules.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14301" y="12589206"/>
            <a:ext cx="16459399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301" y="12847340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7119534" y="12857923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23" y="819056"/>
            <a:ext cx="232178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OF DAY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1781175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1" y="3132175"/>
            <a:ext cx="1190625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1" y="2605159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600073" y="2552242"/>
            <a:ext cx="735116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executes a tool — the model or the application?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1" y="3932209"/>
            <a:ext cx="1190625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1" y="3405193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600069" y="3352276"/>
            <a:ext cx="6813468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five stages of the tool-calling lifecycle.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1" y="4732243"/>
            <a:ext cx="1190625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7751" y="4205227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600068" y="4152310"/>
            <a:ext cx="860719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schema validation not enough before executing a call?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1" y="5532277"/>
            <a:ext cx="1190625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7751" y="5005261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600068" y="4952344"/>
            <a:ext cx="938136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must tool calls stay sequential instead of running in parallel?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1" y="6332310"/>
            <a:ext cx="1190625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7751" y="5805294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00068" y="5752378"/>
            <a:ext cx="932861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distinguishes a deterministic workflow from an agentic loop?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1" y="7132345"/>
            <a:ext cx="11906250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1" y="6605328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C3CA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600073" y="6552411"/>
            <a:ext cx="7454669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three stopping conditions for a controlled agent.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47751" y="7405362"/>
            <a:ext cx="3619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48B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600073" y="7352445"/>
            <a:ext cx="720764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250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false-success rate, and why does it matter?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3620755" y="5790738"/>
            <a:ext cx="3728085" cy="111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667"/>
              </a:lnSpc>
            </a:pPr>
            <a:r>
              <a:rPr lang="en-US" sz="1950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revealed and discussed straight after submission.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47754" y="897053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7751" y="9304904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986089" y="9315489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37617"/>
            <a:ext cx="323784" cy="38034"/>
          </a:xfrm>
          <a:prstGeom prst="roundRect">
            <a:avLst>
              <a:gd name="adj" fmla="val 50000"/>
            </a:avLst>
          </a:prstGeom>
          <a:solidFill>
            <a:srgbClr val="6377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04819" y="819056"/>
            <a:ext cx="324748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288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TOMORROW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5" y="1265540"/>
            <a:ext cx="8980091" cy="69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4255"/>
              </a:lnSpc>
            </a:pPr>
            <a:r>
              <a:rPr lang="en-US" sz="4800" b="1" kern="0" spc="-96" dirty="0">
                <a:solidFill>
                  <a:srgbClr val="1B1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— Production Readiness</a:t>
            </a:r>
            <a:endParaRPr lang="en-US" sz="4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0989" y="895124"/>
            <a:ext cx="2019267" cy="9458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418958"/>
            <a:ext cx="896772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tomorrow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1047750" y="3777758"/>
            <a:ext cx="815247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7750" y="3238004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49917" y="3227426"/>
            <a:ext cx="5967446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stages, and who performs each one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529175"/>
            <a:ext cx="815247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7750" y="3989421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449922" y="3978841"/>
            <a:ext cx="6651575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 contracts written for your own capstone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47750" y="5280592"/>
            <a:ext cx="8152474" cy="10583"/>
          </a:xfrm>
          <a:prstGeom prst="rect">
            <a:avLst/>
          </a:prstGeom>
          <a:solidFill>
            <a:srgbClr val="E9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7750" y="4740837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1449917" y="4730258"/>
            <a:ext cx="8478772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pattern fits your task, and why the simpler one does not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047750" y="5492254"/>
            <a:ext cx="268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25" dirty="0">
                <a:solidFill>
                  <a:srgbClr val="48B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1449917" y="5481676"/>
            <a:ext cx="7586002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3A3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stopping conditions and step budget, written down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9828781" y="2418958"/>
            <a:ext cx="8152623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550" b="1" dirty="0">
                <a:solidFill>
                  <a:srgbClr val="35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it has to survive production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9828777" y="3036926"/>
            <a:ext cx="7411476" cy="269643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190594" y="3379727"/>
            <a:ext cx="7356624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deployment and release processes</a:t>
            </a:r>
            <a:endParaRPr lang="en-US" sz="2175" dirty="0"/>
          </a:p>
        </p:txBody>
      </p:sp>
      <p:sp>
        <p:nvSpPr>
          <p:cNvPr id="21" name="Text 18"/>
          <p:cNvSpPr/>
          <p:nvPr/>
        </p:nvSpPr>
        <p:spPr>
          <a:xfrm>
            <a:off x="10190594" y="3930059"/>
            <a:ext cx="7356624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latency management</a:t>
            </a:r>
            <a:endParaRPr lang="en-US" sz="2175" dirty="0"/>
          </a:p>
        </p:txBody>
      </p:sp>
      <p:sp>
        <p:nvSpPr>
          <p:cNvPr id="22" name="Text 19"/>
          <p:cNvSpPr/>
          <p:nvPr/>
        </p:nvSpPr>
        <p:spPr>
          <a:xfrm>
            <a:off x="10190594" y="4480392"/>
            <a:ext cx="7356624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controls at real volume</a:t>
            </a:r>
            <a:endParaRPr lang="en-US" sz="2175" dirty="0"/>
          </a:p>
        </p:txBody>
      </p:sp>
      <p:sp>
        <p:nvSpPr>
          <p:cNvPr id="23" name="Text 20"/>
          <p:cNvSpPr/>
          <p:nvPr/>
        </p:nvSpPr>
        <p:spPr>
          <a:xfrm>
            <a:off x="10190594" y="5030726"/>
            <a:ext cx="7356624" cy="397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175" dirty="0">
                <a:solidFill>
                  <a:srgbClr val="4A4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recovery when a dependency fails</a:t>
            </a:r>
            <a:endParaRPr lang="en-US" sz="2175" dirty="0"/>
          </a:p>
        </p:txBody>
      </p:sp>
      <p:sp>
        <p:nvSpPr>
          <p:cNvPr id="24" name="Text 21"/>
          <p:cNvSpPr/>
          <p:nvPr/>
        </p:nvSpPr>
        <p:spPr>
          <a:xfrm>
            <a:off x="9828781" y="5980906"/>
            <a:ext cx="8152623" cy="410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5839"/>
              </a:lnSpc>
            </a:pPr>
            <a:r>
              <a:rPr lang="en-US" sz="2025" dirty="0">
                <a:solidFill>
                  <a:srgbClr val="6A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at 9:00. The room opens fifteen minutes earlier.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047754" y="8913487"/>
            <a:ext cx="16192501" cy="10583"/>
          </a:xfrm>
          <a:prstGeom prst="rect">
            <a:avLst/>
          </a:prstGeom>
          <a:solidFill>
            <a:srgbClr val="E3E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47751" y="9247853"/>
            <a:ext cx="481928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Generative AI Solutions · Day 3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6986089" y="9258438"/>
            <a:ext cx="33036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6377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96578f-6ae1-40cd-93dd-1a3b7a6ede66}" enabled="1" method="Standard" siteId="{2c86bbfc-8d04-41ff-a83a-942f075e0f6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8005</Words>
  <Application>Microsoft Office PowerPoint</Application>
  <PresentationFormat>Custom</PresentationFormat>
  <Paragraphs>1414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حسين صالح محسن</cp:lastModifiedBy>
  <cp:revision>6</cp:revision>
  <dcterms:created xsi:type="dcterms:W3CDTF">2026-08-03T14:48:12Z</dcterms:created>
  <dcterms:modified xsi:type="dcterms:W3CDTF">2026-08-03T16:57:00Z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Public - عام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Public - عام</vt:lpwstr>
  </property>
</Properties>
</file>